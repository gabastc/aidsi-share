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3.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_rels/notesSlide9.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trike="noStrike" u="none">
                <a:solidFill>
                  <a:schemeClr val="dk1"/>
                </a:solidFill>
                <a:effectLst/>
                <a:uFillTx/>
                <a:latin typeface="Yu Gothic"/>
              </a:rPr>
              <a:t>Click to move the slide</a:t>
            </a:r>
            <a:endParaRPr b="0" lang="en-US" sz="1800" strike="noStrike" u="none">
              <a:solidFill>
                <a:schemeClr val="dk1"/>
              </a:solidFill>
              <a:effectLst/>
              <a:uFillTx/>
              <a:latin typeface="Yu Gothic"/>
            </a:endParaRPr>
          </a:p>
        </p:txBody>
      </p:sp>
      <p:sp>
        <p:nvSpPr>
          <p:cNvPr id="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8"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9" name="PlaceHolder 4"/>
          <p:cNvSpPr>
            <a:spLocks noGrp="1"/>
          </p:cNvSpPr>
          <p:nvPr>
            <p:ph type="dt" idx="2"/>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10" name="PlaceHolder 5"/>
          <p:cNvSpPr>
            <a:spLocks noGrp="1"/>
          </p:cNvSpPr>
          <p:nvPr>
            <p:ph type="ftr" idx="3"/>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1" name="PlaceHolder 6"/>
          <p:cNvSpPr>
            <a:spLocks noGrp="1"/>
          </p:cNvSpPr>
          <p:nvPr>
            <p:ph type="sldNum" idx="4"/>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9D8662E0-BB27-4F32-91C2-495B8F165158}"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sldImg"/>
          </p:nvPr>
        </p:nvSpPr>
        <p:spPr>
          <a:xfrm>
            <a:off x="685800" y="1143000"/>
            <a:ext cx="5486040" cy="3085920"/>
          </a:xfrm>
          <a:prstGeom prst="rect">
            <a:avLst/>
          </a:prstGeom>
          <a:ln w="0">
            <a:noFill/>
          </a:ln>
        </p:spPr>
      </p:sp>
      <p:sp>
        <p:nvSpPr>
          <p:cNvPr id="52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r>
              <a:rPr b="0" lang="zh-CN" sz="2000" strike="noStrike" u="none">
                <a:solidFill>
                  <a:srgbClr val="000000"/>
                </a:solidFill>
                <a:effectLst/>
                <a:uFillTx/>
                <a:latin typeface="Arial"/>
              </a:rPr>
              <a:t>冒頭では「</a:t>
            </a:r>
            <a:r>
              <a:rPr b="0" lang="en-US" sz="2000" strike="noStrike" u="none">
                <a:solidFill>
                  <a:srgbClr val="000000"/>
                </a:solidFill>
                <a:effectLst/>
                <a:uFillTx/>
                <a:latin typeface="Arial"/>
              </a:rPr>
              <a:t>AI</a:t>
            </a:r>
            <a:r>
              <a:rPr b="0" lang="zh-CN" sz="2000" strike="noStrike" u="none">
                <a:solidFill>
                  <a:srgbClr val="000000"/>
                </a:solidFill>
                <a:effectLst/>
                <a:uFillTx/>
                <a:latin typeface="Arial"/>
              </a:rPr>
              <a:t>を導入すること」ではなく「</a:t>
            </a:r>
            <a:r>
              <a:rPr b="0" lang="en-US" sz="2000" strike="noStrike" u="none">
                <a:solidFill>
                  <a:srgbClr val="000000"/>
                </a:solidFill>
                <a:effectLst/>
                <a:uFillTx/>
                <a:latin typeface="Arial"/>
              </a:rPr>
              <a:t>4</a:t>
            </a:r>
            <a:r>
              <a:rPr b="0" lang="zh-CN" sz="2000" strike="noStrike" u="none">
                <a:solidFill>
                  <a:srgbClr val="000000"/>
                </a:solidFill>
                <a:effectLst/>
                <a:uFillTx/>
                <a:latin typeface="Arial"/>
              </a:rPr>
              <a:t>月の体制最適化までを、</a:t>
            </a:r>
            <a:r>
              <a:rPr b="0" lang="en-US" sz="2000" strike="noStrike" u="none">
                <a:solidFill>
                  <a:srgbClr val="000000"/>
                </a:solidFill>
                <a:effectLst/>
                <a:uFillTx/>
                <a:latin typeface="Arial"/>
              </a:rPr>
              <a:t>10</a:t>
            </a:r>
            <a:r>
              <a:rPr b="0" lang="zh-CN" sz="2000" strike="noStrike" u="none">
                <a:solidFill>
                  <a:srgbClr val="000000"/>
                </a:solidFill>
                <a:effectLst/>
                <a:uFillTx/>
                <a:latin typeface="Arial"/>
              </a:rPr>
              <a:t>月から逆算して実証する計画」と説明します。</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10</a:t>
            </a:r>
            <a:r>
              <a:rPr b="0" lang="zh-CN" sz="2000" strike="noStrike" u="none">
                <a:solidFill>
                  <a:srgbClr val="000000"/>
                </a:solidFill>
                <a:effectLst/>
                <a:uFillTx/>
                <a:latin typeface="Arial"/>
              </a:rPr>
              <a:t>〜</a:t>
            </a:r>
            <a:r>
              <a:rPr b="0" lang="en-US" sz="2000" strike="noStrike" u="none">
                <a:solidFill>
                  <a:srgbClr val="000000"/>
                </a:solidFill>
                <a:effectLst/>
                <a:uFillTx/>
                <a:latin typeface="Arial"/>
              </a:rPr>
              <a:t>12</a:t>
            </a:r>
            <a:r>
              <a:rPr b="0" lang="zh-CN" sz="2000" strike="noStrike" u="none">
                <a:solidFill>
                  <a:srgbClr val="000000"/>
                </a:solidFill>
                <a:effectLst/>
                <a:uFillTx/>
                <a:latin typeface="Arial"/>
              </a:rPr>
              <a:t>月は効果の有無を見せる期間、</a:t>
            </a:r>
            <a:r>
              <a:rPr b="0" lang="en-US" sz="2000" strike="noStrike" u="none">
                <a:solidFill>
                  <a:srgbClr val="000000"/>
                </a:solidFill>
                <a:effectLst/>
                <a:uFillTx/>
                <a:latin typeface="Arial"/>
              </a:rPr>
              <a:t>1</a:t>
            </a:r>
            <a:r>
              <a:rPr b="0" lang="zh-CN" sz="2000" strike="noStrike" u="none">
                <a:solidFill>
                  <a:srgbClr val="000000"/>
                </a:solidFill>
                <a:effectLst/>
                <a:uFillTx/>
                <a:latin typeface="Arial"/>
              </a:rPr>
              <a:t>〜</a:t>
            </a:r>
            <a:r>
              <a:rPr b="0" lang="en-US" sz="2000" strike="noStrike" u="none">
                <a:solidFill>
                  <a:srgbClr val="000000"/>
                </a:solidFill>
                <a:effectLst/>
                <a:uFillTx/>
                <a:latin typeface="Arial"/>
              </a:rPr>
              <a:t>3</a:t>
            </a:r>
            <a:r>
              <a:rPr b="0" lang="zh-CN" sz="2000" strike="noStrike" u="none">
                <a:solidFill>
                  <a:srgbClr val="000000"/>
                </a:solidFill>
                <a:effectLst/>
                <a:uFillTx/>
                <a:latin typeface="Arial"/>
              </a:rPr>
              <a:t>月は再現性と適用範囲を広げる期間、</a:t>
            </a:r>
            <a:r>
              <a:rPr b="0" lang="en-US" sz="2000" strike="noStrike" u="none">
                <a:solidFill>
                  <a:srgbClr val="000000"/>
                </a:solidFill>
                <a:effectLst/>
                <a:uFillTx/>
                <a:latin typeface="Arial"/>
              </a:rPr>
              <a:t>4</a:t>
            </a:r>
            <a:r>
              <a:rPr b="0" lang="zh-CN" sz="2000" strike="noStrike" u="none">
                <a:solidFill>
                  <a:srgbClr val="000000"/>
                </a:solidFill>
                <a:effectLst/>
                <a:uFillTx/>
                <a:latin typeface="Arial"/>
              </a:rPr>
              <a:t>月は体制に反映する期間です。</a:t>
            </a:r>
            <a:endParaRPr b="0" lang="en-US" sz="2000" strike="noStrike" u="none">
              <a:solidFill>
                <a:srgbClr val="000000"/>
              </a:solidFill>
              <a:effectLst/>
              <a:uFillTx/>
              <a:latin typeface="Arial"/>
            </a:endParaRPr>
          </a:p>
          <a:p>
            <a:pPr indent="0">
              <a:lnSpc>
                <a:spcPct val="100000"/>
              </a:lnSpc>
              <a:buNone/>
            </a:pPr>
            <a:r>
              <a:rPr b="0" lang="zh-CN" sz="2000" strike="noStrike" u="none">
                <a:solidFill>
                  <a:srgbClr val="000000"/>
                </a:solidFill>
                <a:effectLst/>
                <a:uFillTx/>
                <a:latin typeface="Arial"/>
              </a:rPr>
              <a:t>この資料では特定の製品名・内部方式名ではなく、顧客が判断できる成果・測定・ゲートに集中します。</a:t>
            </a:r>
            <a:endParaRPr b="0" lang="en-US" sz="2000" strike="noStrike" u="none">
              <a:solidFill>
                <a:srgbClr val="000000"/>
              </a:solidFill>
              <a:effectLst/>
              <a:uFillTx/>
              <a:latin typeface="Arial"/>
            </a:endParaRPr>
          </a:p>
        </p:txBody>
      </p:sp>
      <p:sp>
        <p:nvSpPr>
          <p:cNvPr id="521"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4B13AB5E-86AB-4BD4-8E85-8495A8BCF259}"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2" name="PlaceHolder 1"/>
          <p:cNvSpPr>
            <a:spLocks noGrp="1"/>
          </p:cNvSpPr>
          <p:nvPr>
            <p:ph type="sldImg"/>
          </p:nvPr>
        </p:nvSpPr>
        <p:spPr>
          <a:xfrm>
            <a:off x="685800" y="1143000"/>
            <a:ext cx="5486040" cy="3085920"/>
          </a:xfrm>
          <a:prstGeom prst="rect">
            <a:avLst/>
          </a:prstGeom>
          <a:ln w="0">
            <a:noFill/>
          </a:ln>
        </p:spPr>
      </p:sp>
      <p:sp>
        <p:nvSpPr>
          <p:cNvPr id="52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r>
              <a:rPr b="0" lang="zh-CN" sz="2000" strike="noStrike" u="none">
                <a:solidFill>
                  <a:srgbClr val="000000"/>
                </a:solidFill>
                <a:effectLst/>
                <a:uFillTx/>
                <a:latin typeface="Arial"/>
              </a:rPr>
              <a:t>この</a:t>
            </a:r>
            <a:r>
              <a:rPr b="0" lang="en-US" sz="2000" strike="noStrike" u="none">
                <a:solidFill>
                  <a:srgbClr val="000000"/>
                </a:solidFill>
                <a:effectLst/>
                <a:uFillTx/>
                <a:latin typeface="Arial"/>
              </a:rPr>
              <a:t>1</a:t>
            </a:r>
            <a:r>
              <a:rPr b="0" lang="zh-CN" sz="2000" strike="noStrike" u="none">
                <a:solidFill>
                  <a:srgbClr val="000000"/>
                </a:solidFill>
                <a:effectLst/>
                <a:uFillTx/>
                <a:latin typeface="Arial"/>
              </a:rPr>
              <a:t>枚が全体説明の中心です。まずフェーズごとに「何を証明するか」を話し、細かい施策は後続スライドで補足します。</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12</a:t>
            </a:r>
            <a:r>
              <a:rPr b="0" lang="zh-CN" sz="2000" strike="noStrike" u="none">
                <a:solidFill>
                  <a:srgbClr val="000000"/>
                </a:solidFill>
                <a:effectLst/>
                <a:uFillTx/>
                <a:latin typeface="Arial"/>
              </a:rPr>
              <a:t>月の</a:t>
            </a:r>
            <a:r>
              <a:rPr b="0" lang="en-US" sz="2000" strike="noStrike" u="none">
                <a:solidFill>
                  <a:srgbClr val="000000"/>
                </a:solidFill>
                <a:effectLst/>
                <a:uFillTx/>
                <a:latin typeface="Arial"/>
              </a:rPr>
              <a:t>Gate 1</a:t>
            </a:r>
            <a:r>
              <a:rPr b="0" lang="zh-CN" sz="2000" strike="noStrike" u="none">
                <a:solidFill>
                  <a:srgbClr val="000000"/>
                </a:solidFill>
                <a:effectLst/>
                <a:uFillTx/>
                <a:latin typeface="Arial"/>
              </a:rPr>
              <a:t>では「</a:t>
            </a:r>
            <a:r>
              <a:rPr b="0" lang="en-US" sz="2000" strike="noStrike" u="none">
                <a:solidFill>
                  <a:srgbClr val="000000"/>
                </a:solidFill>
                <a:effectLst/>
                <a:uFillTx/>
                <a:latin typeface="Arial"/>
              </a:rPr>
              <a:t>AI</a:t>
            </a:r>
            <a:r>
              <a:rPr b="0" lang="zh-CN" sz="2000" strike="noStrike" u="none">
                <a:solidFill>
                  <a:srgbClr val="000000"/>
                </a:solidFill>
                <a:effectLst/>
                <a:uFillTx/>
                <a:latin typeface="Arial"/>
              </a:rPr>
              <a:t>が使えた」ではなく、ツール費や手戻りを含めた正味効果がプラスかを確認します。</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3</a:t>
            </a:r>
            <a:r>
              <a:rPr b="0" lang="zh-CN" sz="2000" strike="noStrike" u="none">
                <a:solidFill>
                  <a:srgbClr val="000000"/>
                </a:solidFill>
                <a:effectLst/>
                <a:uFillTx/>
                <a:latin typeface="Arial"/>
              </a:rPr>
              <a:t>月の</a:t>
            </a:r>
            <a:r>
              <a:rPr b="0" lang="en-US" sz="2000" strike="noStrike" u="none">
                <a:solidFill>
                  <a:srgbClr val="000000"/>
                </a:solidFill>
                <a:effectLst/>
                <a:uFillTx/>
                <a:latin typeface="Arial"/>
              </a:rPr>
              <a:t>Gate 2</a:t>
            </a:r>
            <a:r>
              <a:rPr b="0" lang="zh-CN" sz="2000" strike="noStrike" u="none">
                <a:solidFill>
                  <a:srgbClr val="000000"/>
                </a:solidFill>
                <a:effectLst/>
                <a:uFillTx/>
                <a:latin typeface="Arial"/>
              </a:rPr>
              <a:t>では、同一成果量・同等以上品質で必要工数</a:t>
            </a:r>
            <a:r>
              <a:rPr b="0" lang="en-US" sz="2000" strike="noStrike" u="none">
                <a:solidFill>
                  <a:srgbClr val="000000"/>
                </a:solidFill>
                <a:effectLst/>
                <a:uFillTx/>
                <a:latin typeface="Arial"/>
              </a:rPr>
              <a:t>70%</a:t>
            </a:r>
            <a:r>
              <a:rPr b="0" lang="zh-CN" sz="2000" strike="noStrike" u="none">
                <a:solidFill>
                  <a:srgbClr val="000000"/>
                </a:solidFill>
                <a:effectLst/>
                <a:uFillTx/>
                <a:latin typeface="Arial"/>
              </a:rPr>
              <a:t>以下を複数の評価期間で再現できたことを、</a:t>
            </a:r>
            <a:r>
              <a:rPr b="0" lang="en-US" sz="2000" strike="noStrike" u="none">
                <a:solidFill>
                  <a:srgbClr val="000000"/>
                </a:solidFill>
                <a:effectLst/>
                <a:uFillTx/>
                <a:latin typeface="Arial"/>
              </a:rPr>
              <a:t>4</a:t>
            </a:r>
            <a:r>
              <a:rPr b="0" lang="zh-CN" sz="2000" strike="noStrike" u="none">
                <a:solidFill>
                  <a:srgbClr val="000000"/>
                </a:solidFill>
                <a:effectLst/>
                <a:uFillTx/>
                <a:latin typeface="Arial"/>
              </a:rPr>
              <a:t>月体制変更の前提にします。</a:t>
            </a:r>
            <a:endParaRPr b="0" lang="en-US" sz="2000" strike="noStrike" u="none">
              <a:solidFill>
                <a:srgbClr val="000000"/>
              </a:solidFill>
              <a:effectLst/>
              <a:uFillTx/>
              <a:latin typeface="Arial"/>
            </a:endParaRPr>
          </a:p>
        </p:txBody>
      </p:sp>
      <p:sp>
        <p:nvSpPr>
          <p:cNvPr id="524"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12EFF147-26C8-4A40-A72F-D00C0621E6C7}"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PlaceHolder 1"/>
          <p:cNvSpPr>
            <a:spLocks noGrp="1"/>
          </p:cNvSpPr>
          <p:nvPr>
            <p:ph type="sldImg"/>
          </p:nvPr>
        </p:nvSpPr>
        <p:spPr>
          <a:xfrm>
            <a:off x="685800" y="1143000"/>
            <a:ext cx="5486040" cy="3085920"/>
          </a:xfrm>
          <a:prstGeom prst="rect">
            <a:avLst/>
          </a:prstGeom>
          <a:ln w="0">
            <a:noFill/>
          </a:ln>
        </p:spPr>
      </p:sp>
      <p:sp>
        <p:nvSpPr>
          <p:cNvPr id="52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r>
              <a:rPr b="0" lang="zh-CN" sz="2000" strike="noStrike" u="none">
                <a:solidFill>
                  <a:srgbClr val="000000"/>
                </a:solidFill>
                <a:effectLst/>
                <a:uFillTx/>
                <a:latin typeface="Arial"/>
              </a:rPr>
              <a:t>ここは重要な定義合わせです。目標を下げる話ではありません。</a:t>
            </a:r>
            <a:r>
              <a:rPr b="0" lang="en-US" sz="2000" strike="noStrike" u="none">
                <a:solidFill>
                  <a:srgbClr val="000000"/>
                </a:solidFill>
                <a:effectLst/>
                <a:uFillTx/>
                <a:latin typeface="Arial"/>
              </a:rPr>
              <a:t>4</a:t>
            </a:r>
            <a:r>
              <a:rPr b="0" lang="zh-CN" sz="2000" strike="noStrike" u="none">
                <a:solidFill>
                  <a:srgbClr val="000000"/>
                </a:solidFill>
                <a:effectLst/>
                <a:uFillTx/>
                <a:latin typeface="Arial"/>
              </a:rPr>
              <a:t>月に</a:t>
            </a:r>
            <a:r>
              <a:rPr b="0" lang="en-US" sz="2000" strike="noStrike" u="none">
                <a:solidFill>
                  <a:srgbClr val="000000"/>
                </a:solidFill>
                <a:effectLst/>
                <a:uFillTx/>
                <a:latin typeface="Arial"/>
              </a:rPr>
              <a:t>30%</a:t>
            </a:r>
            <a:r>
              <a:rPr b="0" lang="zh-CN" sz="2000" strike="noStrike" u="none">
                <a:solidFill>
                  <a:srgbClr val="000000"/>
                </a:solidFill>
                <a:effectLst/>
                <a:uFillTx/>
                <a:latin typeface="Arial"/>
              </a:rPr>
              <a:t>の要員縮減へつなげるため、</a:t>
            </a:r>
            <a:r>
              <a:rPr b="0" lang="en-US" sz="2000" strike="noStrike" u="none">
                <a:solidFill>
                  <a:srgbClr val="000000"/>
                </a:solidFill>
                <a:effectLst/>
                <a:uFillTx/>
                <a:latin typeface="Arial"/>
              </a:rPr>
              <a:t>1</a:t>
            </a:r>
            <a:r>
              <a:rPr b="0" lang="zh-CN" sz="2000" strike="noStrike" u="none">
                <a:solidFill>
                  <a:srgbClr val="000000"/>
                </a:solidFill>
                <a:effectLst/>
                <a:uFillTx/>
                <a:latin typeface="Arial"/>
              </a:rPr>
              <a:t>〜</a:t>
            </a:r>
            <a:r>
              <a:rPr b="0" lang="en-US" sz="2000" strike="noStrike" u="none">
                <a:solidFill>
                  <a:srgbClr val="000000"/>
                </a:solidFill>
                <a:effectLst/>
                <a:uFillTx/>
                <a:latin typeface="Arial"/>
              </a:rPr>
              <a:t>3</a:t>
            </a:r>
            <a:r>
              <a:rPr b="0" lang="zh-CN" sz="2000" strike="noStrike" u="none">
                <a:solidFill>
                  <a:srgbClr val="000000"/>
                </a:solidFill>
                <a:effectLst/>
                <a:uFillTx/>
                <a:latin typeface="Arial"/>
              </a:rPr>
              <a:t>月の</a:t>
            </a:r>
            <a:r>
              <a:rPr b="0" lang="en-US" sz="2000" strike="noStrike" u="none">
                <a:solidFill>
                  <a:srgbClr val="000000"/>
                </a:solidFill>
                <a:effectLst/>
                <a:uFillTx/>
                <a:latin typeface="Arial"/>
              </a:rPr>
              <a:t>30%</a:t>
            </a:r>
            <a:r>
              <a:rPr b="0" lang="zh-CN" sz="2000" strike="noStrike" u="none">
                <a:solidFill>
                  <a:srgbClr val="000000"/>
                </a:solidFill>
                <a:effectLst/>
                <a:uFillTx/>
                <a:latin typeface="Arial"/>
              </a:rPr>
              <a:t>改善を「同一成果量あたり必要工数</a:t>
            </a:r>
            <a:r>
              <a:rPr b="0" lang="en-US" sz="2000" strike="noStrike" u="none">
                <a:solidFill>
                  <a:srgbClr val="000000"/>
                </a:solidFill>
                <a:effectLst/>
                <a:uFillTx/>
                <a:latin typeface="Arial"/>
              </a:rPr>
              <a:t>30%</a:t>
            </a:r>
            <a:r>
              <a:rPr b="0" lang="zh-CN" sz="2000" strike="noStrike" u="none">
                <a:solidFill>
                  <a:srgbClr val="000000"/>
                </a:solidFill>
                <a:effectLst/>
                <a:uFillTx/>
                <a:latin typeface="Arial"/>
              </a:rPr>
              <a:t>削減」と定義します。</a:t>
            </a:r>
            <a:endParaRPr b="0" lang="en-US" sz="2000" strike="noStrike" u="none">
              <a:solidFill>
                <a:srgbClr val="000000"/>
              </a:solidFill>
              <a:effectLst/>
              <a:uFillTx/>
              <a:latin typeface="Arial"/>
            </a:endParaRPr>
          </a:p>
          <a:p>
            <a:pPr indent="0">
              <a:buNone/>
            </a:pPr>
            <a:r>
              <a:rPr b="0" lang="zh-CN" sz="2000" strike="noStrike" u="none">
                <a:solidFill>
                  <a:srgbClr val="000000"/>
                </a:solidFill>
                <a:effectLst/>
                <a:uFillTx/>
                <a:latin typeface="Arial"/>
              </a:rPr>
              <a:t>参考として、一般的な「生産量</a:t>
            </a:r>
            <a:r>
              <a:rPr b="0" lang="en-US" sz="2000" strike="noStrike" u="none">
                <a:solidFill>
                  <a:srgbClr val="000000"/>
                </a:solidFill>
                <a:effectLst/>
                <a:uFillTx/>
                <a:latin typeface="Arial"/>
              </a:rPr>
              <a:t>/</a:t>
            </a:r>
            <a:r>
              <a:rPr b="0" lang="zh-CN" sz="2000" strike="noStrike" u="none">
                <a:solidFill>
                  <a:srgbClr val="000000"/>
                </a:solidFill>
                <a:effectLst/>
                <a:uFillTx/>
                <a:latin typeface="Arial"/>
              </a:rPr>
              <a:t>人時が</a:t>
            </a:r>
            <a:r>
              <a:rPr b="0" lang="en-US" sz="2000" strike="noStrike" u="none">
                <a:solidFill>
                  <a:srgbClr val="000000"/>
                </a:solidFill>
                <a:effectLst/>
                <a:uFillTx/>
                <a:latin typeface="Arial"/>
              </a:rPr>
              <a:t>30%</a:t>
            </a:r>
            <a:r>
              <a:rPr b="0" lang="zh-CN" sz="2000" strike="noStrike" u="none">
                <a:solidFill>
                  <a:srgbClr val="000000"/>
                </a:solidFill>
                <a:effectLst/>
                <a:uFillTx/>
                <a:latin typeface="Arial"/>
              </a:rPr>
              <a:t>向上」という定義だけでは、同じ仕事量に必要な人員は約</a:t>
            </a:r>
            <a:r>
              <a:rPr b="0" lang="en-US" sz="2000" strike="noStrike" u="none">
                <a:solidFill>
                  <a:srgbClr val="000000"/>
                </a:solidFill>
                <a:effectLst/>
                <a:uFillTx/>
                <a:latin typeface="Arial"/>
              </a:rPr>
              <a:t>23.1%</a:t>
            </a:r>
            <a:r>
              <a:rPr b="0" lang="zh-CN" sz="2000" strike="noStrike" u="none">
                <a:solidFill>
                  <a:srgbClr val="000000"/>
                </a:solidFill>
                <a:effectLst/>
                <a:uFillTx/>
                <a:latin typeface="Arial"/>
              </a:rPr>
              <a:t>しか減りません。</a:t>
            </a:r>
            <a:endParaRPr b="0" lang="en-US" sz="2000" strike="noStrike" u="none">
              <a:solidFill>
                <a:srgbClr val="000000"/>
              </a:solidFill>
              <a:effectLst/>
              <a:uFillTx/>
              <a:latin typeface="Arial"/>
            </a:endParaRPr>
          </a:p>
          <a:p>
            <a:pPr indent="0">
              <a:lnSpc>
                <a:spcPct val="100000"/>
              </a:lnSpc>
              <a:buNone/>
            </a:pPr>
            <a:r>
              <a:rPr b="0" lang="zh-CN" sz="2000" strike="noStrike" u="none">
                <a:solidFill>
                  <a:srgbClr val="000000"/>
                </a:solidFill>
                <a:effectLst/>
                <a:uFillTx/>
                <a:latin typeface="Arial"/>
              </a:rPr>
              <a:t>品質の悪化を隠さないため、レビュー・手戻り・後工程流出まで含めて「正味工数」で評価します。</a:t>
            </a:r>
            <a:endParaRPr b="0" lang="en-US" sz="2000" strike="noStrike" u="none">
              <a:solidFill>
                <a:srgbClr val="000000"/>
              </a:solidFill>
              <a:effectLst/>
              <a:uFillTx/>
              <a:latin typeface="Arial"/>
            </a:endParaRPr>
          </a:p>
        </p:txBody>
      </p:sp>
      <p:sp>
        <p:nvSpPr>
          <p:cNvPr id="527"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65339D2A-F6CC-461B-904E-831486038E7A}"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PlaceHolder 1"/>
          <p:cNvSpPr>
            <a:spLocks noGrp="1"/>
          </p:cNvSpPr>
          <p:nvPr>
            <p:ph type="sldImg"/>
          </p:nvPr>
        </p:nvSpPr>
        <p:spPr>
          <a:xfrm>
            <a:off x="685800" y="1143000"/>
            <a:ext cx="5486040" cy="3085920"/>
          </a:xfrm>
          <a:prstGeom prst="rect">
            <a:avLst/>
          </a:prstGeom>
          <a:ln w="0">
            <a:noFill/>
          </a:ln>
        </p:spPr>
      </p:sp>
      <p:sp>
        <p:nvSpPr>
          <p:cNvPr id="52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r>
              <a:rPr b="0" lang="en-US" sz="2000" strike="noStrike" u="none">
                <a:solidFill>
                  <a:srgbClr val="000000"/>
                </a:solidFill>
                <a:effectLst/>
                <a:uFillTx/>
                <a:latin typeface="Arial"/>
              </a:rPr>
              <a:t>10</a:t>
            </a:r>
            <a:r>
              <a:rPr b="0" lang="zh-CN" sz="2000" strike="noStrike" u="none">
                <a:solidFill>
                  <a:srgbClr val="000000"/>
                </a:solidFill>
                <a:effectLst/>
                <a:uFillTx/>
                <a:latin typeface="Arial"/>
              </a:rPr>
              <a:t>月からハーネスを作る理由は、単発のプロンプト改善では人ごとに再現性が変わり、</a:t>
            </a:r>
            <a:r>
              <a:rPr b="0" lang="en-US" sz="2000" strike="noStrike" u="none">
                <a:solidFill>
                  <a:srgbClr val="000000"/>
                </a:solidFill>
                <a:effectLst/>
                <a:uFillTx/>
                <a:latin typeface="Arial"/>
              </a:rPr>
              <a:t>12</a:t>
            </a:r>
            <a:r>
              <a:rPr b="0" lang="zh-CN" sz="2000" strike="noStrike" u="none">
                <a:solidFill>
                  <a:srgbClr val="000000"/>
                </a:solidFill>
                <a:effectLst/>
                <a:uFillTx/>
                <a:latin typeface="Arial"/>
              </a:rPr>
              <a:t>月の効果が</a:t>
            </a:r>
            <a:r>
              <a:rPr b="0" lang="en-US" sz="2000" strike="noStrike" u="none">
                <a:solidFill>
                  <a:srgbClr val="000000"/>
                </a:solidFill>
                <a:effectLst/>
                <a:uFillTx/>
                <a:latin typeface="Arial"/>
              </a:rPr>
              <a:t>1</a:t>
            </a:r>
            <a:r>
              <a:rPr b="0" lang="zh-CN" sz="2000" strike="noStrike" u="none">
                <a:solidFill>
                  <a:srgbClr val="000000"/>
                </a:solidFill>
                <a:effectLst/>
                <a:uFillTx/>
                <a:latin typeface="Arial"/>
              </a:rPr>
              <a:t>〜</a:t>
            </a:r>
            <a:r>
              <a:rPr b="0" lang="en-US" sz="2000" strike="noStrike" u="none">
                <a:solidFill>
                  <a:srgbClr val="000000"/>
                </a:solidFill>
                <a:effectLst/>
                <a:uFillTx/>
                <a:latin typeface="Arial"/>
              </a:rPr>
              <a:t>3</a:t>
            </a:r>
            <a:r>
              <a:rPr b="0" lang="zh-CN" sz="2000" strike="noStrike" u="none">
                <a:solidFill>
                  <a:srgbClr val="000000"/>
                </a:solidFill>
                <a:effectLst/>
                <a:uFillTx/>
                <a:latin typeface="Arial"/>
              </a:rPr>
              <a:t>月へつながらないためです。</a:t>
            </a:r>
            <a:endParaRPr b="0" lang="en-US" sz="2000" strike="noStrike" u="none">
              <a:solidFill>
                <a:srgbClr val="000000"/>
              </a:solidFill>
              <a:effectLst/>
              <a:uFillTx/>
              <a:latin typeface="Arial"/>
            </a:endParaRPr>
          </a:p>
          <a:p>
            <a:pPr indent="0">
              <a:buNone/>
            </a:pPr>
            <a:r>
              <a:rPr b="0" lang="zh-CN" sz="2000" strike="noStrike" u="none">
                <a:solidFill>
                  <a:srgbClr val="000000"/>
                </a:solidFill>
                <a:effectLst/>
                <a:uFillTx/>
                <a:latin typeface="Arial"/>
              </a:rPr>
              <a:t>ハーネスの範囲は、参照情報、作業フロー、品質ゲート、証跡の</a:t>
            </a:r>
            <a:r>
              <a:rPr b="0" lang="en-US" sz="2000" strike="noStrike" u="none">
                <a:solidFill>
                  <a:srgbClr val="000000"/>
                </a:solidFill>
                <a:effectLst/>
                <a:uFillTx/>
                <a:latin typeface="Arial"/>
              </a:rPr>
              <a:t>4</a:t>
            </a:r>
            <a:r>
              <a:rPr b="0" lang="zh-CN" sz="2000" strike="noStrike" u="none">
                <a:solidFill>
                  <a:srgbClr val="000000"/>
                </a:solidFill>
                <a:effectLst/>
                <a:uFillTx/>
                <a:latin typeface="Arial"/>
              </a:rPr>
              <a:t>点に絞り、まず代表ユースケースで機能させます。</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12</a:t>
            </a:r>
            <a:r>
              <a:rPr b="0" lang="zh-CN" sz="2000" strike="noStrike" u="none">
                <a:solidFill>
                  <a:srgbClr val="000000"/>
                </a:solidFill>
                <a:effectLst/>
                <a:uFillTx/>
                <a:latin typeface="Arial"/>
              </a:rPr>
              <a:t>月は「良かった例」だけを見せず、ツール・</a:t>
            </a:r>
            <a:r>
              <a:rPr b="0" lang="en-US" sz="2000" strike="noStrike" u="none">
                <a:solidFill>
                  <a:srgbClr val="000000"/>
                </a:solidFill>
                <a:effectLst/>
                <a:uFillTx/>
                <a:latin typeface="Arial"/>
              </a:rPr>
              <a:t>AI</a:t>
            </a:r>
            <a:r>
              <a:rPr b="0" lang="zh-CN" sz="2000" strike="noStrike" u="none">
                <a:solidFill>
                  <a:srgbClr val="000000"/>
                </a:solidFill>
                <a:effectLst/>
                <a:uFillTx/>
                <a:latin typeface="Arial"/>
              </a:rPr>
              <a:t>利用コストや手戻りを差し引いた純効果で判定します。</a:t>
            </a:r>
            <a:endParaRPr b="0" lang="en-US" sz="2000" strike="noStrike" u="none">
              <a:solidFill>
                <a:srgbClr val="000000"/>
              </a:solidFill>
              <a:effectLst/>
              <a:uFillTx/>
              <a:latin typeface="Arial"/>
            </a:endParaRPr>
          </a:p>
        </p:txBody>
      </p:sp>
      <p:sp>
        <p:nvSpPr>
          <p:cNvPr id="530"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E98A445A-D7B6-4F32-BCDE-813545C75B27}"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1" name="PlaceHolder 1"/>
          <p:cNvSpPr>
            <a:spLocks noGrp="1"/>
          </p:cNvSpPr>
          <p:nvPr>
            <p:ph type="sldImg"/>
          </p:nvPr>
        </p:nvSpPr>
        <p:spPr>
          <a:xfrm>
            <a:off x="685800" y="1143000"/>
            <a:ext cx="5486040" cy="3085920"/>
          </a:xfrm>
          <a:prstGeom prst="rect">
            <a:avLst/>
          </a:prstGeom>
          <a:ln w="0">
            <a:noFill/>
          </a:ln>
        </p:spPr>
      </p:sp>
      <p:sp>
        <p:nvSpPr>
          <p:cNvPr id="53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r>
              <a:rPr b="0" lang="en-US" sz="2000" strike="noStrike" u="none">
                <a:solidFill>
                  <a:srgbClr val="000000"/>
                </a:solidFill>
                <a:effectLst/>
                <a:uFillTx/>
                <a:latin typeface="Arial"/>
              </a:rPr>
              <a:t>1</a:t>
            </a:r>
            <a:r>
              <a:rPr b="0" lang="zh-CN" sz="2000" strike="noStrike" u="none">
                <a:solidFill>
                  <a:srgbClr val="000000"/>
                </a:solidFill>
                <a:effectLst/>
                <a:uFillTx/>
                <a:latin typeface="Arial"/>
              </a:rPr>
              <a:t>〜</a:t>
            </a:r>
            <a:r>
              <a:rPr b="0" lang="en-US" sz="2000" strike="noStrike" u="none">
                <a:solidFill>
                  <a:srgbClr val="000000"/>
                </a:solidFill>
                <a:effectLst/>
                <a:uFillTx/>
                <a:latin typeface="Arial"/>
              </a:rPr>
              <a:t>3</a:t>
            </a:r>
            <a:r>
              <a:rPr b="0" lang="zh-CN" sz="2000" strike="noStrike" u="none">
                <a:solidFill>
                  <a:srgbClr val="000000"/>
                </a:solidFill>
                <a:effectLst/>
                <a:uFillTx/>
                <a:latin typeface="Arial"/>
              </a:rPr>
              <a:t>月は「</a:t>
            </a:r>
            <a:r>
              <a:rPr b="0" lang="en-US" sz="2000" strike="noStrike" u="none">
                <a:solidFill>
                  <a:srgbClr val="000000"/>
                </a:solidFill>
                <a:effectLst/>
                <a:uFillTx/>
                <a:latin typeface="Arial"/>
              </a:rPr>
              <a:t>AI</a:t>
            </a:r>
            <a:r>
              <a:rPr b="0" lang="zh-CN" sz="2000" strike="noStrike" u="none">
                <a:solidFill>
                  <a:srgbClr val="000000"/>
                </a:solidFill>
                <a:effectLst/>
                <a:uFillTx/>
                <a:latin typeface="Arial"/>
              </a:rPr>
              <a:t>機能を増やす期間」ではなく、</a:t>
            </a:r>
            <a:r>
              <a:rPr b="0" lang="en-US" sz="2000" strike="noStrike" u="none">
                <a:solidFill>
                  <a:srgbClr val="000000"/>
                </a:solidFill>
                <a:effectLst/>
                <a:uFillTx/>
                <a:latin typeface="Arial"/>
              </a:rPr>
              <a:t>12</a:t>
            </a:r>
            <a:r>
              <a:rPr b="0" lang="zh-CN" sz="2000" strike="noStrike" u="none">
                <a:solidFill>
                  <a:srgbClr val="000000"/>
                </a:solidFill>
                <a:effectLst/>
                <a:uFillTx/>
                <a:latin typeface="Arial"/>
              </a:rPr>
              <a:t>月までに効いた条件を標準化し、対象範囲を増やしながら効果を保てるかを確認する期間です。</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3</a:t>
            </a:r>
            <a:r>
              <a:rPr b="0" lang="zh-CN" sz="2000" strike="noStrike" u="none">
                <a:solidFill>
                  <a:srgbClr val="000000"/>
                </a:solidFill>
                <a:effectLst/>
                <a:uFillTx/>
                <a:latin typeface="Arial"/>
              </a:rPr>
              <a:t>月末の判定は平均値だけでなく、変更種別・担当者・難易度で効果が偏っていないかを確認します。</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4</a:t>
            </a:r>
            <a:r>
              <a:rPr b="0" lang="zh-CN" sz="2000" strike="noStrike" u="none">
                <a:solidFill>
                  <a:srgbClr val="000000"/>
                </a:solidFill>
                <a:effectLst/>
                <a:uFillTx/>
                <a:latin typeface="Arial"/>
              </a:rPr>
              <a:t>月の体制最適化に進む条件は、工数・品質・再現性・運用性の</a:t>
            </a:r>
            <a:r>
              <a:rPr b="0" lang="en-US" sz="2000" strike="noStrike" u="none">
                <a:solidFill>
                  <a:srgbClr val="000000"/>
                </a:solidFill>
                <a:effectLst/>
                <a:uFillTx/>
                <a:latin typeface="Arial"/>
              </a:rPr>
              <a:t>4</a:t>
            </a:r>
            <a:r>
              <a:rPr b="0" lang="zh-CN" sz="2000" strike="noStrike" u="none">
                <a:solidFill>
                  <a:srgbClr val="000000"/>
                </a:solidFill>
                <a:effectLst/>
                <a:uFillTx/>
                <a:latin typeface="Arial"/>
              </a:rPr>
              <a:t>点を同時に満たすことです。</a:t>
            </a:r>
            <a:endParaRPr b="0" lang="en-US" sz="2000" strike="noStrike" u="none">
              <a:solidFill>
                <a:srgbClr val="000000"/>
              </a:solidFill>
              <a:effectLst/>
              <a:uFillTx/>
              <a:latin typeface="Arial"/>
            </a:endParaRPr>
          </a:p>
        </p:txBody>
      </p:sp>
      <p:sp>
        <p:nvSpPr>
          <p:cNvPr id="533" name="PlaceHolder 3"/>
          <p:cNvSpPr>
            <a:spLocks noGrp="1"/>
          </p:cNvSpPr>
          <p:nvPr>
            <p:ph type="sldNum" idx="1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C41BE22A-7F0A-4D3A-96B4-2728023B2E96}"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4" name="PlaceHolder 1"/>
          <p:cNvSpPr>
            <a:spLocks noGrp="1"/>
          </p:cNvSpPr>
          <p:nvPr>
            <p:ph type="sldImg"/>
          </p:nvPr>
        </p:nvSpPr>
        <p:spPr>
          <a:xfrm>
            <a:off x="685800" y="1143000"/>
            <a:ext cx="5486040" cy="3085920"/>
          </a:xfrm>
          <a:prstGeom prst="rect">
            <a:avLst/>
          </a:prstGeom>
          <a:ln w="0">
            <a:noFill/>
          </a:ln>
        </p:spPr>
      </p:sp>
      <p:sp>
        <p:nvSpPr>
          <p:cNvPr id="53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r>
              <a:rPr b="0" lang="en-US" sz="2000" strike="noStrike" u="none">
                <a:solidFill>
                  <a:srgbClr val="000000"/>
                </a:solidFill>
                <a:effectLst/>
                <a:uFillTx/>
                <a:latin typeface="Arial"/>
              </a:rPr>
              <a:t>4</a:t>
            </a:r>
            <a:r>
              <a:rPr b="0" lang="zh-CN" sz="2000" strike="noStrike" u="none">
                <a:solidFill>
                  <a:srgbClr val="000000"/>
                </a:solidFill>
                <a:effectLst/>
                <a:uFillTx/>
                <a:latin typeface="Arial"/>
              </a:rPr>
              <a:t>月の</a:t>
            </a:r>
            <a:r>
              <a:rPr b="0" lang="en-US" sz="2000" strike="noStrike" u="none">
                <a:solidFill>
                  <a:srgbClr val="000000"/>
                </a:solidFill>
                <a:effectLst/>
                <a:uFillTx/>
                <a:latin typeface="Arial"/>
              </a:rPr>
              <a:t>30%</a:t>
            </a:r>
            <a:r>
              <a:rPr b="0" lang="zh-CN" sz="2000" strike="noStrike" u="none">
                <a:solidFill>
                  <a:srgbClr val="000000"/>
                </a:solidFill>
                <a:effectLst/>
                <a:uFillTx/>
                <a:latin typeface="Arial"/>
              </a:rPr>
              <a:t>削減は、単純に人数を減らすのではなく、</a:t>
            </a:r>
            <a:r>
              <a:rPr b="0" lang="en-US" sz="2000" strike="noStrike" u="none">
                <a:solidFill>
                  <a:srgbClr val="000000"/>
                </a:solidFill>
                <a:effectLst/>
                <a:uFillTx/>
                <a:latin typeface="Arial"/>
              </a:rPr>
              <a:t>3</a:t>
            </a:r>
            <a:r>
              <a:rPr b="0" lang="zh-CN" sz="2000" strike="noStrike" u="none">
                <a:solidFill>
                  <a:srgbClr val="000000"/>
                </a:solidFill>
                <a:effectLst/>
                <a:uFillTx/>
                <a:latin typeface="Arial"/>
              </a:rPr>
              <a:t>月までの役割別実績から「どの仕事が</a:t>
            </a:r>
            <a:r>
              <a:rPr b="0" lang="en-US" sz="2000" strike="noStrike" u="none">
                <a:solidFill>
                  <a:srgbClr val="000000"/>
                </a:solidFill>
                <a:effectLst/>
                <a:uFillTx/>
                <a:latin typeface="Arial"/>
              </a:rPr>
              <a:t>AI</a:t>
            </a:r>
            <a:r>
              <a:rPr b="0" lang="zh-CN" sz="2000" strike="noStrike" u="none">
                <a:solidFill>
                  <a:srgbClr val="000000"/>
                </a:solidFill>
                <a:effectLst/>
                <a:uFillTx/>
                <a:latin typeface="Arial"/>
              </a:rPr>
              <a:t>側へ移ったか」を確認して配置を変えます。</a:t>
            </a:r>
            <a:endParaRPr b="0" lang="en-US" sz="2000" strike="noStrike" u="none">
              <a:solidFill>
                <a:srgbClr val="000000"/>
              </a:solidFill>
              <a:effectLst/>
              <a:uFillTx/>
              <a:latin typeface="Arial"/>
            </a:endParaRPr>
          </a:p>
          <a:p>
            <a:pPr indent="0">
              <a:buNone/>
            </a:pPr>
            <a:r>
              <a:rPr b="0" lang="zh-CN" sz="2000" strike="noStrike" u="none">
                <a:solidFill>
                  <a:srgbClr val="000000"/>
                </a:solidFill>
                <a:effectLst/>
                <a:uFillTx/>
                <a:latin typeface="Arial"/>
              </a:rPr>
              <a:t>要件判断、高リスク変更の承認、例外対応、品質責任は人側に残し、定型・反復作業を</a:t>
            </a:r>
            <a:r>
              <a:rPr b="0" lang="en-US" sz="2000" strike="noStrike" u="none">
                <a:solidFill>
                  <a:srgbClr val="000000"/>
                </a:solidFill>
                <a:effectLst/>
                <a:uFillTx/>
                <a:latin typeface="Arial"/>
              </a:rPr>
              <a:t>AI</a:t>
            </a:r>
            <a:r>
              <a:rPr b="0" lang="zh-CN" sz="2000" strike="noStrike" u="none">
                <a:solidFill>
                  <a:srgbClr val="000000"/>
                </a:solidFill>
                <a:effectLst/>
                <a:uFillTx/>
                <a:latin typeface="Arial"/>
              </a:rPr>
              <a:t>優先へ寄せます。</a:t>
            </a:r>
            <a:endParaRPr b="0" lang="en-US" sz="2000" strike="noStrike" u="none">
              <a:solidFill>
                <a:srgbClr val="000000"/>
              </a:solidFill>
              <a:effectLst/>
              <a:uFillTx/>
              <a:latin typeface="Arial"/>
            </a:endParaRPr>
          </a:p>
          <a:p>
            <a:pPr indent="0">
              <a:lnSpc>
                <a:spcPct val="100000"/>
              </a:lnSpc>
              <a:buNone/>
            </a:pPr>
            <a:r>
              <a:rPr b="0" lang="zh-CN" sz="2000" strike="noStrike" u="none">
                <a:solidFill>
                  <a:srgbClr val="000000"/>
                </a:solidFill>
                <a:effectLst/>
                <a:uFillTx/>
                <a:latin typeface="Arial"/>
              </a:rPr>
              <a:t>体制変更後も週次で</a:t>
            </a:r>
            <a:r>
              <a:rPr b="0" lang="en-US" sz="2000" strike="noStrike" u="none">
                <a:solidFill>
                  <a:srgbClr val="000000"/>
                </a:solidFill>
                <a:effectLst/>
                <a:uFillTx/>
                <a:latin typeface="Arial"/>
              </a:rPr>
              <a:t>KPI</a:t>
            </a:r>
            <a:r>
              <a:rPr b="0" lang="zh-CN" sz="2000" strike="noStrike" u="none">
                <a:solidFill>
                  <a:srgbClr val="000000"/>
                </a:solidFill>
                <a:effectLst/>
                <a:uFillTx/>
                <a:latin typeface="Arial"/>
              </a:rPr>
              <a:t>を監視し、品質・滞留が悪化した場合は一時的に人手へ戻せる復帰条件を持たせます。</a:t>
            </a:r>
            <a:endParaRPr b="0" lang="en-US" sz="2000" strike="noStrike" u="none">
              <a:solidFill>
                <a:srgbClr val="000000"/>
              </a:solidFill>
              <a:effectLst/>
              <a:uFillTx/>
              <a:latin typeface="Arial"/>
            </a:endParaRPr>
          </a:p>
        </p:txBody>
      </p:sp>
      <p:sp>
        <p:nvSpPr>
          <p:cNvPr id="536" name="PlaceHolder 3"/>
          <p:cNvSpPr>
            <a:spLocks noGrp="1"/>
          </p:cNvSpPr>
          <p:nvPr>
            <p:ph type="sldNum" idx="1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936A7C4C-5AF7-4495-8C82-D4E508F38D3B}"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7" name="PlaceHolder 1"/>
          <p:cNvSpPr>
            <a:spLocks noGrp="1"/>
          </p:cNvSpPr>
          <p:nvPr>
            <p:ph type="sldImg"/>
          </p:nvPr>
        </p:nvSpPr>
        <p:spPr>
          <a:xfrm>
            <a:off x="685800" y="1143000"/>
            <a:ext cx="5486040" cy="3085920"/>
          </a:xfrm>
          <a:prstGeom prst="rect">
            <a:avLst/>
          </a:prstGeom>
          <a:ln w="0">
            <a:noFill/>
          </a:ln>
        </p:spPr>
      </p:sp>
      <p:sp>
        <p:nvSpPr>
          <p:cNvPr id="53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r>
              <a:rPr b="0" lang="zh-CN" sz="2000" strike="noStrike" u="none">
                <a:solidFill>
                  <a:srgbClr val="000000"/>
                </a:solidFill>
                <a:effectLst/>
                <a:uFillTx/>
                <a:latin typeface="Arial"/>
              </a:rPr>
              <a:t>本番案件の納期を守るトラックと、ハーネスを改良するトラックを分けます。これにより、改善施策が原因で本番品質が不安定になることを避けます。</a:t>
            </a:r>
            <a:endParaRPr b="0" lang="en-US" sz="2000" strike="noStrike" u="none">
              <a:solidFill>
                <a:srgbClr val="000000"/>
              </a:solidFill>
              <a:effectLst/>
              <a:uFillTx/>
              <a:latin typeface="Arial"/>
            </a:endParaRPr>
          </a:p>
          <a:p>
            <a:pPr indent="0">
              <a:buNone/>
            </a:pPr>
            <a:r>
              <a:rPr b="0" lang="zh-CN" sz="2000" strike="noStrike" u="none">
                <a:solidFill>
                  <a:srgbClr val="000000"/>
                </a:solidFill>
                <a:effectLst/>
                <a:uFillTx/>
                <a:latin typeface="Arial"/>
              </a:rPr>
              <a:t>失敗は単に「</a:t>
            </a:r>
            <a:r>
              <a:rPr b="0" lang="en-US" sz="2000" strike="noStrike" u="none">
                <a:solidFill>
                  <a:srgbClr val="000000"/>
                </a:solidFill>
                <a:effectLst/>
                <a:uFillTx/>
                <a:latin typeface="Arial"/>
              </a:rPr>
              <a:t>AI</a:t>
            </a:r>
            <a:r>
              <a:rPr b="0" lang="zh-CN" sz="2000" strike="noStrike" u="none">
                <a:solidFill>
                  <a:srgbClr val="000000"/>
                </a:solidFill>
                <a:effectLst/>
                <a:uFillTx/>
                <a:latin typeface="Arial"/>
              </a:rPr>
              <a:t>の精度が低い」とまとめず、入力情報、作業手順、モデル適性、品質ゲート、業務ルールのどこに原因があるかを分解します。</a:t>
            </a:r>
            <a:endParaRPr b="0" lang="en-US" sz="2000" strike="noStrike" u="none">
              <a:solidFill>
                <a:srgbClr val="000000"/>
              </a:solidFill>
              <a:effectLst/>
              <a:uFillTx/>
              <a:latin typeface="Arial"/>
            </a:endParaRPr>
          </a:p>
          <a:p>
            <a:pPr indent="0">
              <a:lnSpc>
                <a:spcPct val="100000"/>
              </a:lnSpc>
              <a:buNone/>
            </a:pPr>
            <a:r>
              <a:rPr b="0" lang="zh-CN" sz="2000" strike="noStrike" u="none">
                <a:solidFill>
                  <a:srgbClr val="000000"/>
                </a:solidFill>
                <a:effectLst/>
                <a:uFillTx/>
                <a:latin typeface="Arial"/>
              </a:rPr>
              <a:t>毎週このループを回し、月次ゲートで継続・拡大・見直しを判断します。</a:t>
            </a:r>
            <a:endParaRPr b="0" lang="en-US" sz="2000" strike="noStrike" u="none">
              <a:solidFill>
                <a:srgbClr val="000000"/>
              </a:solidFill>
              <a:effectLst/>
              <a:uFillTx/>
              <a:latin typeface="Arial"/>
            </a:endParaRPr>
          </a:p>
        </p:txBody>
      </p:sp>
      <p:sp>
        <p:nvSpPr>
          <p:cNvPr id="539" name="PlaceHolder 3"/>
          <p:cNvSpPr>
            <a:spLocks noGrp="1"/>
          </p:cNvSpPr>
          <p:nvPr>
            <p:ph type="sldNum" idx="2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26BCECD2-CF93-4309-97E0-F6C961360CF0}"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0" name="PlaceHolder 1"/>
          <p:cNvSpPr>
            <a:spLocks noGrp="1"/>
          </p:cNvSpPr>
          <p:nvPr>
            <p:ph type="sldImg"/>
          </p:nvPr>
        </p:nvSpPr>
        <p:spPr>
          <a:xfrm>
            <a:off x="685800" y="1143000"/>
            <a:ext cx="5486040" cy="3085920"/>
          </a:xfrm>
          <a:prstGeom prst="rect">
            <a:avLst/>
          </a:prstGeom>
          <a:ln w="0">
            <a:noFill/>
          </a:ln>
        </p:spPr>
      </p:sp>
      <p:sp>
        <p:nvSpPr>
          <p:cNvPr id="54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r>
              <a:rPr b="0" lang="en-US" sz="2000" strike="noStrike" u="none">
                <a:solidFill>
                  <a:srgbClr val="000000"/>
                </a:solidFill>
                <a:effectLst/>
                <a:uFillTx/>
                <a:latin typeface="Arial"/>
              </a:rPr>
              <a:t>AI</a:t>
            </a:r>
            <a:r>
              <a:rPr b="0" lang="zh-CN" sz="2000" strike="noStrike" u="none">
                <a:solidFill>
                  <a:srgbClr val="000000"/>
                </a:solidFill>
                <a:effectLst/>
                <a:uFillTx/>
                <a:latin typeface="Arial"/>
              </a:rPr>
              <a:t>適用の検証は、効果だけでなく品質と運用を同時に見ます。</a:t>
            </a:r>
            <a:r>
              <a:rPr b="0" lang="en-US" sz="2000" strike="noStrike" u="none">
                <a:solidFill>
                  <a:srgbClr val="000000"/>
                </a:solidFill>
                <a:effectLst/>
                <a:uFillTx/>
                <a:latin typeface="Arial"/>
              </a:rPr>
              <a:t>A</a:t>
            </a:r>
            <a:r>
              <a:rPr b="0" lang="zh-CN" sz="2000" strike="noStrike" u="none">
                <a:solidFill>
                  <a:srgbClr val="000000"/>
                </a:solidFill>
                <a:effectLst/>
                <a:uFillTx/>
                <a:latin typeface="Arial"/>
              </a:rPr>
              <a:t>だけ良くても</a:t>
            </a:r>
            <a:r>
              <a:rPr b="0" lang="en-US" sz="2000" strike="noStrike" u="none">
                <a:solidFill>
                  <a:srgbClr val="000000"/>
                </a:solidFill>
                <a:effectLst/>
                <a:uFillTx/>
                <a:latin typeface="Arial"/>
              </a:rPr>
              <a:t>B</a:t>
            </a:r>
            <a:r>
              <a:rPr b="0" lang="zh-CN" sz="2000" strike="noStrike" u="none">
                <a:solidFill>
                  <a:srgbClr val="000000"/>
                </a:solidFill>
                <a:effectLst/>
                <a:uFillTx/>
                <a:latin typeface="Arial"/>
              </a:rPr>
              <a:t>や</a:t>
            </a:r>
            <a:r>
              <a:rPr b="0" lang="en-US" sz="2000" strike="noStrike" u="none">
                <a:solidFill>
                  <a:srgbClr val="000000"/>
                </a:solidFill>
                <a:effectLst/>
                <a:uFillTx/>
                <a:latin typeface="Arial"/>
              </a:rPr>
              <a:t>C</a:t>
            </a:r>
            <a:r>
              <a:rPr b="0" lang="zh-CN" sz="2000" strike="noStrike" u="none">
                <a:solidFill>
                  <a:srgbClr val="000000"/>
                </a:solidFill>
                <a:effectLst/>
                <a:uFillTx/>
                <a:latin typeface="Arial"/>
              </a:rPr>
              <a:t>が悪ければ横展開しません。</a:t>
            </a:r>
            <a:endParaRPr b="0" lang="en-US" sz="2000" strike="noStrike" u="none">
              <a:solidFill>
                <a:srgbClr val="000000"/>
              </a:solidFill>
              <a:effectLst/>
              <a:uFillTx/>
              <a:latin typeface="Arial"/>
            </a:endParaRPr>
          </a:p>
          <a:p>
            <a:pPr indent="0">
              <a:buNone/>
            </a:pPr>
            <a:r>
              <a:rPr b="0" lang="zh-CN" sz="2000" strike="noStrike" u="none">
                <a:solidFill>
                  <a:srgbClr val="000000"/>
                </a:solidFill>
                <a:effectLst/>
                <a:uFillTx/>
                <a:latin typeface="Arial"/>
              </a:rPr>
              <a:t>特に大規模</a:t>
            </a:r>
            <a:r>
              <a:rPr b="0" lang="en-US" sz="2000" strike="noStrike" u="none">
                <a:solidFill>
                  <a:srgbClr val="000000"/>
                </a:solidFill>
                <a:effectLst/>
                <a:uFillTx/>
                <a:latin typeface="Arial"/>
              </a:rPr>
              <a:t>SI</a:t>
            </a:r>
            <a:r>
              <a:rPr b="0" lang="zh-CN" sz="2000" strike="noStrike" u="none">
                <a:solidFill>
                  <a:srgbClr val="000000"/>
                </a:solidFill>
                <a:effectLst/>
                <a:uFillTx/>
                <a:latin typeface="Arial"/>
              </a:rPr>
              <a:t>では、影響漏れ・設計と実装の不整合・例外時の復帰が重要です。</a:t>
            </a:r>
            <a:endParaRPr b="0" lang="en-US" sz="2000" strike="noStrike" u="none">
              <a:solidFill>
                <a:srgbClr val="000000"/>
              </a:solidFill>
              <a:effectLst/>
              <a:uFillTx/>
              <a:latin typeface="Arial"/>
            </a:endParaRPr>
          </a:p>
          <a:p>
            <a:pPr indent="0">
              <a:lnSpc>
                <a:spcPct val="100000"/>
              </a:lnSpc>
              <a:buNone/>
            </a:pPr>
            <a:r>
              <a:rPr b="0" lang="zh-CN" sz="2000" strike="noStrike" u="none">
                <a:solidFill>
                  <a:srgbClr val="000000"/>
                </a:solidFill>
                <a:effectLst/>
                <a:uFillTx/>
                <a:latin typeface="Arial"/>
              </a:rPr>
              <a:t>この三層を満たしたユースケースだけを段階的に拡張することで、</a:t>
            </a:r>
            <a:r>
              <a:rPr b="0" lang="en-US" sz="2000" strike="noStrike" u="none">
                <a:solidFill>
                  <a:srgbClr val="000000"/>
                </a:solidFill>
                <a:effectLst/>
                <a:uFillTx/>
                <a:latin typeface="Arial"/>
              </a:rPr>
              <a:t>1</a:t>
            </a:r>
            <a:r>
              <a:rPr b="0" lang="zh-CN" sz="2000" strike="noStrike" u="none">
                <a:solidFill>
                  <a:srgbClr val="000000"/>
                </a:solidFill>
                <a:effectLst/>
                <a:uFillTx/>
                <a:latin typeface="Arial"/>
              </a:rPr>
              <a:t>〜</a:t>
            </a:r>
            <a:r>
              <a:rPr b="0" lang="en-US" sz="2000" strike="noStrike" u="none">
                <a:solidFill>
                  <a:srgbClr val="000000"/>
                </a:solidFill>
                <a:effectLst/>
                <a:uFillTx/>
                <a:latin typeface="Arial"/>
              </a:rPr>
              <a:t>3</a:t>
            </a:r>
            <a:r>
              <a:rPr b="0" lang="zh-CN" sz="2000" strike="noStrike" u="none">
                <a:solidFill>
                  <a:srgbClr val="000000"/>
                </a:solidFill>
                <a:effectLst/>
                <a:uFillTx/>
                <a:latin typeface="Arial"/>
              </a:rPr>
              <a:t>月の改善を安全に積み上げます。</a:t>
            </a:r>
            <a:endParaRPr b="0" lang="en-US" sz="2000" strike="noStrike" u="none">
              <a:solidFill>
                <a:srgbClr val="000000"/>
              </a:solidFill>
              <a:effectLst/>
              <a:uFillTx/>
              <a:latin typeface="Arial"/>
            </a:endParaRPr>
          </a:p>
        </p:txBody>
      </p:sp>
      <p:sp>
        <p:nvSpPr>
          <p:cNvPr id="542" name="PlaceHolder 3"/>
          <p:cNvSpPr>
            <a:spLocks noGrp="1"/>
          </p:cNvSpPr>
          <p:nvPr>
            <p:ph type="sldNum" idx="2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998B22A9-BB67-426D-8150-BD9A323338A1}"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3" name="PlaceHolder 1"/>
          <p:cNvSpPr>
            <a:spLocks noGrp="1"/>
          </p:cNvSpPr>
          <p:nvPr>
            <p:ph type="sldImg"/>
          </p:nvPr>
        </p:nvSpPr>
        <p:spPr>
          <a:xfrm>
            <a:off x="685800" y="1143000"/>
            <a:ext cx="5486040" cy="3085920"/>
          </a:xfrm>
          <a:prstGeom prst="rect">
            <a:avLst/>
          </a:prstGeom>
          <a:ln w="0">
            <a:noFill/>
          </a:ln>
        </p:spPr>
      </p:sp>
      <p:sp>
        <p:nvSpPr>
          <p:cNvPr id="54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r>
              <a:rPr b="0" lang="zh-CN" sz="2000" strike="noStrike" u="none">
                <a:solidFill>
                  <a:srgbClr val="000000"/>
                </a:solidFill>
                <a:effectLst/>
                <a:uFillTx/>
                <a:latin typeface="Arial"/>
              </a:rPr>
              <a:t>最後は「誰が何を判断するか」と、開始後</a:t>
            </a:r>
            <a:r>
              <a:rPr b="0" lang="en-US" sz="2000" strike="noStrike" u="none">
                <a:solidFill>
                  <a:srgbClr val="000000"/>
                </a:solidFill>
                <a:effectLst/>
                <a:uFillTx/>
                <a:latin typeface="Arial"/>
              </a:rPr>
              <a:t>2</a:t>
            </a:r>
            <a:r>
              <a:rPr b="0" lang="zh-CN" sz="2000" strike="noStrike" u="none">
                <a:solidFill>
                  <a:srgbClr val="000000"/>
                </a:solidFill>
                <a:effectLst/>
                <a:uFillTx/>
                <a:latin typeface="Arial"/>
              </a:rPr>
              <a:t>週間で決める事項を確認します。</a:t>
            </a:r>
            <a:endParaRPr b="0" lang="en-US" sz="2000" strike="noStrike" u="none">
              <a:solidFill>
                <a:srgbClr val="000000"/>
              </a:solidFill>
              <a:effectLst/>
              <a:uFillTx/>
              <a:latin typeface="Arial"/>
            </a:endParaRPr>
          </a:p>
          <a:p>
            <a:pPr indent="0">
              <a:buNone/>
            </a:pPr>
            <a:r>
              <a:rPr b="0" lang="zh-CN" sz="2000" strike="noStrike" u="none">
                <a:solidFill>
                  <a:srgbClr val="000000"/>
                </a:solidFill>
                <a:effectLst/>
                <a:uFillTx/>
                <a:latin typeface="Arial"/>
              </a:rPr>
              <a:t>週次は改善、月次は適用範囲、</a:t>
            </a:r>
            <a:r>
              <a:rPr b="0" lang="en-US" sz="2000" strike="noStrike" u="none">
                <a:solidFill>
                  <a:srgbClr val="000000"/>
                </a:solidFill>
                <a:effectLst/>
                <a:uFillTx/>
                <a:latin typeface="Arial"/>
              </a:rPr>
              <a:t>12</a:t>
            </a:r>
            <a:r>
              <a:rPr b="0" lang="zh-CN" sz="2000" strike="noStrike" u="none">
                <a:solidFill>
                  <a:srgbClr val="000000"/>
                </a:solidFill>
                <a:effectLst/>
                <a:uFillTx/>
                <a:latin typeface="Arial"/>
              </a:rPr>
              <a:t>月と</a:t>
            </a:r>
            <a:r>
              <a:rPr b="0" lang="en-US" sz="2000" strike="noStrike" u="none">
                <a:solidFill>
                  <a:srgbClr val="000000"/>
                </a:solidFill>
                <a:effectLst/>
                <a:uFillTx/>
                <a:latin typeface="Arial"/>
              </a:rPr>
              <a:t>3</a:t>
            </a:r>
            <a:r>
              <a:rPr b="0" lang="zh-CN" sz="2000" strike="noStrike" u="none">
                <a:solidFill>
                  <a:srgbClr val="000000"/>
                </a:solidFill>
                <a:effectLst/>
                <a:uFillTx/>
                <a:latin typeface="Arial"/>
              </a:rPr>
              <a:t>月は経営・体制レベルのゲートという三段階の意思決定にします。</a:t>
            </a:r>
            <a:endParaRPr b="0" lang="en-US" sz="2000" strike="noStrike" u="none">
              <a:solidFill>
                <a:srgbClr val="000000"/>
              </a:solidFill>
              <a:effectLst/>
              <a:uFillTx/>
              <a:latin typeface="Arial"/>
            </a:endParaRPr>
          </a:p>
          <a:p>
            <a:pPr indent="0">
              <a:lnSpc>
                <a:spcPct val="100000"/>
              </a:lnSpc>
              <a:buNone/>
            </a:pPr>
            <a:r>
              <a:rPr b="0" lang="zh-CN" sz="2000" strike="noStrike" u="none">
                <a:solidFill>
                  <a:srgbClr val="000000"/>
                </a:solidFill>
                <a:effectLst/>
                <a:uFillTx/>
                <a:latin typeface="Arial"/>
              </a:rPr>
              <a:t>契約開始時に</a:t>
            </a:r>
            <a:r>
              <a:rPr b="0" lang="en-US" sz="2000" strike="noStrike" u="none">
                <a:solidFill>
                  <a:srgbClr val="000000"/>
                </a:solidFill>
                <a:effectLst/>
                <a:uFillTx/>
                <a:latin typeface="Arial"/>
              </a:rPr>
              <a:t>KPI</a:t>
            </a:r>
            <a:r>
              <a:rPr b="0" lang="zh-CN" sz="2000" strike="noStrike" u="none">
                <a:solidFill>
                  <a:srgbClr val="000000"/>
                </a:solidFill>
                <a:effectLst/>
                <a:uFillTx/>
                <a:latin typeface="Arial"/>
              </a:rPr>
              <a:t>定義・基準データ・アクセス境界を固定できれば、</a:t>
            </a:r>
            <a:r>
              <a:rPr b="0" lang="en-US" sz="2000" strike="noStrike" u="none">
                <a:solidFill>
                  <a:srgbClr val="000000"/>
                </a:solidFill>
                <a:effectLst/>
                <a:uFillTx/>
                <a:latin typeface="Arial"/>
              </a:rPr>
              <a:t>12</a:t>
            </a:r>
            <a:r>
              <a:rPr b="0" lang="zh-CN" sz="2000" strike="noStrike" u="none">
                <a:solidFill>
                  <a:srgbClr val="000000"/>
                </a:solidFill>
                <a:effectLst/>
                <a:uFillTx/>
                <a:latin typeface="Arial"/>
              </a:rPr>
              <a:t>月の効果説明で揉めにくくなります。</a:t>
            </a:r>
            <a:endParaRPr b="0" lang="en-US" sz="2000" strike="noStrike" u="none">
              <a:solidFill>
                <a:srgbClr val="000000"/>
              </a:solidFill>
              <a:effectLst/>
              <a:uFillTx/>
              <a:latin typeface="Arial"/>
            </a:endParaRPr>
          </a:p>
        </p:txBody>
      </p:sp>
      <p:sp>
        <p:nvSpPr>
          <p:cNvPr id="545" name="PlaceHolder 3"/>
          <p:cNvSpPr>
            <a:spLocks noGrp="1"/>
          </p:cNvSpPr>
          <p:nvPr>
            <p:ph type="sldNum" idx="2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E80A4235-C864-464E-A525-5347304EB319}"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
    <p:bg>
      <p:bgPr>
        <a:solidFill>
          <a:srgbClr val="f7f9fc"/>
        </a:solidFill>
      </p:bgPr>
    </p:bg>
    <p:spTree>
      <p:nvGrpSpPr>
        <p:cNvPr id="1" name=""/>
        <p:cNvGrpSpPr/>
        <p:nvPr/>
      </p:nvGrpSpPr>
      <p:grpSpPr>
        <a:xfrm>
          <a:off x="0" y="0"/>
          <a:ext cx="0" cy="0"/>
          <a:chOff x="0" y="0"/>
          <a:chExt cx="0" cy="0"/>
        </a:xfrm>
      </p:grpSpPr>
      <p:sp>
        <p:nvSpPr>
          <p:cNvPr id="0" name="Shape 0"/>
          <p:cNvSpPr/>
          <p:nvPr/>
        </p:nvSpPr>
        <p:spPr>
          <a:xfrm>
            <a:off x="0" y="0"/>
            <a:ext cx="12191400" cy="72720"/>
          </a:xfrm>
          <a:prstGeom prst="rect">
            <a:avLst/>
          </a:prstGeom>
          <a:solidFill>
            <a:srgbClr val="1b6fd1"/>
          </a:solidFill>
          <a:ln w="12700">
            <a:solidFill>
              <a:srgbClr val="1b6fd1"/>
            </a:solidFill>
            <a:round/>
          </a:ln>
        </p:spPr>
        <p:style>
          <a:lnRef idx="0"/>
          <a:fillRef idx="0"/>
          <a:effectRef idx="0"/>
          <a:fontRef idx="minor"/>
        </p:style>
        <p:txBody>
          <a:bodyPr lIns="90000" rIns="90000" tIns="28080" bIns="28080" anchor="t">
            <a:noAutofit/>
          </a:bodyPr>
          <a:p>
            <a:endParaRPr b="0" lang="en-US" sz="1800" strike="noStrike" u="none">
              <a:solidFill>
                <a:srgbClr val="ffffff"/>
              </a:solidFill>
              <a:effectLst/>
              <a:uFillTx/>
              <a:latin typeface="Arial"/>
            </a:endParaRPr>
          </a:p>
        </p:txBody>
      </p:sp>
      <p:sp>
        <p:nvSpPr>
          <p:cNvPr id="1" name="Text 1"/>
          <p:cNvSpPr/>
          <p:nvPr/>
        </p:nvSpPr>
        <p:spPr>
          <a:xfrm>
            <a:off x="411480" y="6556320"/>
            <a:ext cx="512028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zh-CN" sz="850" strike="noStrike" u="none">
                <a:solidFill>
                  <a:srgbClr val="75808f"/>
                </a:solidFill>
                <a:effectLst/>
                <a:uFillTx/>
                <a:latin typeface="Yu Gothic"/>
                <a:ea typeface="Yu Gothic"/>
              </a:rPr>
              <a:t>大規模</a:t>
            </a:r>
            <a:r>
              <a:rPr b="0" lang="en-US" sz="850" strike="noStrike" u="none">
                <a:solidFill>
                  <a:srgbClr val="75808f"/>
                </a:solidFill>
                <a:effectLst/>
                <a:uFillTx/>
                <a:latin typeface="Yu Gothic"/>
                <a:ea typeface="Yu Gothic"/>
              </a:rPr>
              <a:t>SI 2</a:t>
            </a:r>
            <a:r>
              <a:rPr b="0" lang="zh-CN" sz="850" strike="noStrike" u="none">
                <a:solidFill>
                  <a:srgbClr val="75808f"/>
                </a:solidFill>
                <a:effectLst/>
                <a:uFillTx/>
                <a:latin typeface="Yu Gothic"/>
                <a:ea typeface="Yu Gothic"/>
              </a:rPr>
              <a:t>次開発｜</a:t>
            </a:r>
            <a:r>
              <a:rPr b="0" lang="en-US" sz="850" strike="noStrike" u="none">
                <a:solidFill>
                  <a:srgbClr val="75808f"/>
                </a:solidFill>
                <a:effectLst/>
                <a:uFillTx/>
                <a:latin typeface="Yu Gothic"/>
                <a:ea typeface="Yu Gothic"/>
              </a:rPr>
              <a:t>AI</a:t>
            </a:r>
            <a:r>
              <a:rPr b="0" lang="zh-CN" sz="850" strike="noStrike" u="none">
                <a:solidFill>
                  <a:srgbClr val="75808f"/>
                </a:solidFill>
                <a:effectLst/>
                <a:uFillTx/>
                <a:latin typeface="Yu Gothic"/>
                <a:ea typeface="Yu Gothic"/>
              </a:rPr>
              <a:t>適用 実行計画</a:t>
            </a:r>
            <a:endParaRPr b="0" lang="en-US" sz="850" strike="noStrike" u="none">
              <a:solidFill>
                <a:srgbClr val="000000"/>
              </a:solidFill>
              <a:effectLst/>
              <a:uFillTx/>
              <a:latin typeface="Arial"/>
            </a:endParaRPr>
          </a:p>
        </p:txBody>
      </p:sp>
      <p:sp>
        <p:nvSpPr>
          <p:cNvPr id="2" name="Text 2"/>
          <p:cNvSpPr/>
          <p:nvPr/>
        </p:nvSpPr>
        <p:spPr>
          <a:xfrm>
            <a:off x="10881360" y="6556320"/>
            <a:ext cx="868320" cy="164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50" strike="noStrike" u="none">
                <a:solidFill>
                  <a:srgbClr val="75808f"/>
                </a:solidFill>
                <a:effectLst/>
                <a:uFillTx/>
                <a:latin typeface="Yu Gothic"/>
                <a:ea typeface="Yu Gothic"/>
              </a:rPr>
              <a:t>2026-09-18</a:t>
            </a:r>
            <a:endParaRPr b="0" lang="en-US" sz="850" strike="noStrike" u="none">
              <a:solidFill>
                <a:srgbClr val="000000"/>
              </a:solidFill>
              <a:effectLst/>
              <a:uFillTx/>
              <a:latin typeface="Arial"/>
            </a:endParaRPr>
          </a:p>
        </p:txBody>
      </p:sp>
      <p:sp>
        <p:nvSpPr>
          <p:cNvPr id="3" name="PlaceHolder 1"/>
          <p:cNvSpPr>
            <a:spLocks noGrp="1"/>
          </p:cNvSpPr>
          <p:nvPr>
            <p:ph type="sldNum" idx="1"/>
          </p:nvPr>
        </p:nvSpPr>
        <p:spPr>
          <a:xfrm>
            <a:off x="11777400" y="65563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850" strike="noStrike" u="none">
                <a:solidFill>
                  <a:srgbClr val="75808f"/>
                </a:solidFill>
                <a:effectLst/>
                <a:uFillTx/>
                <a:latin typeface="Yu Gothic"/>
                <a:ea typeface="Yu Gothic"/>
              </a:defRPr>
            </a:lvl1pPr>
          </a:lstStyle>
          <a:p>
            <a:pPr indent="0" defTabSz="914400">
              <a:lnSpc>
                <a:spcPct val="100000"/>
              </a:lnSpc>
              <a:buNone/>
            </a:pPr>
            <a:fld id="{CCC6897F-9927-4254-BF71-79724B92E3C9}" type="slidenum">
              <a:rPr b="0" lang="en-US" sz="850" strike="noStrike" u="none">
                <a:solidFill>
                  <a:srgbClr val="75808f"/>
                </a:solidFill>
                <a:effectLst/>
                <a:uFillTx/>
                <a:latin typeface="Yu Gothic"/>
                <a:ea typeface="Yu Gothic"/>
              </a:rPr>
              <a:t>&lt;number&gt;</a:t>
            </a:fld>
            <a:endParaRPr b="0" lang="en-US" sz="850" strike="noStrike" u="none">
              <a:solidFill>
                <a:srgbClr val="000000"/>
              </a:solidFill>
              <a:effectLst/>
              <a:uFillTx/>
              <a:latin typeface="Times New Roman"/>
            </a:endParaRPr>
          </a:p>
        </p:txBody>
      </p:sp>
      <p:sp>
        <p:nvSpPr>
          <p:cNvPr id="4" name="PlaceHolder 2"/>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Yu Gothic"/>
              </a:rPr>
              <a:t>Click to edit the title text format</a:t>
            </a:r>
            <a:endParaRPr b="0" lang="en-US" sz="1800" strike="noStrike" u="none">
              <a:solidFill>
                <a:schemeClr val="dk1"/>
              </a:solidFill>
              <a:effectLst/>
              <a:uFillTx/>
              <a:latin typeface="Yu Gothic"/>
            </a:endParaRPr>
          </a:p>
        </p:txBody>
      </p:sp>
      <p:sp>
        <p:nvSpPr>
          <p:cNvPr id="5"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Yu Gothic"/>
              </a:rPr>
              <a:t>Click to edit the outline text format</a:t>
            </a:r>
            <a:endParaRPr b="0" lang="en-US" sz="3200" strike="noStrike" u="none">
              <a:solidFill>
                <a:schemeClr val="dk1"/>
              </a:solidFill>
              <a:effectLst/>
              <a:uFillTx/>
              <a:latin typeface="Yu Gothic"/>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Yu Gothic"/>
              </a:rPr>
              <a:t>Second Outline Level</a:t>
            </a:r>
            <a:endParaRPr b="0" lang="en-US" sz="2400" strike="noStrike" u="none">
              <a:solidFill>
                <a:schemeClr val="dk1"/>
              </a:solidFill>
              <a:effectLst/>
              <a:uFillTx/>
              <a:latin typeface="Yu Gothic"/>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Yu Gothic"/>
              </a:rPr>
              <a:t>Third Outline Level</a:t>
            </a:r>
            <a:endParaRPr b="0" lang="en-US" sz="2000" strike="noStrike" u="none">
              <a:solidFill>
                <a:schemeClr val="dk1"/>
              </a:solidFill>
              <a:effectLst/>
              <a:uFillTx/>
              <a:latin typeface="Yu Gothic"/>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Yu Gothic"/>
              </a:rPr>
              <a:t>Fourth Outline Level</a:t>
            </a:r>
            <a:endParaRPr b="0" lang="en-US" sz="2000" strike="noStrike" u="none">
              <a:solidFill>
                <a:schemeClr val="dk1"/>
              </a:solidFill>
              <a:effectLst/>
              <a:uFillTx/>
              <a:latin typeface="Yu Gothic"/>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Yu Gothic"/>
              </a:rPr>
              <a:t>Fifth Outline Level</a:t>
            </a:r>
            <a:endParaRPr b="0" lang="en-US" sz="2000" strike="noStrike" u="none">
              <a:solidFill>
                <a:schemeClr val="dk1"/>
              </a:solidFill>
              <a:effectLst/>
              <a:uFillTx/>
              <a:latin typeface="Yu Gothic"/>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Yu Gothic"/>
              </a:rPr>
              <a:t>Sixth Outline Level</a:t>
            </a:r>
            <a:endParaRPr b="0" lang="en-US" sz="2000" strike="noStrike" u="none">
              <a:solidFill>
                <a:schemeClr val="dk1"/>
              </a:solidFill>
              <a:effectLst/>
              <a:uFillTx/>
              <a:latin typeface="Yu Gothic"/>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Yu Gothic"/>
              </a:rPr>
              <a:t>Seventh Outline Level</a:t>
            </a:r>
            <a:endParaRPr b="0" lang="en-US" sz="2000" strike="noStrike" u="none">
              <a:solidFill>
                <a:schemeClr val="dk1"/>
              </a:solidFill>
              <a:effectLst/>
              <a:uFillTx/>
              <a:latin typeface="Yu Gothic"/>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c"/>
        </a:solidFill>
      </p:bgPr>
    </p:bg>
    <p:spTree>
      <p:nvGrpSpPr>
        <p:cNvPr id="1" name=""/>
        <p:cNvGrpSpPr/>
        <p:nvPr/>
      </p:nvGrpSpPr>
      <p:grpSpPr>
        <a:xfrm>
          <a:off x="0" y="0"/>
          <a:ext cx="0" cy="0"/>
          <a:chOff x="0" y="0"/>
          <a:chExt cx="0" cy="0"/>
        </a:xfrm>
      </p:grpSpPr>
      <p:sp>
        <p:nvSpPr>
          <p:cNvPr id="12" name="Shape 0"/>
          <p:cNvSpPr/>
          <p:nvPr/>
        </p:nvSpPr>
        <p:spPr>
          <a:xfrm>
            <a:off x="0" y="0"/>
            <a:ext cx="12191400" cy="6857640"/>
          </a:xfrm>
          <a:prstGeom prst="rect">
            <a:avLst/>
          </a:prstGeom>
          <a:solidFill>
            <a:srgbClr val="f7f9fc"/>
          </a:solidFill>
          <a:ln w="12700">
            <a:solidFill>
              <a:srgbClr val="f7f9f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3" name="Shape 1"/>
          <p:cNvSpPr/>
          <p:nvPr/>
        </p:nvSpPr>
        <p:spPr>
          <a:xfrm>
            <a:off x="0" y="0"/>
            <a:ext cx="12191400" cy="109440"/>
          </a:xfrm>
          <a:prstGeom prst="rect">
            <a:avLst/>
          </a:prstGeom>
          <a:solidFill>
            <a:srgbClr val="1b6fd1"/>
          </a:solidFill>
          <a:ln w="12700">
            <a:solidFill>
              <a:srgbClr val="1b6fd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4" name="Shape 2"/>
          <p:cNvSpPr/>
          <p:nvPr/>
        </p:nvSpPr>
        <p:spPr>
          <a:xfrm>
            <a:off x="594360" y="585360"/>
            <a:ext cx="1554120" cy="328680"/>
          </a:xfrm>
          <a:prstGeom prst="roundRect">
            <a:avLst>
              <a:gd name="adj" fmla="val 19444"/>
            </a:avLst>
          </a:prstGeom>
          <a:solidFill>
            <a:srgbClr val="0b1f33"/>
          </a:solidFill>
          <a:ln w="12700">
            <a:solidFill>
              <a:srgbClr val="0b1f33"/>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5" name="Text 3"/>
          <p:cNvSpPr/>
          <p:nvPr/>
        </p:nvSpPr>
        <p:spPr>
          <a:xfrm>
            <a:off x="640080" y="621720"/>
            <a:ext cx="146268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zh-CN" sz="1100" strike="noStrike" u="none">
                <a:solidFill>
                  <a:srgbClr val="ffffff"/>
                </a:solidFill>
                <a:effectLst/>
                <a:uFillTx/>
                <a:latin typeface="Yu Gothic"/>
                <a:ea typeface="Yu Gothic"/>
              </a:rPr>
              <a:t>顧客説明用・実行計画</a:t>
            </a:r>
            <a:endParaRPr b="0" lang="en-US" sz="1100" strike="noStrike" u="none">
              <a:solidFill>
                <a:srgbClr val="000000"/>
              </a:solidFill>
              <a:effectLst/>
              <a:uFillTx/>
              <a:latin typeface="Arial"/>
            </a:endParaRPr>
          </a:p>
        </p:txBody>
      </p:sp>
      <p:sp>
        <p:nvSpPr>
          <p:cNvPr id="16" name="Text 4"/>
          <p:cNvSpPr/>
          <p:nvPr/>
        </p:nvSpPr>
        <p:spPr>
          <a:xfrm>
            <a:off x="594360" y="1188720"/>
            <a:ext cx="6583320" cy="1416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zh-CN" sz="3100" strike="noStrike" u="none">
                <a:solidFill>
                  <a:srgbClr val="0b1f33"/>
                </a:solidFill>
                <a:effectLst/>
                <a:uFillTx/>
                <a:latin typeface="Yu Gothic"/>
                <a:ea typeface="Yu Gothic"/>
              </a:rPr>
              <a:t>大規模</a:t>
            </a:r>
            <a:r>
              <a:rPr b="1" lang="en-US" sz="3100" strike="noStrike" u="none">
                <a:solidFill>
                  <a:srgbClr val="0b1f33"/>
                </a:solidFill>
                <a:effectLst/>
                <a:uFillTx/>
                <a:latin typeface="Yu Gothic"/>
                <a:ea typeface="Yu Gothic"/>
              </a:rPr>
              <a:t>SI 2</a:t>
            </a:r>
            <a:r>
              <a:rPr b="1" lang="zh-CN" sz="3100" strike="noStrike" u="none">
                <a:solidFill>
                  <a:srgbClr val="0b1f33"/>
                </a:solidFill>
                <a:effectLst/>
                <a:uFillTx/>
                <a:latin typeface="Yu Gothic"/>
                <a:ea typeface="Yu Gothic"/>
              </a:rPr>
              <a:t>次開発における</a:t>
            </a:r>
            <a:endParaRPr b="0" lang="en-US" sz="3100" strike="noStrike" u="none">
              <a:solidFill>
                <a:srgbClr val="000000"/>
              </a:solidFill>
              <a:effectLst/>
              <a:uFillTx/>
              <a:latin typeface="Arial"/>
            </a:endParaRPr>
          </a:p>
          <a:p>
            <a:pPr defTabSz="914400">
              <a:lnSpc>
                <a:spcPct val="100000"/>
              </a:lnSpc>
              <a:tabLst>
                <a:tab algn="l" pos="0"/>
              </a:tabLst>
            </a:pPr>
            <a:r>
              <a:rPr b="1" lang="en-US" sz="3100" strike="noStrike" u="none">
                <a:solidFill>
                  <a:srgbClr val="0b1f33"/>
                </a:solidFill>
                <a:effectLst/>
                <a:uFillTx/>
                <a:latin typeface="Yu Gothic"/>
                <a:ea typeface="Yu Gothic"/>
              </a:rPr>
              <a:t>AI</a:t>
            </a:r>
            <a:r>
              <a:rPr b="1" lang="zh-CN" sz="3100" strike="noStrike" u="none">
                <a:solidFill>
                  <a:srgbClr val="0b1f33"/>
                </a:solidFill>
                <a:effectLst/>
                <a:uFillTx/>
                <a:latin typeface="Yu Gothic"/>
                <a:ea typeface="Yu Gothic"/>
              </a:rPr>
              <a:t>適用 実行計画</a:t>
            </a:r>
            <a:endParaRPr b="0" lang="en-US" sz="3100" strike="noStrike" u="none">
              <a:solidFill>
                <a:srgbClr val="000000"/>
              </a:solidFill>
              <a:effectLst/>
              <a:uFillTx/>
              <a:latin typeface="Arial"/>
            </a:endParaRPr>
          </a:p>
        </p:txBody>
      </p:sp>
      <p:sp>
        <p:nvSpPr>
          <p:cNvPr id="17" name="Text 5"/>
          <p:cNvSpPr/>
          <p:nvPr/>
        </p:nvSpPr>
        <p:spPr>
          <a:xfrm>
            <a:off x="621720" y="2788920"/>
            <a:ext cx="649188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trike="noStrike" u="none">
                <a:solidFill>
                  <a:srgbClr val="52606d"/>
                </a:solidFill>
                <a:effectLst/>
                <a:uFillTx/>
                <a:latin typeface="Yu Gothic"/>
                <a:ea typeface="Yu Gothic"/>
              </a:rPr>
              <a:t>2026</a:t>
            </a:r>
            <a:r>
              <a:rPr b="0" lang="zh-CN" sz="1500" strike="noStrike" u="none">
                <a:solidFill>
                  <a:srgbClr val="52606d"/>
                </a:solidFill>
                <a:effectLst/>
                <a:uFillTx/>
                <a:latin typeface="Yu Gothic"/>
                <a:ea typeface="Yu Gothic"/>
              </a:rPr>
              <a:t>年</a:t>
            </a:r>
            <a:r>
              <a:rPr b="0" lang="en-US" sz="1500" strike="noStrike" u="none">
                <a:solidFill>
                  <a:srgbClr val="52606d"/>
                </a:solidFill>
                <a:effectLst/>
                <a:uFillTx/>
                <a:latin typeface="Yu Gothic"/>
                <a:ea typeface="Yu Gothic"/>
              </a:rPr>
              <a:t>10</a:t>
            </a:r>
            <a:r>
              <a:rPr b="0" lang="zh-CN" sz="1500" strike="noStrike" u="none">
                <a:solidFill>
                  <a:srgbClr val="52606d"/>
                </a:solidFill>
                <a:effectLst/>
                <a:uFillTx/>
                <a:latin typeface="Yu Gothic"/>
                <a:ea typeface="Yu Gothic"/>
              </a:rPr>
              <a:t>月〜</a:t>
            </a:r>
            <a:r>
              <a:rPr b="0" lang="en-US" sz="1500" strike="noStrike" u="none">
                <a:solidFill>
                  <a:srgbClr val="52606d"/>
                </a:solidFill>
                <a:effectLst/>
                <a:uFillTx/>
                <a:latin typeface="Yu Gothic"/>
                <a:ea typeface="Yu Gothic"/>
              </a:rPr>
              <a:t>2027</a:t>
            </a:r>
            <a:r>
              <a:rPr b="0" lang="zh-CN" sz="1500" strike="noStrike" u="none">
                <a:solidFill>
                  <a:srgbClr val="52606d"/>
                </a:solidFill>
                <a:effectLst/>
                <a:uFillTx/>
                <a:latin typeface="Yu Gothic"/>
                <a:ea typeface="Yu Gothic"/>
              </a:rPr>
              <a:t>年</a:t>
            </a:r>
            <a:r>
              <a:rPr b="0" lang="en-US" sz="1500" strike="noStrike" u="none">
                <a:solidFill>
                  <a:srgbClr val="52606d"/>
                </a:solidFill>
                <a:effectLst/>
                <a:uFillTx/>
                <a:latin typeface="Yu Gothic"/>
                <a:ea typeface="Yu Gothic"/>
              </a:rPr>
              <a:t>4</a:t>
            </a:r>
            <a:r>
              <a:rPr b="0" lang="zh-CN" sz="1500" strike="noStrike" u="none">
                <a:solidFill>
                  <a:srgbClr val="52606d"/>
                </a:solidFill>
                <a:effectLst/>
                <a:uFillTx/>
                <a:latin typeface="Yu Gothic"/>
                <a:ea typeface="Yu Gothic"/>
              </a:rPr>
              <a:t>月｜効果証明 → 生産性改善 → 体制最適化</a:t>
            </a:r>
            <a:endParaRPr b="0" lang="en-US" sz="1500" strike="noStrike" u="none">
              <a:solidFill>
                <a:srgbClr val="000000"/>
              </a:solidFill>
              <a:effectLst/>
              <a:uFillTx/>
              <a:latin typeface="Arial"/>
            </a:endParaRPr>
          </a:p>
        </p:txBody>
      </p:sp>
      <p:sp>
        <p:nvSpPr>
          <p:cNvPr id="18" name="Text 6"/>
          <p:cNvSpPr/>
          <p:nvPr/>
        </p:nvSpPr>
        <p:spPr>
          <a:xfrm>
            <a:off x="621720" y="3337560"/>
            <a:ext cx="6583320" cy="45684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zh-CN" sz="1700" strike="noStrike" u="none">
                <a:solidFill>
                  <a:srgbClr val="1b6fd1"/>
                </a:solidFill>
                <a:effectLst/>
                <a:uFillTx/>
                <a:latin typeface="Yu Gothic"/>
                <a:ea typeface="Yu Gothic"/>
              </a:rPr>
              <a:t>「本番は人手で継続」「</a:t>
            </a:r>
            <a:r>
              <a:rPr b="1" lang="en-US" sz="1700" strike="noStrike" u="none">
                <a:solidFill>
                  <a:srgbClr val="1b6fd1"/>
                </a:solidFill>
                <a:effectLst/>
                <a:uFillTx/>
                <a:latin typeface="Yu Gothic"/>
                <a:ea typeface="Yu Gothic"/>
              </a:rPr>
              <a:t>AI</a:t>
            </a:r>
            <a:r>
              <a:rPr b="1" lang="zh-CN" sz="1700" strike="noStrike" u="none">
                <a:solidFill>
                  <a:srgbClr val="1b6fd1"/>
                </a:solidFill>
                <a:effectLst/>
                <a:uFillTx/>
                <a:latin typeface="Yu Gothic"/>
                <a:ea typeface="Yu Gothic"/>
              </a:rPr>
              <a:t>は並行検証」「効果を確認してから体制へ反映」</a:t>
            </a:r>
            <a:endParaRPr b="0" lang="en-US" sz="1700" strike="noStrike" u="none">
              <a:solidFill>
                <a:srgbClr val="000000"/>
              </a:solidFill>
              <a:effectLst/>
              <a:uFillTx/>
              <a:latin typeface="Arial"/>
            </a:endParaRPr>
          </a:p>
        </p:txBody>
      </p:sp>
      <p:sp>
        <p:nvSpPr>
          <p:cNvPr id="19" name="Shape 7"/>
          <p:cNvSpPr/>
          <p:nvPr/>
        </p:nvSpPr>
        <p:spPr>
          <a:xfrm>
            <a:off x="7726680" y="1005840"/>
            <a:ext cx="3748680" cy="1188360"/>
          </a:xfrm>
          <a:prstGeom prst="roundRect">
            <a:avLst>
              <a:gd name="adj" fmla="val 5385"/>
            </a:avLst>
          </a:prstGeom>
          <a:solidFill>
            <a:srgbClr val="e8f1fb"/>
          </a:solidFill>
          <a:ln w="12700">
            <a:solidFill>
              <a:srgbClr val="e8f1f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0" name="Text 8"/>
          <p:cNvSpPr/>
          <p:nvPr/>
        </p:nvSpPr>
        <p:spPr>
          <a:xfrm>
            <a:off x="7799760" y="1134000"/>
            <a:ext cx="3602520" cy="383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2300" strike="noStrike" u="none">
                <a:solidFill>
                  <a:srgbClr val="1b6fd1"/>
                </a:solidFill>
                <a:effectLst/>
                <a:uFillTx/>
                <a:latin typeface="Yu Gothic"/>
                <a:ea typeface="Yu Gothic"/>
              </a:rPr>
              <a:t>10</a:t>
            </a:r>
            <a:r>
              <a:rPr b="1" lang="zh-CN" sz="2300" strike="noStrike" u="none">
                <a:solidFill>
                  <a:srgbClr val="1b6fd1"/>
                </a:solidFill>
                <a:effectLst/>
                <a:uFillTx/>
                <a:latin typeface="Yu Gothic"/>
                <a:ea typeface="Yu Gothic"/>
              </a:rPr>
              <a:t>〜</a:t>
            </a:r>
            <a:r>
              <a:rPr b="1" lang="en-US" sz="2300" strike="noStrike" u="none">
                <a:solidFill>
                  <a:srgbClr val="1b6fd1"/>
                </a:solidFill>
                <a:effectLst/>
                <a:uFillTx/>
                <a:latin typeface="Yu Gothic"/>
                <a:ea typeface="Yu Gothic"/>
              </a:rPr>
              <a:t>12</a:t>
            </a:r>
            <a:r>
              <a:rPr b="1" lang="zh-CN" sz="2300" strike="noStrike" u="none">
                <a:solidFill>
                  <a:srgbClr val="1b6fd1"/>
                </a:solidFill>
                <a:effectLst/>
                <a:uFillTx/>
                <a:latin typeface="Yu Gothic"/>
                <a:ea typeface="Yu Gothic"/>
              </a:rPr>
              <a:t>月</a:t>
            </a:r>
            <a:endParaRPr b="0" lang="en-US" sz="2300" strike="noStrike" u="none">
              <a:solidFill>
                <a:srgbClr val="000000"/>
              </a:solidFill>
              <a:effectLst/>
              <a:uFillTx/>
              <a:latin typeface="Arial"/>
            </a:endParaRPr>
          </a:p>
        </p:txBody>
      </p:sp>
      <p:sp>
        <p:nvSpPr>
          <p:cNvPr id="21" name="Text 9"/>
          <p:cNvSpPr/>
          <p:nvPr/>
        </p:nvSpPr>
        <p:spPr>
          <a:xfrm>
            <a:off x="7827120" y="1572840"/>
            <a:ext cx="3547440" cy="5299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zh-CN" sz="1050" strike="noStrike" u="none">
                <a:solidFill>
                  <a:srgbClr val="243b53"/>
                </a:solidFill>
                <a:effectLst/>
                <a:uFillTx/>
                <a:latin typeface="Yu Gothic"/>
                <a:ea typeface="Yu Gothic"/>
              </a:rPr>
              <a:t>実案件を題材に並行検証でコスト・品質効果を証明</a:t>
            </a:r>
            <a:endParaRPr b="0" lang="en-US" sz="1050" strike="noStrike" u="none">
              <a:solidFill>
                <a:srgbClr val="000000"/>
              </a:solidFill>
              <a:effectLst/>
              <a:uFillTx/>
              <a:latin typeface="Arial"/>
            </a:endParaRPr>
          </a:p>
        </p:txBody>
      </p:sp>
      <p:sp>
        <p:nvSpPr>
          <p:cNvPr id="22" name="Shape 10"/>
          <p:cNvSpPr/>
          <p:nvPr/>
        </p:nvSpPr>
        <p:spPr>
          <a:xfrm>
            <a:off x="9601200" y="2267640"/>
            <a:ext cx="360" cy="274320"/>
          </a:xfrm>
          <a:prstGeom prst="line">
            <a:avLst/>
          </a:prstGeom>
          <a:ln w="22860">
            <a:solidFill>
              <a:srgbClr val="8793a1"/>
            </a:solidFill>
            <a:round/>
            <a:tailEnd len="med" type="triangle" w="me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3" name="Shape 11"/>
          <p:cNvSpPr/>
          <p:nvPr/>
        </p:nvSpPr>
        <p:spPr>
          <a:xfrm>
            <a:off x="7726680" y="2587680"/>
            <a:ext cx="3748680" cy="1188360"/>
          </a:xfrm>
          <a:prstGeom prst="roundRect">
            <a:avLst>
              <a:gd name="adj" fmla="val 5385"/>
            </a:avLst>
          </a:prstGeom>
          <a:solidFill>
            <a:srgbClr val="e8f7f4"/>
          </a:solidFill>
          <a:ln w="12700">
            <a:solidFill>
              <a:srgbClr val="e8f7f4"/>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4" name="Text 12"/>
          <p:cNvSpPr/>
          <p:nvPr/>
        </p:nvSpPr>
        <p:spPr>
          <a:xfrm>
            <a:off x="7799760" y="2715840"/>
            <a:ext cx="3602520" cy="383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2300" strike="noStrike" u="none">
                <a:solidFill>
                  <a:srgbClr val="0f9d8a"/>
                </a:solidFill>
                <a:effectLst/>
                <a:uFillTx/>
                <a:latin typeface="Yu Gothic"/>
                <a:ea typeface="Yu Gothic"/>
              </a:rPr>
              <a:t>1</a:t>
            </a:r>
            <a:r>
              <a:rPr b="1" lang="zh-CN" sz="2300" strike="noStrike" u="none">
                <a:solidFill>
                  <a:srgbClr val="0f9d8a"/>
                </a:solidFill>
                <a:effectLst/>
                <a:uFillTx/>
                <a:latin typeface="Yu Gothic"/>
                <a:ea typeface="Yu Gothic"/>
              </a:rPr>
              <a:t>〜</a:t>
            </a:r>
            <a:r>
              <a:rPr b="1" lang="en-US" sz="2300" strike="noStrike" u="none">
                <a:solidFill>
                  <a:srgbClr val="0f9d8a"/>
                </a:solidFill>
                <a:effectLst/>
                <a:uFillTx/>
                <a:latin typeface="Yu Gothic"/>
                <a:ea typeface="Yu Gothic"/>
              </a:rPr>
              <a:t>3</a:t>
            </a:r>
            <a:r>
              <a:rPr b="1" lang="zh-CN" sz="2300" strike="noStrike" u="none">
                <a:solidFill>
                  <a:srgbClr val="0f9d8a"/>
                </a:solidFill>
                <a:effectLst/>
                <a:uFillTx/>
                <a:latin typeface="Yu Gothic"/>
                <a:ea typeface="Yu Gothic"/>
              </a:rPr>
              <a:t>月</a:t>
            </a:r>
            <a:endParaRPr b="0" lang="en-US" sz="2300" strike="noStrike" u="none">
              <a:solidFill>
                <a:srgbClr val="000000"/>
              </a:solidFill>
              <a:effectLst/>
              <a:uFillTx/>
              <a:latin typeface="Arial"/>
            </a:endParaRPr>
          </a:p>
        </p:txBody>
      </p:sp>
      <p:sp>
        <p:nvSpPr>
          <p:cNvPr id="25" name="Text 13"/>
          <p:cNvSpPr/>
          <p:nvPr/>
        </p:nvSpPr>
        <p:spPr>
          <a:xfrm>
            <a:off x="7827120" y="3154680"/>
            <a:ext cx="3547440" cy="5299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zh-CN" sz="1050" strike="noStrike" u="none">
                <a:solidFill>
                  <a:srgbClr val="243b53"/>
                </a:solidFill>
                <a:effectLst/>
                <a:uFillTx/>
                <a:latin typeface="Yu Gothic"/>
                <a:ea typeface="Yu Gothic"/>
              </a:rPr>
              <a:t>同一成果量あたりの必要工数を</a:t>
            </a:r>
            <a:r>
              <a:rPr b="0" lang="en-US" sz="1050" strike="noStrike" u="none">
                <a:solidFill>
                  <a:srgbClr val="243b53"/>
                </a:solidFill>
                <a:effectLst/>
                <a:uFillTx/>
                <a:latin typeface="Yu Gothic"/>
                <a:ea typeface="Yu Gothic"/>
              </a:rPr>
              <a:t>30%</a:t>
            </a:r>
            <a:r>
              <a:rPr b="0" lang="zh-CN" sz="1050" strike="noStrike" u="none">
                <a:solidFill>
                  <a:srgbClr val="243b53"/>
                </a:solidFill>
                <a:effectLst/>
                <a:uFillTx/>
                <a:latin typeface="Yu Gothic"/>
                <a:ea typeface="Yu Gothic"/>
              </a:rPr>
              <a:t>削減</a:t>
            </a:r>
            <a:endParaRPr b="0" lang="en-US" sz="1050" strike="noStrike" u="none">
              <a:solidFill>
                <a:srgbClr val="000000"/>
              </a:solidFill>
              <a:effectLst/>
              <a:uFillTx/>
              <a:latin typeface="Arial"/>
            </a:endParaRPr>
          </a:p>
        </p:txBody>
      </p:sp>
      <p:sp>
        <p:nvSpPr>
          <p:cNvPr id="26" name="Shape 14"/>
          <p:cNvSpPr/>
          <p:nvPr/>
        </p:nvSpPr>
        <p:spPr>
          <a:xfrm>
            <a:off x="9601200" y="3840480"/>
            <a:ext cx="360" cy="274320"/>
          </a:xfrm>
          <a:prstGeom prst="line">
            <a:avLst/>
          </a:prstGeom>
          <a:ln w="22860">
            <a:solidFill>
              <a:srgbClr val="8793a1"/>
            </a:solidFill>
            <a:round/>
            <a:tailEnd len="med" type="triangle" w="me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7" name="Shape 15"/>
          <p:cNvSpPr/>
          <p:nvPr/>
        </p:nvSpPr>
        <p:spPr>
          <a:xfrm>
            <a:off x="7726680" y="4160520"/>
            <a:ext cx="3748680" cy="1188360"/>
          </a:xfrm>
          <a:prstGeom prst="roundRect">
            <a:avLst>
              <a:gd name="adj" fmla="val 5385"/>
            </a:avLst>
          </a:prstGeom>
          <a:solidFill>
            <a:srgbClr val="fff4dd"/>
          </a:solidFill>
          <a:ln w="12700">
            <a:solidFill>
              <a:srgbClr val="fff4dd"/>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 name="Text 16"/>
          <p:cNvSpPr/>
          <p:nvPr/>
        </p:nvSpPr>
        <p:spPr>
          <a:xfrm>
            <a:off x="7799760" y="4288680"/>
            <a:ext cx="3602520" cy="383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2300" strike="noStrike" u="none">
                <a:solidFill>
                  <a:srgbClr val="f59e0b"/>
                </a:solidFill>
                <a:effectLst/>
                <a:uFillTx/>
                <a:latin typeface="Yu Gothic"/>
                <a:ea typeface="Yu Gothic"/>
              </a:rPr>
              <a:t>4</a:t>
            </a:r>
            <a:r>
              <a:rPr b="1" lang="zh-CN" sz="2300" strike="noStrike" u="none">
                <a:solidFill>
                  <a:srgbClr val="f59e0b"/>
                </a:solidFill>
                <a:effectLst/>
                <a:uFillTx/>
                <a:latin typeface="Yu Gothic"/>
                <a:ea typeface="Yu Gothic"/>
              </a:rPr>
              <a:t>月〜</a:t>
            </a:r>
            <a:endParaRPr b="0" lang="en-US" sz="2300" strike="noStrike" u="none">
              <a:solidFill>
                <a:srgbClr val="000000"/>
              </a:solidFill>
              <a:effectLst/>
              <a:uFillTx/>
              <a:latin typeface="Arial"/>
            </a:endParaRPr>
          </a:p>
        </p:txBody>
      </p:sp>
      <p:sp>
        <p:nvSpPr>
          <p:cNvPr id="29" name="Text 17"/>
          <p:cNvSpPr/>
          <p:nvPr/>
        </p:nvSpPr>
        <p:spPr>
          <a:xfrm>
            <a:off x="7827120" y="4727520"/>
            <a:ext cx="3547440" cy="5299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zh-CN" sz="1050" strike="noStrike" u="none">
                <a:solidFill>
                  <a:srgbClr val="243b53"/>
                </a:solidFill>
                <a:effectLst/>
                <a:uFillTx/>
                <a:latin typeface="Yu Gothic"/>
                <a:ea typeface="Yu Gothic"/>
              </a:rPr>
              <a:t>同等スコープ・品質を維持し、必要要員を</a:t>
            </a:r>
            <a:r>
              <a:rPr b="0" lang="en-US" sz="1050" strike="noStrike" u="none">
                <a:solidFill>
                  <a:srgbClr val="243b53"/>
                </a:solidFill>
                <a:effectLst/>
                <a:uFillTx/>
                <a:latin typeface="Yu Gothic"/>
                <a:ea typeface="Yu Gothic"/>
              </a:rPr>
              <a:t>30%</a:t>
            </a:r>
            <a:r>
              <a:rPr b="0" lang="zh-CN" sz="1050" strike="noStrike" u="none">
                <a:solidFill>
                  <a:srgbClr val="243b53"/>
                </a:solidFill>
                <a:effectLst/>
                <a:uFillTx/>
                <a:latin typeface="Yu Gothic"/>
                <a:ea typeface="Yu Gothic"/>
              </a:rPr>
              <a:t>削減</a:t>
            </a:r>
            <a:endParaRPr b="0" lang="en-US" sz="1050" strike="noStrike" u="none">
              <a:solidFill>
                <a:srgbClr val="000000"/>
              </a:solidFill>
              <a:effectLst/>
              <a:uFillTx/>
              <a:latin typeface="Arial"/>
            </a:endParaRPr>
          </a:p>
        </p:txBody>
      </p:sp>
      <p:sp>
        <p:nvSpPr>
          <p:cNvPr id="30" name="Text 18"/>
          <p:cNvSpPr/>
          <p:nvPr/>
        </p:nvSpPr>
        <p:spPr>
          <a:xfrm>
            <a:off x="621720" y="6236280"/>
            <a:ext cx="749772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00" strike="noStrike" u="none">
                <a:solidFill>
                  <a:srgbClr val="8793a1"/>
                </a:solidFill>
                <a:effectLst/>
                <a:uFillTx/>
                <a:latin typeface="Yu Gothic"/>
                <a:ea typeface="Yu Gothic"/>
              </a:rPr>
              <a:t>Document ID: SI-AI-SECONDARY-DEVELOPMENT-EXECUTION-PLAN  </a:t>
            </a:r>
            <a:r>
              <a:rPr b="0" lang="zh-CN" sz="800" strike="noStrike" u="none">
                <a:solidFill>
                  <a:srgbClr val="8793a1"/>
                </a:solidFill>
                <a:effectLst/>
                <a:uFillTx/>
                <a:latin typeface="Yu Gothic"/>
                <a:ea typeface="Yu Gothic"/>
              </a:rPr>
              <a:t>｜  </a:t>
            </a:r>
            <a:r>
              <a:rPr b="0" lang="en-US" sz="800" strike="noStrike" u="none">
                <a:solidFill>
                  <a:srgbClr val="8793a1"/>
                </a:solidFill>
                <a:effectLst/>
                <a:uFillTx/>
                <a:latin typeface="Yu Gothic"/>
                <a:ea typeface="Yu Gothic"/>
              </a:rPr>
              <a:t>Version: 0.2  </a:t>
            </a:r>
            <a:r>
              <a:rPr b="0" lang="zh-CN" sz="800" strike="noStrike" u="none">
                <a:solidFill>
                  <a:srgbClr val="8793a1"/>
                </a:solidFill>
                <a:effectLst/>
                <a:uFillTx/>
                <a:latin typeface="Yu Gothic"/>
                <a:ea typeface="Yu Gothic"/>
              </a:rPr>
              <a:t>｜  </a:t>
            </a:r>
            <a:r>
              <a:rPr b="0" lang="en-US" sz="800" strike="noStrike" u="none">
                <a:solidFill>
                  <a:srgbClr val="8793a1"/>
                </a:solidFill>
                <a:effectLst/>
                <a:uFillTx/>
                <a:latin typeface="Yu Gothic"/>
                <a:ea typeface="Yu Gothic"/>
              </a:rPr>
              <a:t>Status: PENDING_APPROVAL</a:t>
            </a:r>
            <a:endParaRPr b="0" lang="en-US" sz="800" strike="noStrike" u="none">
              <a:solidFill>
                <a:srgbClr val="000000"/>
              </a:solidFill>
              <a:effectLst/>
              <a:uFillTx/>
              <a:latin typeface="Arial"/>
            </a:endParaRPr>
          </a:p>
        </p:txBody>
      </p:sp>
      <p:sp>
        <p:nvSpPr>
          <p:cNvPr id="31" name="PlaceHolder 1"/>
          <p:cNvSpPr>
            <a:spLocks noGrp="1"/>
          </p:cNvSpPr>
          <p:nvPr>
            <p:ph type="sldNum" idx="5"/>
          </p:nvPr>
        </p:nvSpPr>
        <p:spPr>
          <a:xfrm>
            <a:off x="11777400" y="65563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850" strike="noStrike" u="none">
                <a:solidFill>
                  <a:srgbClr val="75808f"/>
                </a:solidFill>
                <a:effectLst/>
                <a:uFillTx/>
                <a:latin typeface="Yu Gothic"/>
                <a:ea typeface="Yu Gothic"/>
              </a:defRPr>
            </a:lvl1pPr>
          </a:lstStyle>
          <a:p>
            <a:pPr indent="0" defTabSz="914400">
              <a:lnSpc>
                <a:spcPct val="100000"/>
              </a:lnSpc>
              <a:buNone/>
            </a:pPr>
            <a:fld id="{6C2E291E-A010-4352-844C-9DF58C31E7D5}" type="slidenum">
              <a:rPr b="0" lang="en-US" sz="850" strike="noStrike" u="none">
                <a:solidFill>
                  <a:srgbClr val="75808f"/>
                </a:solidFill>
                <a:effectLst/>
                <a:uFillTx/>
                <a:latin typeface="Yu Gothic"/>
                <a:ea typeface="Yu Gothic"/>
              </a:rPr>
              <a:t>1</a:t>
            </a:fld>
            <a:endParaRPr b="0" lang="en-US" sz="85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Text 0"/>
          <p:cNvSpPr/>
          <p:nvPr/>
        </p:nvSpPr>
        <p:spPr>
          <a:xfrm>
            <a:off x="530280" y="301680"/>
            <a:ext cx="11109600" cy="420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zh-CN" sz="2550" strike="noStrike" u="none">
                <a:solidFill>
                  <a:srgbClr val="0b1f33"/>
                </a:solidFill>
                <a:effectLst/>
                <a:uFillTx/>
                <a:latin typeface="Yu Gothic"/>
                <a:ea typeface="Yu Gothic"/>
              </a:rPr>
              <a:t>全体ロードマップ：証明 → 拡大 → 体制転換</a:t>
            </a:r>
            <a:endParaRPr b="0" lang="en-US" sz="2550" strike="noStrike" u="none">
              <a:solidFill>
                <a:srgbClr val="000000"/>
              </a:solidFill>
              <a:effectLst/>
              <a:uFillTx/>
              <a:latin typeface="Arial"/>
            </a:endParaRPr>
          </a:p>
        </p:txBody>
      </p:sp>
      <p:sp>
        <p:nvSpPr>
          <p:cNvPr id="33" name="Text 1"/>
          <p:cNvSpPr/>
          <p:nvPr/>
        </p:nvSpPr>
        <p:spPr>
          <a:xfrm>
            <a:off x="548640" y="749880"/>
            <a:ext cx="1097244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trike="noStrike" u="none">
                <a:solidFill>
                  <a:srgbClr val="52606d"/>
                </a:solidFill>
                <a:effectLst/>
                <a:uFillTx/>
                <a:latin typeface="Yu Gothic"/>
                <a:ea typeface="Yu Gothic"/>
              </a:rPr>
              <a:t>3</a:t>
            </a:r>
            <a:r>
              <a:rPr b="0" lang="zh-CN" sz="1150" strike="noStrike" u="none">
                <a:solidFill>
                  <a:srgbClr val="52606d"/>
                </a:solidFill>
                <a:effectLst/>
                <a:uFillTx/>
                <a:latin typeface="Yu Gothic"/>
                <a:ea typeface="Yu Gothic"/>
              </a:rPr>
              <a:t>月までは人手開発を本番の正とし、</a:t>
            </a:r>
            <a:r>
              <a:rPr b="0" lang="en-US" sz="1150" strike="noStrike" u="none">
                <a:solidFill>
                  <a:srgbClr val="52606d"/>
                </a:solidFill>
                <a:effectLst/>
                <a:uFillTx/>
                <a:latin typeface="Yu Gothic"/>
                <a:ea typeface="Yu Gothic"/>
              </a:rPr>
              <a:t>AI</a:t>
            </a:r>
            <a:r>
              <a:rPr b="0" lang="zh-CN" sz="1150" strike="noStrike" u="none">
                <a:solidFill>
                  <a:srgbClr val="52606d"/>
                </a:solidFill>
                <a:effectLst/>
                <a:uFillTx/>
                <a:latin typeface="Yu Gothic"/>
                <a:ea typeface="Yu Gothic"/>
              </a:rPr>
              <a:t>はシャドー実行（本番非反映）。</a:t>
            </a:r>
            <a:r>
              <a:rPr b="0" lang="en-US" sz="1150" strike="noStrike" u="none">
                <a:solidFill>
                  <a:srgbClr val="52606d"/>
                </a:solidFill>
                <a:effectLst/>
                <a:uFillTx/>
                <a:latin typeface="Yu Gothic"/>
                <a:ea typeface="Yu Gothic"/>
              </a:rPr>
              <a:t>2</a:t>
            </a:r>
            <a:r>
              <a:rPr b="0" lang="zh-CN" sz="1150" strike="noStrike" u="none">
                <a:solidFill>
                  <a:srgbClr val="52606d"/>
                </a:solidFill>
                <a:effectLst/>
                <a:uFillTx/>
                <a:latin typeface="Yu Gothic"/>
                <a:ea typeface="Yu Gothic"/>
              </a:rPr>
              <a:t>つの</a:t>
            </a:r>
            <a:r>
              <a:rPr b="0" lang="en-US" sz="1150" strike="noStrike" u="none">
                <a:solidFill>
                  <a:srgbClr val="52606d"/>
                </a:solidFill>
                <a:effectLst/>
                <a:uFillTx/>
                <a:latin typeface="Yu Gothic"/>
                <a:ea typeface="Yu Gothic"/>
              </a:rPr>
              <a:t>Gate</a:t>
            </a:r>
            <a:r>
              <a:rPr b="0" lang="zh-CN" sz="1150" strike="noStrike" u="none">
                <a:solidFill>
                  <a:srgbClr val="52606d"/>
                </a:solidFill>
                <a:effectLst/>
                <a:uFillTx/>
                <a:latin typeface="Yu Gothic"/>
                <a:ea typeface="Yu Gothic"/>
              </a:rPr>
              <a:t>で</a:t>
            </a:r>
            <a:r>
              <a:rPr b="0" lang="en-US" sz="1150" strike="noStrike" u="none">
                <a:solidFill>
                  <a:srgbClr val="52606d"/>
                </a:solidFill>
                <a:effectLst/>
                <a:uFillTx/>
                <a:latin typeface="Yu Gothic"/>
                <a:ea typeface="Yu Gothic"/>
              </a:rPr>
              <a:t>4</a:t>
            </a:r>
            <a:r>
              <a:rPr b="0" lang="zh-CN" sz="1150" strike="noStrike" u="none">
                <a:solidFill>
                  <a:srgbClr val="52606d"/>
                </a:solidFill>
                <a:effectLst/>
                <a:uFillTx/>
                <a:latin typeface="Yu Gothic"/>
                <a:ea typeface="Yu Gothic"/>
              </a:rPr>
              <a:t>月移行可否を判断します</a:t>
            </a:r>
            <a:endParaRPr b="0" lang="en-US" sz="1150" strike="noStrike" u="none">
              <a:solidFill>
                <a:srgbClr val="000000"/>
              </a:solidFill>
              <a:effectLst/>
              <a:uFillTx/>
              <a:latin typeface="Arial"/>
            </a:endParaRPr>
          </a:p>
        </p:txBody>
      </p:sp>
      <p:sp>
        <p:nvSpPr>
          <p:cNvPr id="34" name="Text 2"/>
          <p:cNvSpPr/>
          <p:nvPr/>
        </p:nvSpPr>
        <p:spPr>
          <a:xfrm>
            <a:off x="594360" y="1097280"/>
            <a:ext cx="156708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52606d"/>
                </a:solidFill>
                <a:effectLst/>
                <a:uFillTx/>
                <a:latin typeface="Yu Gothic"/>
                <a:ea typeface="Yu Gothic"/>
              </a:rPr>
              <a:t>10</a:t>
            </a:r>
            <a:r>
              <a:rPr b="1" lang="zh-CN" sz="1100" strike="noStrike" u="none">
                <a:solidFill>
                  <a:srgbClr val="52606d"/>
                </a:solidFill>
                <a:effectLst/>
                <a:uFillTx/>
                <a:latin typeface="Yu Gothic"/>
                <a:ea typeface="Yu Gothic"/>
              </a:rPr>
              <a:t>月</a:t>
            </a:r>
            <a:endParaRPr b="0" lang="en-US" sz="1100" strike="noStrike" u="none">
              <a:solidFill>
                <a:srgbClr val="000000"/>
              </a:solidFill>
              <a:effectLst/>
              <a:uFillTx/>
              <a:latin typeface="Arial"/>
            </a:endParaRPr>
          </a:p>
        </p:txBody>
      </p:sp>
      <p:sp>
        <p:nvSpPr>
          <p:cNvPr id="35" name="Shape 3"/>
          <p:cNvSpPr/>
          <p:nvPr/>
        </p:nvSpPr>
        <p:spPr>
          <a:xfrm>
            <a:off x="594360" y="1353240"/>
            <a:ext cx="360" cy="4480560"/>
          </a:xfrm>
          <a:prstGeom prst="line">
            <a:avLst/>
          </a:prstGeom>
          <a:ln w="10160">
            <a:solidFill>
              <a:srgbClr val="d9e2ec"/>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36" name="Text 4"/>
          <p:cNvSpPr/>
          <p:nvPr/>
        </p:nvSpPr>
        <p:spPr>
          <a:xfrm>
            <a:off x="2161800" y="1097280"/>
            <a:ext cx="156708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52606d"/>
                </a:solidFill>
                <a:effectLst/>
                <a:uFillTx/>
                <a:latin typeface="Yu Gothic"/>
                <a:ea typeface="Yu Gothic"/>
              </a:rPr>
              <a:t>11</a:t>
            </a:r>
            <a:r>
              <a:rPr b="1" lang="zh-CN" sz="1100" strike="noStrike" u="none">
                <a:solidFill>
                  <a:srgbClr val="52606d"/>
                </a:solidFill>
                <a:effectLst/>
                <a:uFillTx/>
                <a:latin typeface="Yu Gothic"/>
                <a:ea typeface="Yu Gothic"/>
              </a:rPr>
              <a:t>月</a:t>
            </a:r>
            <a:endParaRPr b="0" lang="en-US" sz="1100" strike="noStrike" u="none">
              <a:solidFill>
                <a:srgbClr val="000000"/>
              </a:solidFill>
              <a:effectLst/>
              <a:uFillTx/>
              <a:latin typeface="Arial"/>
            </a:endParaRPr>
          </a:p>
        </p:txBody>
      </p:sp>
      <p:sp>
        <p:nvSpPr>
          <p:cNvPr id="37" name="Shape 5"/>
          <p:cNvSpPr/>
          <p:nvPr/>
        </p:nvSpPr>
        <p:spPr>
          <a:xfrm>
            <a:off x="2161800" y="1353240"/>
            <a:ext cx="360" cy="4480560"/>
          </a:xfrm>
          <a:prstGeom prst="line">
            <a:avLst/>
          </a:prstGeom>
          <a:ln w="10160">
            <a:solidFill>
              <a:srgbClr val="d9e2ec"/>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38" name="Text 6"/>
          <p:cNvSpPr/>
          <p:nvPr/>
        </p:nvSpPr>
        <p:spPr>
          <a:xfrm>
            <a:off x="3729600" y="1097280"/>
            <a:ext cx="156708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52606d"/>
                </a:solidFill>
                <a:effectLst/>
                <a:uFillTx/>
                <a:latin typeface="Yu Gothic"/>
                <a:ea typeface="Yu Gothic"/>
              </a:rPr>
              <a:t>12</a:t>
            </a:r>
            <a:r>
              <a:rPr b="1" lang="zh-CN" sz="1100" strike="noStrike" u="none">
                <a:solidFill>
                  <a:srgbClr val="52606d"/>
                </a:solidFill>
                <a:effectLst/>
                <a:uFillTx/>
                <a:latin typeface="Yu Gothic"/>
                <a:ea typeface="Yu Gothic"/>
              </a:rPr>
              <a:t>月</a:t>
            </a:r>
            <a:endParaRPr b="0" lang="en-US" sz="1100" strike="noStrike" u="none">
              <a:solidFill>
                <a:srgbClr val="000000"/>
              </a:solidFill>
              <a:effectLst/>
              <a:uFillTx/>
              <a:latin typeface="Arial"/>
            </a:endParaRPr>
          </a:p>
        </p:txBody>
      </p:sp>
      <p:sp>
        <p:nvSpPr>
          <p:cNvPr id="39" name="Shape 7"/>
          <p:cNvSpPr/>
          <p:nvPr/>
        </p:nvSpPr>
        <p:spPr>
          <a:xfrm>
            <a:off x="3729240" y="1353240"/>
            <a:ext cx="360" cy="4480560"/>
          </a:xfrm>
          <a:prstGeom prst="line">
            <a:avLst/>
          </a:prstGeom>
          <a:ln w="10160">
            <a:solidFill>
              <a:srgbClr val="d9e2ec"/>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0" name="Text 8"/>
          <p:cNvSpPr/>
          <p:nvPr/>
        </p:nvSpPr>
        <p:spPr>
          <a:xfrm>
            <a:off x="5297040" y="1097280"/>
            <a:ext cx="156708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52606d"/>
                </a:solidFill>
                <a:effectLst/>
                <a:uFillTx/>
                <a:latin typeface="Yu Gothic"/>
                <a:ea typeface="Yu Gothic"/>
              </a:rPr>
              <a:t>1</a:t>
            </a:r>
            <a:r>
              <a:rPr b="1" lang="zh-CN" sz="1100" strike="noStrike" u="none">
                <a:solidFill>
                  <a:srgbClr val="52606d"/>
                </a:solidFill>
                <a:effectLst/>
                <a:uFillTx/>
                <a:latin typeface="Yu Gothic"/>
                <a:ea typeface="Yu Gothic"/>
              </a:rPr>
              <a:t>月</a:t>
            </a:r>
            <a:endParaRPr b="0" lang="en-US" sz="1100" strike="noStrike" u="none">
              <a:solidFill>
                <a:srgbClr val="000000"/>
              </a:solidFill>
              <a:effectLst/>
              <a:uFillTx/>
              <a:latin typeface="Arial"/>
            </a:endParaRPr>
          </a:p>
        </p:txBody>
      </p:sp>
      <p:sp>
        <p:nvSpPr>
          <p:cNvPr id="41" name="Shape 9"/>
          <p:cNvSpPr/>
          <p:nvPr/>
        </p:nvSpPr>
        <p:spPr>
          <a:xfrm>
            <a:off x="5296680" y="1353240"/>
            <a:ext cx="360" cy="4480560"/>
          </a:xfrm>
          <a:prstGeom prst="line">
            <a:avLst/>
          </a:prstGeom>
          <a:ln w="10160">
            <a:solidFill>
              <a:srgbClr val="d9e2ec"/>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2" name="Text 10"/>
          <p:cNvSpPr/>
          <p:nvPr/>
        </p:nvSpPr>
        <p:spPr>
          <a:xfrm>
            <a:off x="6864480" y="1097280"/>
            <a:ext cx="156708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52606d"/>
                </a:solidFill>
                <a:effectLst/>
                <a:uFillTx/>
                <a:latin typeface="Yu Gothic"/>
                <a:ea typeface="Yu Gothic"/>
              </a:rPr>
              <a:t>2</a:t>
            </a:r>
            <a:r>
              <a:rPr b="1" lang="zh-CN" sz="1100" strike="noStrike" u="none">
                <a:solidFill>
                  <a:srgbClr val="52606d"/>
                </a:solidFill>
                <a:effectLst/>
                <a:uFillTx/>
                <a:latin typeface="Yu Gothic"/>
                <a:ea typeface="Yu Gothic"/>
              </a:rPr>
              <a:t>月</a:t>
            </a:r>
            <a:endParaRPr b="0" lang="en-US" sz="1100" strike="noStrike" u="none">
              <a:solidFill>
                <a:srgbClr val="000000"/>
              </a:solidFill>
              <a:effectLst/>
              <a:uFillTx/>
              <a:latin typeface="Arial"/>
            </a:endParaRPr>
          </a:p>
        </p:txBody>
      </p:sp>
      <p:sp>
        <p:nvSpPr>
          <p:cNvPr id="43" name="Shape 11"/>
          <p:cNvSpPr/>
          <p:nvPr/>
        </p:nvSpPr>
        <p:spPr>
          <a:xfrm>
            <a:off x="6864480" y="1353240"/>
            <a:ext cx="360" cy="4480560"/>
          </a:xfrm>
          <a:prstGeom prst="line">
            <a:avLst/>
          </a:prstGeom>
          <a:ln w="10160">
            <a:solidFill>
              <a:srgbClr val="d9e2ec"/>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4" name="Text 12"/>
          <p:cNvSpPr/>
          <p:nvPr/>
        </p:nvSpPr>
        <p:spPr>
          <a:xfrm>
            <a:off x="8431920" y="1097280"/>
            <a:ext cx="156708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52606d"/>
                </a:solidFill>
                <a:effectLst/>
                <a:uFillTx/>
                <a:latin typeface="Yu Gothic"/>
                <a:ea typeface="Yu Gothic"/>
              </a:rPr>
              <a:t>3</a:t>
            </a:r>
            <a:r>
              <a:rPr b="1" lang="zh-CN" sz="1100" strike="noStrike" u="none">
                <a:solidFill>
                  <a:srgbClr val="52606d"/>
                </a:solidFill>
                <a:effectLst/>
                <a:uFillTx/>
                <a:latin typeface="Yu Gothic"/>
                <a:ea typeface="Yu Gothic"/>
              </a:rPr>
              <a:t>月</a:t>
            </a:r>
            <a:endParaRPr b="0" lang="en-US" sz="1100" strike="noStrike" u="none">
              <a:solidFill>
                <a:srgbClr val="000000"/>
              </a:solidFill>
              <a:effectLst/>
              <a:uFillTx/>
              <a:latin typeface="Arial"/>
            </a:endParaRPr>
          </a:p>
        </p:txBody>
      </p:sp>
      <p:sp>
        <p:nvSpPr>
          <p:cNvPr id="45" name="Shape 13"/>
          <p:cNvSpPr/>
          <p:nvPr/>
        </p:nvSpPr>
        <p:spPr>
          <a:xfrm>
            <a:off x="8431920" y="1353240"/>
            <a:ext cx="360" cy="4480560"/>
          </a:xfrm>
          <a:prstGeom prst="line">
            <a:avLst/>
          </a:prstGeom>
          <a:ln w="10160">
            <a:solidFill>
              <a:srgbClr val="d9e2ec"/>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6" name="Text 14"/>
          <p:cNvSpPr/>
          <p:nvPr/>
        </p:nvSpPr>
        <p:spPr>
          <a:xfrm>
            <a:off x="9999720" y="1097280"/>
            <a:ext cx="156708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52606d"/>
                </a:solidFill>
                <a:effectLst/>
                <a:uFillTx/>
                <a:latin typeface="Yu Gothic"/>
                <a:ea typeface="Yu Gothic"/>
              </a:rPr>
              <a:t>4</a:t>
            </a:r>
            <a:r>
              <a:rPr b="1" lang="zh-CN" sz="1100" strike="noStrike" u="none">
                <a:solidFill>
                  <a:srgbClr val="52606d"/>
                </a:solidFill>
                <a:effectLst/>
                <a:uFillTx/>
                <a:latin typeface="Yu Gothic"/>
                <a:ea typeface="Yu Gothic"/>
              </a:rPr>
              <a:t>月</a:t>
            </a:r>
            <a:endParaRPr b="0" lang="en-US" sz="1100" strike="noStrike" u="none">
              <a:solidFill>
                <a:srgbClr val="000000"/>
              </a:solidFill>
              <a:effectLst/>
              <a:uFillTx/>
              <a:latin typeface="Arial"/>
            </a:endParaRPr>
          </a:p>
        </p:txBody>
      </p:sp>
      <p:sp>
        <p:nvSpPr>
          <p:cNvPr id="47" name="Shape 15"/>
          <p:cNvSpPr/>
          <p:nvPr/>
        </p:nvSpPr>
        <p:spPr>
          <a:xfrm>
            <a:off x="9999360" y="1353240"/>
            <a:ext cx="360" cy="4480560"/>
          </a:xfrm>
          <a:prstGeom prst="line">
            <a:avLst/>
          </a:prstGeom>
          <a:ln w="10160">
            <a:solidFill>
              <a:srgbClr val="d9e2ec"/>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8" name="Shape 16"/>
          <p:cNvSpPr/>
          <p:nvPr/>
        </p:nvSpPr>
        <p:spPr>
          <a:xfrm>
            <a:off x="11567160" y="1353240"/>
            <a:ext cx="360" cy="4480560"/>
          </a:xfrm>
          <a:prstGeom prst="line">
            <a:avLst/>
          </a:prstGeom>
          <a:ln w="10160">
            <a:solidFill>
              <a:srgbClr val="d9e2ec"/>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9" name="Shape 17"/>
          <p:cNvSpPr/>
          <p:nvPr/>
        </p:nvSpPr>
        <p:spPr>
          <a:xfrm>
            <a:off x="594360" y="1417320"/>
            <a:ext cx="4702320" cy="456840"/>
          </a:xfrm>
          <a:prstGeom prst="roundRect">
            <a:avLst>
              <a:gd name="adj" fmla="val 12000"/>
            </a:avLst>
          </a:prstGeom>
          <a:solidFill>
            <a:srgbClr val="1b6fd1"/>
          </a:solidFill>
          <a:ln w="12700">
            <a:solidFill>
              <a:srgbClr val="1b6fd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0" name="Text 18"/>
          <p:cNvSpPr/>
          <p:nvPr/>
        </p:nvSpPr>
        <p:spPr>
          <a:xfrm>
            <a:off x="594360" y="1527120"/>
            <a:ext cx="4702320" cy="200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ffffff"/>
                </a:solidFill>
                <a:effectLst/>
                <a:uFillTx/>
                <a:latin typeface="Yu Gothic"/>
                <a:ea typeface="Yu Gothic"/>
              </a:rPr>
              <a:t>Phase 1</a:t>
            </a:r>
            <a:r>
              <a:rPr b="1" lang="zh-CN" sz="1400" strike="noStrike" u="none">
                <a:solidFill>
                  <a:srgbClr val="ffffff"/>
                </a:solidFill>
                <a:effectLst/>
                <a:uFillTx/>
                <a:latin typeface="Yu Gothic"/>
                <a:ea typeface="Yu Gothic"/>
              </a:rPr>
              <a:t>｜効果を証明</a:t>
            </a:r>
            <a:endParaRPr b="0" lang="en-US" sz="1400" strike="noStrike" u="none">
              <a:solidFill>
                <a:srgbClr val="000000"/>
              </a:solidFill>
              <a:effectLst/>
              <a:uFillTx/>
              <a:latin typeface="Arial"/>
            </a:endParaRPr>
          </a:p>
        </p:txBody>
      </p:sp>
      <p:sp>
        <p:nvSpPr>
          <p:cNvPr id="51" name="Shape 19"/>
          <p:cNvSpPr/>
          <p:nvPr/>
        </p:nvSpPr>
        <p:spPr>
          <a:xfrm>
            <a:off x="5297040" y="1417320"/>
            <a:ext cx="4702320" cy="456840"/>
          </a:xfrm>
          <a:prstGeom prst="roundRect">
            <a:avLst>
              <a:gd name="adj" fmla="val 12000"/>
            </a:avLst>
          </a:prstGeom>
          <a:solidFill>
            <a:srgbClr val="0f9d8a"/>
          </a:solidFill>
          <a:ln w="12700">
            <a:solidFill>
              <a:srgbClr val="0f9d8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2" name="Text 20"/>
          <p:cNvSpPr/>
          <p:nvPr/>
        </p:nvSpPr>
        <p:spPr>
          <a:xfrm>
            <a:off x="5297040" y="1527120"/>
            <a:ext cx="4702320" cy="200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ffffff"/>
                </a:solidFill>
                <a:effectLst/>
                <a:uFillTx/>
                <a:latin typeface="Yu Gothic"/>
                <a:ea typeface="Yu Gothic"/>
              </a:rPr>
              <a:t>Phase 2</a:t>
            </a:r>
            <a:r>
              <a:rPr b="1" lang="zh-CN" sz="1400" strike="noStrike" u="none">
                <a:solidFill>
                  <a:srgbClr val="ffffff"/>
                </a:solidFill>
                <a:effectLst/>
                <a:uFillTx/>
                <a:latin typeface="Yu Gothic"/>
                <a:ea typeface="Yu Gothic"/>
              </a:rPr>
              <a:t>｜</a:t>
            </a:r>
            <a:r>
              <a:rPr b="1" lang="en-US" sz="1400" strike="noStrike" u="none">
                <a:solidFill>
                  <a:srgbClr val="ffffff"/>
                </a:solidFill>
                <a:effectLst/>
                <a:uFillTx/>
                <a:latin typeface="Yu Gothic"/>
                <a:ea typeface="Yu Gothic"/>
              </a:rPr>
              <a:t>30%</a:t>
            </a:r>
            <a:r>
              <a:rPr b="1" lang="zh-CN" sz="1400" strike="noStrike" u="none">
                <a:solidFill>
                  <a:srgbClr val="ffffff"/>
                </a:solidFill>
                <a:effectLst/>
                <a:uFillTx/>
                <a:latin typeface="Yu Gothic"/>
                <a:ea typeface="Yu Gothic"/>
              </a:rPr>
              <a:t>改善を再現可能にする</a:t>
            </a:r>
            <a:endParaRPr b="0" lang="en-US" sz="1400" strike="noStrike" u="none">
              <a:solidFill>
                <a:srgbClr val="000000"/>
              </a:solidFill>
              <a:effectLst/>
              <a:uFillTx/>
              <a:latin typeface="Arial"/>
            </a:endParaRPr>
          </a:p>
        </p:txBody>
      </p:sp>
      <p:sp>
        <p:nvSpPr>
          <p:cNvPr id="53" name="Shape 21"/>
          <p:cNvSpPr/>
          <p:nvPr/>
        </p:nvSpPr>
        <p:spPr>
          <a:xfrm>
            <a:off x="9999720" y="1417320"/>
            <a:ext cx="1567080" cy="456840"/>
          </a:xfrm>
          <a:prstGeom prst="roundRect">
            <a:avLst>
              <a:gd name="adj" fmla="val 12000"/>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4" name="Text 22"/>
          <p:cNvSpPr/>
          <p:nvPr/>
        </p:nvSpPr>
        <p:spPr>
          <a:xfrm>
            <a:off x="9999720" y="1527120"/>
            <a:ext cx="1567080" cy="200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zh-CN" sz="1300" strike="noStrike" u="none">
                <a:solidFill>
                  <a:srgbClr val="ffffff"/>
                </a:solidFill>
                <a:effectLst/>
                <a:uFillTx/>
                <a:latin typeface="Yu Gothic"/>
                <a:ea typeface="Yu Gothic"/>
              </a:rPr>
              <a:t>体制移行</a:t>
            </a:r>
            <a:endParaRPr b="0" lang="en-US" sz="1300" strike="noStrike" u="none">
              <a:solidFill>
                <a:srgbClr val="000000"/>
              </a:solidFill>
              <a:effectLst/>
              <a:uFillTx/>
              <a:latin typeface="Arial"/>
            </a:endParaRPr>
          </a:p>
        </p:txBody>
      </p:sp>
      <p:sp>
        <p:nvSpPr>
          <p:cNvPr id="55" name="Text 23"/>
          <p:cNvSpPr/>
          <p:nvPr/>
        </p:nvSpPr>
        <p:spPr>
          <a:xfrm>
            <a:off x="109800" y="2148840"/>
            <a:ext cx="438480" cy="273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zh-CN" sz="1050" strike="noStrike" u="none">
                <a:solidFill>
                  <a:srgbClr val="52606d"/>
                </a:solidFill>
                <a:effectLst/>
                <a:uFillTx/>
                <a:latin typeface="Yu Gothic"/>
                <a:ea typeface="Yu Gothic"/>
              </a:rPr>
              <a:t>狙い</a:t>
            </a:r>
            <a:endParaRPr b="0" lang="en-US" sz="1050" strike="noStrike" u="none">
              <a:solidFill>
                <a:srgbClr val="000000"/>
              </a:solidFill>
              <a:effectLst/>
              <a:uFillTx/>
              <a:latin typeface="Arial"/>
            </a:endParaRPr>
          </a:p>
        </p:txBody>
      </p:sp>
      <p:sp>
        <p:nvSpPr>
          <p:cNvPr id="56" name="Text 24"/>
          <p:cNvSpPr/>
          <p:nvPr/>
        </p:nvSpPr>
        <p:spPr>
          <a:xfrm>
            <a:off x="109800" y="2971800"/>
            <a:ext cx="438480" cy="273960"/>
          </a:xfrm>
          <a:prstGeom prst="rect">
            <a:avLst/>
          </a:prstGeom>
          <a:noFill/>
          <a:ln w="0">
            <a:noFill/>
          </a:ln>
        </p:spPr>
        <p:style>
          <a:lnRef idx="0"/>
          <a:fillRef idx="0"/>
          <a:effectRef idx="0"/>
          <a:fontRef idx="minor"/>
        </p:style>
        <p:txBody>
          <a:bodyPr lIns="0" rIns="0" tIns="0" bIns="0" anchor="ctr">
            <a:normAutofit fontScale="92500" lnSpcReduction="9999"/>
          </a:bodyPr>
          <a:p>
            <a:pPr algn="ctr" defTabSz="914400">
              <a:lnSpc>
                <a:spcPct val="100000"/>
              </a:lnSpc>
              <a:tabLst>
                <a:tab algn="l" pos="0"/>
              </a:tabLst>
            </a:pPr>
            <a:r>
              <a:rPr b="1" lang="zh-CN" sz="1050" strike="noStrike" u="none">
                <a:solidFill>
                  <a:srgbClr val="52606d"/>
                </a:solidFill>
                <a:effectLst/>
                <a:uFillTx/>
                <a:latin typeface="Yu Gothic"/>
                <a:ea typeface="Yu Gothic"/>
              </a:rPr>
              <a:t>主な実行</a:t>
            </a:r>
            <a:endParaRPr b="0" lang="en-US" sz="1050" strike="noStrike" u="none">
              <a:solidFill>
                <a:srgbClr val="000000"/>
              </a:solidFill>
              <a:effectLst/>
              <a:uFillTx/>
              <a:latin typeface="Arial"/>
            </a:endParaRPr>
          </a:p>
        </p:txBody>
      </p:sp>
      <p:sp>
        <p:nvSpPr>
          <p:cNvPr id="57" name="Text 25"/>
          <p:cNvSpPr/>
          <p:nvPr/>
        </p:nvSpPr>
        <p:spPr>
          <a:xfrm>
            <a:off x="109800" y="4251960"/>
            <a:ext cx="438480" cy="273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zh-CN" sz="1050" strike="noStrike" u="none">
                <a:solidFill>
                  <a:srgbClr val="52606d"/>
                </a:solidFill>
                <a:effectLst/>
                <a:uFillTx/>
                <a:latin typeface="Yu Gothic"/>
                <a:ea typeface="Yu Gothic"/>
              </a:rPr>
              <a:t>判定</a:t>
            </a:r>
            <a:endParaRPr b="0" lang="en-US" sz="1050" strike="noStrike" u="none">
              <a:solidFill>
                <a:srgbClr val="000000"/>
              </a:solidFill>
              <a:effectLst/>
              <a:uFillTx/>
              <a:latin typeface="Arial"/>
            </a:endParaRPr>
          </a:p>
        </p:txBody>
      </p:sp>
      <p:sp>
        <p:nvSpPr>
          <p:cNvPr id="58" name="Shape 26"/>
          <p:cNvSpPr/>
          <p:nvPr/>
        </p:nvSpPr>
        <p:spPr>
          <a:xfrm>
            <a:off x="594360" y="2030040"/>
            <a:ext cx="4629240" cy="658080"/>
          </a:xfrm>
          <a:prstGeom prst="roundRect">
            <a:avLst>
              <a:gd name="adj" fmla="val 9722"/>
            </a:avLst>
          </a:prstGeom>
          <a:solidFill>
            <a:srgbClr val="f4f8fd"/>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9" name="Shape 27"/>
          <p:cNvSpPr/>
          <p:nvPr/>
        </p:nvSpPr>
        <p:spPr>
          <a:xfrm>
            <a:off x="594360" y="2030040"/>
            <a:ext cx="63720" cy="658080"/>
          </a:xfrm>
          <a:prstGeom prst="rect">
            <a:avLst/>
          </a:prstGeom>
          <a:solidFill>
            <a:srgbClr val="1b6fd1"/>
          </a:solidFill>
          <a:ln w="12700">
            <a:solidFill>
              <a:srgbClr val="1b6fd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0" name="Text 28"/>
          <p:cNvSpPr/>
          <p:nvPr/>
        </p:nvSpPr>
        <p:spPr>
          <a:xfrm>
            <a:off x="758880" y="2176200"/>
            <a:ext cx="430920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0b1f33"/>
                </a:solidFill>
                <a:effectLst/>
                <a:uFillTx/>
                <a:latin typeface="Yu Gothic"/>
                <a:ea typeface="Yu Gothic"/>
              </a:rPr>
              <a:t>10</a:t>
            </a:r>
            <a:r>
              <a:rPr b="1" lang="zh-CN" sz="1500" strike="noStrike" u="none">
                <a:solidFill>
                  <a:srgbClr val="0b1f33"/>
                </a:solidFill>
                <a:effectLst/>
                <a:uFillTx/>
                <a:latin typeface="Yu Gothic"/>
                <a:ea typeface="Yu Gothic"/>
              </a:rPr>
              <a:t>〜</a:t>
            </a:r>
            <a:r>
              <a:rPr b="1" lang="en-US" sz="1500" strike="noStrike" u="none">
                <a:solidFill>
                  <a:srgbClr val="0b1f33"/>
                </a:solidFill>
                <a:effectLst/>
                <a:uFillTx/>
                <a:latin typeface="Yu Gothic"/>
                <a:ea typeface="Yu Gothic"/>
              </a:rPr>
              <a:t>12</a:t>
            </a:r>
            <a:r>
              <a:rPr b="1" lang="zh-CN" sz="1500" strike="noStrike" u="none">
                <a:solidFill>
                  <a:srgbClr val="0b1f33"/>
                </a:solidFill>
                <a:effectLst/>
                <a:uFillTx/>
                <a:latin typeface="Yu Gothic"/>
                <a:ea typeface="Yu Gothic"/>
              </a:rPr>
              <a:t>月｜並行検証で効果を証明</a:t>
            </a:r>
            <a:endParaRPr b="0" lang="en-US" sz="1500" strike="noStrike" u="none">
              <a:solidFill>
                <a:srgbClr val="000000"/>
              </a:solidFill>
              <a:effectLst/>
              <a:uFillTx/>
              <a:latin typeface="Arial"/>
            </a:endParaRPr>
          </a:p>
        </p:txBody>
      </p:sp>
      <p:sp>
        <p:nvSpPr>
          <p:cNvPr id="61" name="Text 29"/>
          <p:cNvSpPr/>
          <p:nvPr/>
        </p:nvSpPr>
        <p:spPr>
          <a:xfrm>
            <a:off x="758880" y="2541960"/>
            <a:ext cx="4309200" cy="27000"/>
          </a:xfrm>
          <a:prstGeom prst="rect">
            <a:avLst/>
          </a:prstGeom>
          <a:noFill/>
          <a:ln w="0">
            <a:noFill/>
          </a:ln>
        </p:spPr>
        <p:style>
          <a:lnRef idx="0"/>
          <a:fillRef idx="0"/>
          <a:effectRef idx="0"/>
          <a:fontRef idx="minor"/>
        </p:style>
        <p:txBody>
          <a:bodyPr lIns="360" rIns="360" tIns="360" bIns="360" anchor="t">
            <a:normAutofit fontScale="25000" lnSpcReduction="19999"/>
          </a:bodyPr>
          <a:p>
            <a:pPr defTabSz="914400">
              <a:lnSpc>
                <a:spcPct val="100000"/>
              </a:lnSpc>
              <a:tabLst>
                <a:tab algn="l" pos="0"/>
              </a:tabLst>
            </a:pPr>
            <a:r>
              <a:rPr b="0" lang="zh-CN" sz="1150" strike="noStrike" u="none">
                <a:solidFill>
                  <a:srgbClr val="243b53"/>
                </a:solidFill>
                <a:effectLst/>
                <a:uFillTx/>
                <a:latin typeface="Yu Gothic"/>
                <a:ea typeface="Yu Gothic"/>
              </a:rPr>
              <a:t>人手の本番開発を正とし、同一案件を隔離環境で</a:t>
            </a:r>
            <a:r>
              <a:rPr b="0" lang="en-US" sz="1150" strike="noStrike" u="none">
                <a:solidFill>
                  <a:srgbClr val="243b53"/>
                </a:solidFill>
                <a:effectLst/>
                <a:uFillTx/>
                <a:latin typeface="Yu Gothic"/>
                <a:ea typeface="Yu Gothic"/>
              </a:rPr>
              <a:t>AI</a:t>
            </a:r>
            <a:r>
              <a:rPr b="0" lang="zh-CN" sz="1150" strike="noStrike" u="none">
                <a:solidFill>
                  <a:srgbClr val="243b53"/>
                </a:solidFill>
                <a:effectLst/>
                <a:uFillTx/>
                <a:latin typeface="Yu Gothic"/>
                <a:ea typeface="Yu Gothic"/>
              </a:rPr>
              <a:t>が並行実行。正味工数と品質を同条件で比較し、</a:t>
            </a:r>
            <a:r>
              <a:rPr b="0" lang="en-US" sz="1150" strike="noStrike" u="none">
                <a:solidFill>
                  <a:srgbClr val="243b53"/>
                </a:solidFill>
                <a:effectLst/>
                <a:uFillTx/>
                <a:latin typeface="Yu Gothic"/>
                <a:ea typeface="Yu Gothic"/>
              </a:rPr>
              <a:t>AI</a:t>
            </a:r>
            <a:r>
              <a:rPr b="0" lang="zh-CN" sz="1150" strike="noStrike" u="none">
                <a:solidFill>
                  <a:srgbClr val="243b53"/>
                </a:solidFill>
                <a:effectLst/>
                <a:uFillTx/>
                <a:latin typeface="Yu Gothic"/>
                <a:ea typeface="Yu Gothic"/>
              </a:rPr>
              <a:t>開発ハーネスを構築する</a:t>
            </a:r>
            <a:endParaRPr b="0" lang="en-US" sz="1150" strike="noStrike" u="none">
              <a:solidFill>
                <a:srgbClr val="000000"/>
              </a:solidFill>
              <a:effectLst/>
              <a:uFillTx/>
              <a:latin typeface="Arial"/>
            </a:endParaRPr>
          </a:p>
        </p:txBody>
      </p:sp>
      <p:sp>
        <p:nvSpPr>
          <p:cNvPr id="62" name="Shape 30"/>
          <p:cNvSpPr/>
          <p:nvPr/>
        </p:nvSpPr>
        <p:spPr>
          <a:xfrm>
            <a:off x="5333400" y="2030040"/>
            <a:ext cx="4629240" cy="658080"/>
          </a:xfrm>
          <a:prstGeom prst="roundRect">
            <a:avLst>
              <a:gd name="adj" fmla="val 9722"/>
            </a:avLst>
          </a:prstGeom>
          <a:solidFill>
            <a:srgbClr val="f2fbf9"/>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3" name="Shape 31"/>
          <p:cNvSpPr/>
          <p:nvPr/>
        </p:nvSpPr>
        <p:spPr>
          <a:xfrm>
            <a:off x="5333400" y="2030040"/>
            <a:ext cx="63720" cy="658080"/>
          </a:xfrm>
          <a:prstGeom prst="rect">
            <a:avLst/>
          </a:prstGeom>
          <a:solidFill>
            <a:srgbClr val="0f9d8a"/>
          </a:solidFill>
          <a:ln w="12700">
            <a:solidFill>
              <a:srgbClr val="0f9d8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4" name="Text 32"/>
          <p:cNvSpPr/>
          <p:nvPr/>
        </p:nvSpPr>
        <p:spPr>
          <a:xfrm>
            <a:off x="5498280" y="2176200"/>
            <a:ext cx="430920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0b1f33"/>
                </a:solidFill>
                <a:effectLst/>
                <a:uFillTx/>
                <a:latin typeface="Yu Gothic"/>
                <a:ea typeface="Yu Gothic"/>
              </a:rPr>
              <a:t>1</a:t>
            </a:r>
            <a:r>
              <a:rPr b="1" lang="zh-CN" sz="1500" strike="noStrike" u="none">
                <a:solidFill>
                  <a:srgbClr val="0b1f33"/>
                </a:solidFill>
                <a:effectLst/>
                <a:uFillTx/>
                <a:latin typeface="Yu Gothic"/>
                <a:ea typeface="Yu Gothic"/>
              </a:rPr>
              <a:t>〜</a:t>
            </a:r>
            <a:r>
              <a:rPr b="1" lang="en-US" sz="1500" strike="noStrike" u="none">
                <a:solidFill>
                  <a:srgbClr val="0b1f33"/>
                </a:solidFill>
                <a:effectLst/>
                <a:uFillTx/>
                <a:latin typeface="Yu Gothic"/>
                <a:ea typeface="Yu Gothic"/>
              </a:rPr>
              <a:t>3</a:t>
            </a:r>
            <a:r>
              <a:rPr b="1" lang="zh-CN" sz="1500" strike="noStrike" u="none">
                <a:solidFill>
                  <a:srgbClr val="0b1f33"/>
                </a:solidFill>
                <a:effectLst/>
                <a:uFillTx/>
                <a:latin typeface="Yu Gothic"/>
                <a:ea typeface="Yu Gothic"/>
              </a:rPr>
              <a:t>月｜並行検証を横展開する</a:t>
            </a:r>
            <a:endParaRPr b="0" lang="en-US" sz="1500" strike="noStrike" u="none">
              <a:solidFill>
                <a:srgbClr val="000000"/>
              </a:solidFill>
              <a:effectLst/>
              <a:uFillTx/>
              <a:latin typeface="Arial"/>
            </a:endParaRPr>
          </a:p>
        </p:txBody>
      </p:sp>
      <p:sp>
        <p:nvSpPr>
          <p:cNvPr id="65" name="Text 33"/>
          <p:cNvSpPr/>
          <p:nvPr/>
        </p:nvSpPr>
        <p:spPr>
          <a:xfrm>
            <a:off x="5498280" y="2541960"/>
            <a:ext cx="4309200" cy="27000"/>
          </a:xfrm>
          <a:prstGeom prst="rect">
            <a:avLst/>
          </a:prstGeom>
          <a:noFill/>
          <a:ln w="0">
            <a:noFill/>
          </a:ln>
        </p:spPr>
        <p:style>
          <a:lnRef idx="0"/>
          <a:fillRef idx="0"/>
          <a:effectRef idx="0"/>
          <a:fontRef idx="minor"/>
        </p:style>
        <p:txBody>
          <a:bodyPr lIns="360" rIns="360" tIns="360" bIns="360" anchor="t">
            <a:normAutofit fontScale="25000" lnSpcReduction="19999"/>
          </a:bodyPr>
          <a:p>
            <a:pPr defTabSz="914400">
              <a:lnSpc>
                <a:spcPct val="100000"/>
              </a:lnSpc>
              <a:tabLst>
                <a:tab algn="l" pos="0"/>
              </a:tabLst>
            </a:pPr>
            <a:r>
              <a:rPr b="0" lang="zh-CN" sz="1150" strike="noStrike" u="none">
                <a:solidFill>
                  <a:srgbClr val="243b53"/>
                </a:solidFill>
                <a:effectLst/>
                <a:uFillTx/>
                <a:latin typeface="Yu Gothic"/>
                <a:ea typeface="Yu Gothic"/>
              </a:rPr>
              <a:t>本番には反映せず対象工程・変更種別を拡大。同一成果量に必要な</a:t>
            </a:r>
            <a:r>
              <a:rPr b="0" lang="en-US" sz="1150" strike="noStrike" u="none">
                <a:solidFill>
                  <a:srgbClr val="243b53"/>
                </a:solidFill>
                <a:effectLst/>
                <a:uFillTx/>
                <a:latin typeface="Yu Gothic"/>
                <a:ea typeface="Yu Gothic"/>
              </a:rPr>
              <a:t>AI</a:t>
            </a:r>
            <a:r>
              <a:rPr b="0" lang="zh-CN" sz="1150" strike="noStrike" u="none">
                <a:solidFill>
                  <a:srgbClr val="243b53"/>
                </a:solidFill>
                <a:effectLst/>
                <a:uFillTx/>
                <a:latin typeface="Yu Gothic"/>
                <a:ea typeface="Yu Gothic"/>
              </a:rPr>
              <a:t>経路の正味工数を</a:t>
            </a:r>
            <a:r>
              <a:rPr b="0" lang="en-US" sz="1150" strike="noStrike" u="none">
                <a:solidFill>
                  <a:srgbClr val="243b53"/>
                </a:solidFill>
                <a:effectLst/>
                <a:uFillTx/>
                <a:latin typeface="Yu Gothic"/>
                <a:ea typeface="Yu Gothic"/>
              </a:rPr>
              <a:t>70%</a:t>
            </a:r>
            <a:r>
              <a:rPr b="0" lang="zh-CN" sz="1150" strike="noStrike" u="none">
                <a:solidFill>
                  <a:srgbClr val="243b53"/>
                </a:solidFill>
                <a:effectLst/>
                <a:uFillTx/>
                <a:latin typeface="Yu Gothic"/>
                <a:ea typeface="Yu Gothic"/>
              </a:rPr>
              <a:t>以下へ近づけ、再現性を確認する</a:t>
            </a:r>
            <a:endParaRPr b="0" lang="en-US" sz="1150" strike="noStrike" u="none">
              <a:solidFill>
                <a:srgbClr val="000000"/>
              </a:solidFill>
              <a:effectLst/>
              <a:uFillTx/>
              <a:latin typeface="Arial"/>
            </a:endParaRPr>
          </a:p>
        </p:txBody>
      </p:sp>
      <p:sp>
        <p:nvSpPr>
          <p:cNvPr id="66" name="Shape 34"/>
          <p:cNvSpPr/>
          <p:nvPr/>
        </p:nvSpPr>
        <p:spPr>
          <a:xfrm>
            <a:off x="10036080" y="2030040"/>
            <a:ext cx="1494000" cy="658080"/>
          </a:xfrm>
          <a:prstGeom prst="roundRect">
            <a:avLst>
              <a:gd name="adj" fmla="val 9722"/>
            </a:avLst>
          </a:prstGeom>
          <a:solidFill>
            <a:srgbClr val="fff9ed"/>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7" name="Shape 35"/>
          <p:cNvSpPr/>
          <p:nvPr/>
        </p:nvSpPr>
        <p:spPr>
          <a:xfrm>
            <a:off x="10036080" y="2030040"/>
            <a:ext cx="63720" cy="65808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8" name="Text 36"/>
          <p:cNvSpPr/>
          <p:nvPr/>
        </p:nvSpPr>
        <p:spPr>
          <a:xfrm>
            <a:off x="10200960" y="2176200"/>
            <a:ext cx="1173960" cy="319680"/>
          </a:xfrm>
          <a:prstGeom prst="rect">
            <a:avLst/>
          </a:prstGeom>
          <a:noFill/>
          <a:ln w="0">
            <a:noFill/>
          </a:ln>
        </p:spPr>
        <p:style>
          <a:lnRef idx="0"/>
          <a:fillRef idx="0"/>
          <a:effectRef idx="0"/>
          <a:fontRef idx="minor"/>
        </p:style>
        <p:txBody>
          <a:bodyPr lIns="0" rIns="0" tIns="0" bIns="0" anchor="ctr">
            <a:normAutofit fontScale="85000" lnSpcReduction="19999"/>
          </a:bodyPr>
          <a:p>
            <a:pPr defTabSz="914400">
              <a:lnSpc>
                <a:spcPct val="100000"/>
              </a:lnSpc>
              <a:tabLst>
                <a:tab algn="l" pos="0"/>
              </a:tabLst>
            </a:pPr>
            <a:r>
              <a:rPr b="1" lang="en-US" sz="1500" strike="noStrike" u="none">
                <a:solidFill>
                  <a:srgbClr val="0b1f33"/>
                </a:solidFill>
                <a:effectLst/>
                <a:uFillTx/>
                <a:latin typeface="Yu Gothic"/>
                <a:ea typeface="Yu Gothic"/>
              </a:rPr>
              <a:t>4</a:t>
            </a:r>
            <a:r>
              <a:rPr b="1" lang="zh-CN" sz="1500" strike="noStrike" u="none">
                <a:solidFill>
                  <a:srgbClr val="0b1f33"/>
                </a:solidFill>
                <a:effectLst/>
                <a:uFillTx/>
                <a:latin typeface="Yu Gothic"/>
                <a:ea typeface="Yu Gothic"/>
              </a:rPr>
              <a:t>月｜</a:t>
            </a:r>
            <a:r>
              <a:rPr b="1" lang="en-US" sz="1500" strike="noStrike" u="none">
                <a:solidFill>
                  <a:srgbClr val="0b1f33"/>
                </a:solidFill>
                <a:effectLst/>
                <a:uFillTx/>
                <a:latin typeface="Yu Gothic"/>
                <a:ea typeface="Yu Gothic"/>
              </a:rPr>
              <a:t>Gate</a:t>
            </a:r>
            <a:r>
              <a:rPr b="1" lang="zh-CN" sz="1500" strike="noStrike" u="none">
                <a:solidFill>
                  <a:srgbClr val="0b1f33"/>
                </a:solidFill>
                <a:effectLst/>
                <a:uFillTx/>
                <a:latin typeface="Yu Gothic"/>
                <a:ea typeface="Yu Gothic"/>
              </a:rPr>
              <a:t>通過後に本番移行</a:t>
            </a:r>
            <a:endParaRPr b="0" lang="en-US" sz="1500" strike="noStrike" u="none">
              <a:solidFill>
                <a:srgbClr val="000000"/>
              </a:solidFill>
              <a:effectLst/>
              <a:uFillTx/>
              <a:latin typeface="Arial"/>
            </a:endParaRPr>
          </a:p>
        </p:txBody>
      </p:sp>
      <p:sp>
        <p:nvSpPr>
          <p:cNvPr id="69" name="Text 37"/>
          <p:cNvSpPr/>
          <p:nvPr/>
        </p:nvSpPr>
        <p:spPr>
          <a:xfrm>
            <a:off x="10200960" y="2541960"/>
            <a:ext cx="1173960" cy="27000"/>
          </a:xfrm>
          <a:prstGeom prst="rect">
            <a:avLst/>
          </a:prstGeom>
          <a:noFill/>
          <a:ln w="0">
            <a:noFill/>
          </a:ln>
        </p:spPr>
        <p:style>
          <a:lnRef idx="0"/>
          <a:fillRef idx="0"/>
          <a:effectRef idx="0"/>
          <a:fontRef idx="minor"/>
        </p:style>
        <p:txBody>
          <a:bodyPr lIns="360" rIns="360" tIns="360" bIns="360" anchor="t">
            <a:normAutofit fontScale="25000" lnSpcReduction="19999"/>
          </a:bodyPr>
          <a:p>
            <a:pPr defTabSz="914400">
              <a:lnSpc>
                <a:spcPct val="100000"/>
              </a:lnSpc>
              <a:tabLst>
                <a:tab algn="l" pos="0"/>
              </a:tabLst>
            </a:pPr>
            <a:r>
              <a:rPr b="0" lang="en-US" sz="1150" strike="noStrike" u="none">
                <a:solidFill>
                  <a:srgbClr val="243b53"/>
                </a:solidFill>
                <a:effectLst/>
                <a:uFillTx/>
                <a:latin typeface="Yu Gothic"/>
                <a:ea typeface="Yu Gothic"/>
              </a:rPr>
              <a:t>3</a:t>
            </a:r>
            <a:r>
              <a:rPr b="0" lang="zh-CN" sz="1150" strike="noStrike" u="none">
                <a:solidFill>
                  <a:srgbClr val="243b53"/>
                </a:solidFill>
                <a:effectLst/>
                <a:uFillTx/>
                <a:latin typeface="Yu Gothic"/>
                <a:ea typeface="Yu Gothic"/>
              </a:rPr>
              <a:t>月</a:t>
            </a:r>
            <a:r>
              <a:rPr b="0" lang="en-US" sz="1150" strike="noStrike" u="none">
                <a:solidFill>
                  <a:srgbClr val="243b53"/>
                </a:solidFill>
                <a:effectLst/>
                <a:uFillTx/>
                <a:latin typeface="Yu Gothic"/>
                <a:ea typeface="Yu Gothic"/>
              </a:rPr>
              <a:t>Gate</a:t>
            </a:r>
            <a:r>
              <a:rPr b="0" lang="zh-CN" sz="1150" strike="noStrike" u="none">
                <a:solidFill>
                  <a:srgbClr val="243b53"/>
                </a:solidFill>
                <a:effectLst/>
                <a:uFillTx/>
                <a:latin typeface="Yu Gothic"/>
                <a:ea typeface="Yu Gothic"/>
              </a:rPr>
              <a:t>通過時のみ</a:t>
            </a:r>
            <a:r>
              <a:rPr b="0" lang="en-US" sz="1150" strike="noStrike" u="none">
                <a:solidFill>
                  <a:srgbClr val="243b53"/>
                </a:solidFill>
                <a:effectLst/>
                <a:uFillTx/>
                <a:latin typeface="Yu Gothic"/>
                <a:ea typeface="Yu Gothic"/>
              </a:rPr>
              <a:t>AI</a:t>
            </a:r>
            <a:r>
              <a:rPr b="0" lang="zh-CN" sz="1150" strike="noStrike" u="none">
                <a:solidFill>
                  <a:srgbClr val="243b53"/>
                </a:solidFill>
                <a:effectLst/>
                <a:uFillTx/>
                <a:latin typeface="Yu Gothic"/>
                <a:ea typeface="Yu Gothic"/>
              </a:rPr>
              <a:t>を本番へ移行し、品質・納期を監視しながら必要要員</a:t>
            </a:r>
            <a:r>
              <a:rPr b="0" lang="en-US" sz="1150" strike="noStrike" u="none">
                <a:solidFill>
                  <a:srgbClr val="243b53"/>
                </a:solidFill>
                <a:effectLst/>
                <a:uFillTx/>
                <a:latin typeface="Yu Gothic"/>
                <a:ea typeface="Yu Gothic"/>
              </a:rPr>
              <a:t>70%</a:t>
            </a:r>
            <a:r>
              <a:rPr b="0" lang="zh-CN" sz="1150" strike="noStrike" u="none">
                <a:solidFill>
                  <a:srgbClr val="243b53"/>
                </a:solidFill>
                <a:effectLst/>
                <a:uFillTx/>
                <a:latin typeface="Yu Gothic"/>
                <a:ea typeface="Yu Gothic"/>
              </a:rPr>
              <a:t>の体制へ反映</a:t>
            </a:r>
            <a:endParaRPr b="0" lang="en-US" sz="1150" strike="noStrike" u="none">
              <a:solidFill>
                <a:srgbClr val="000000"/>
              </a:solidFill>
              <a:effectLst/>
              <a:uFillTx/>
              <a:latin typeface="Arial"/>
            </a:endParaRPr>
          </a:p>
        </p:txBody>
      </p:sp>
      <p:sp>
        <p:nvSpPr>
          <p:cNvPr id="70" name="Shape 38"/>
          <p:cNvSpPr/>
          <p:nvPr/>
        </p:nvSpPr>
        <p:spPr>
          <a:xfrm>
            <a:off x="667440" y="2971800"/>
            <a:ext cx="82080" cy="82080"/>
          </a:xfrm>
          <a:prstGeom prst="ellipse">
            <a:avLst/>
          </a:prstGeom>
          <a:solidFill>
            <a:srgbClr val="1b6fd1"/>
          </a:solidFill>
          <a:ln w="12700">
            <a:solidFill>
              <a:srgbClr val="1b6fd1"/>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71" name="Text 39"/>
          <p:cNvSpPr/>
          <p:nvPr/>
        </p:nvSpPr>
        <p:spPr>
          <a:xfrm>
            <a:off x="813960" y="2880360"/>
            <a:ext cx="432720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20" strike="noStrike" u="none">
                <a:solidFill>
                  <a:srgbClr val="243b53"/>
                </a:solidFill>
                <a:effectLst/>
                <a:uFillTx/>
                <a:latin typeface="Yu Gothic"/>
                <a:ea typeface="Yu Gothic"/>
              </a:rPr>
              <a:t>基準値固定</a:t>
            </a:r>
            <a:endParaRPr b="0" lang="en-US" sz="1120" strike="noStrike" u="none">
              <a:solidFill>
                <a:srgbClr val="000000"/>
              </a:solidFill>
              <a:effectLst/>
              <a:uFillTx/>
              <a:latin typeface="Arial"/>
            </a:endParaRPr>
          </a:p>
        </p:txBody>
      </p:sp>
      <p:sp>
        <p:nvSpPr>
          <p:cNvPr id="72" name="Shape 40"/>
          <p:cNvSpPr/>
          <p:nvPr/>
        </p:nvSpPr>
        <p:spPr>
          <a:xfrm>
            <a:off x="667440" y="3291840"/>
            <a:ext cx="82080" cy="82080"/>
          </a:xfrm>
          <a:prstGeom prst="ellipse">
            <a:avLst/>
          </a:prstGeom>
          <a:solidFill>
            <a:srgbClr val="1b6fd1"/>
          </a:solidFill>
          <a:ln w="12700">
            <a:solidFill>
              <a:srgbClr val="1b6fd1"/>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73" name="Text 41"/>
          <p:cNvSpPr/>
          <p:nvPr/>
        </p:nvSpPr>
        <p:spPr>
          <a:xfrm>
            <a:off x="813960" y="3200400"/>
            <a:ext cx="432720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20" strike="noStrike" u="none">
                <a:solidFill>
                  <a:srgbClr val="243b53"/>
                </a:solidFill>
                <a:effectLst/>
                <a:uFillTx/>
                <a:latin typeface="Yu Gothic"/>
                <a:ea typeface="Yu Gothic"/>
              </a:rPr>
              <a:t>ユースケース選定</a:t>
            </a:r>
            <a:endParaRPr b="0" lang="en-US" sz="1120" strike="noStrike" u="none">
              <a:solidFill>
                <a:srgbClr val="000000"/>
              </a:solidFill>
              <a:effectLst/>
              <a:uFillTx/>
              <a:latin typeface="Arial"/>
            </a:endParaRPr>
          </a:p>
        </p:txBody>
      </p:sp>
      <p:sp>
        <p:nvSpPr>
          <p:cNvPr id="74" name="Shape 42"/>
          <p:cNvSpPr/>
          <p:nvPr/>
        </p:nvSpPr>
        <p:spPr>
          <a:xfrm>
            <a:off x="667440" y="3611880"/>
            <a:ext cx="82080" cy="82080"/>
          </a:xfrm>
          <a:prstGeom prst="ellipse">
            <a:avLst/>
          </a:prstGeom>
          <a:solidFill>
            <a:srgbClr val="1b6fd1"/>
          </a:solidFill>
          <a:ln w="12700">
            <a:solidFill>
              <a:srgbClr val="1b6fd1"/>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75" name="Text 43"/>
          <p:cNvSpPr/>
          <p:nvPr/>
        </p:nvSpPr>
        <p:spPr>
          <a:xfrm>
            <a:off x="813960" y="3520440"/>
            <a:ext cx="432720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20" strike="noStrike" u="none">
                <a:solidFill>
                  <a:srgbClr val="243b53"/>
                </a:solidFill>
                <a:effectLst/>
                <a:uFillTx/>
                <a:latin typeface="Yu Gothic"/>
                <a:ea typeface="Yu Gothic"/>
              </a:rPr>
              <a:t>ハーネス構築</a:t>
            </a:r>
            <a:endParaRPr b="0" lang="en-US" sz="1120" strike="noStrike" u="none">
              <a:solidFill>
                <a:srgbClr val="000000"/>
              </a:solidFill>
              <a:effectLst/>
              <a:uFillTx/>
              <a:latin typeface="Arial"/>
            </a:endParaRPr>
          </a:p>
        </p:txBody>
      </p:sp>
      <p:sp>
        <p:nvSpPr>
          <p:cNvPr id="76" name="Shape 44"/>
          <p:cNvSpPr/>
          <p:nvPr/>
        </p:nvSpPr>
        <p:spPr>
          <a:xfrm>
            <a:off x="667440" y="3931920"/>
            <a:ext cx="82080" cy="82080"/>
          </a:xfrm>
          <a:prstGeom prst="ellipse">
            <a:avLst/>
          </a:prstGeom>
          <a:solidFill>
            <a:srgbClr val="1b6fd1"/>
          </a:solidFill>
          <a:ln w="12700">
            <a:solidFill>
              <a:srgbClr val="1b6fd1"/>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77" name="Text 45"/>
          <p:cNvSpPr/>
          <p:nvPr/>
        </p:nvSpPr>
        <p:spPr>
          <a:xfrm>
            <a:off x="813960" y="3840480"/>
            <a:ext cx="432720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20" strike="noStrike" u="none">
                <a:solidFill>
                  <a:srgbClr val="243b53"/>
                </a:solidFill>
                <a:effectLst/>
                <a:uFillTx/>
                <a:latin typeface="Yu Gothic"/>
                <a:ea typeface="Yu Gothic"/>
              </a:rPr>
              <a:t>人手＋</a:t>
            </a:r>
            <a:r>
              <a:rPr b="0" lang="en-US" sz="1120" strike="noStrike" u="none">
                <a:solidFill>
                  <a:srgbClr val="243b53"/>
                </a:solidFill>
                <a:effectLst/>
                <a:uFillTx/>
                <a:latin typeface="Yu Gothic"/>
                <a:ea typeface="Yu Gothic"/>
              </a:rPr>
              <a:t>AI</a:t>
            </a:r>
            <a:r>
              <a:rPr b="0" lang="zh-CN" sz="1120" strike="noStrike" u="none">
                <a:solidFill>
                  <a:srgbClr val="243b53"/>
                </a:solidFill>
                <a:effectLst/>
                <a:uFillTx/>
                <a:latin typeface="Yu Gothic"/>
                <a:ea typeface="Yu Gothic"/>
              </a:rPr>
              <a:t>並行検証</a:t>
            </a:r>
            <a:endParaRPr b="0" lang="en-US" sz="1120" strike="noStrike" u="none">
              <a:solidFill>
                <a:srgbClr val="000000"/>
              </a:solidFill>
              <a:effectLst/>
              <a:uFillTx/>
              <a:latin typeface="Arial"/>
            </a:endParaRPr>
          </a:p>
        </p:txBody>
      </p:sp>
      <p:sp>
        <p:nvSpPr>
          <p:cNvPr id="78" name="Shape 46"/>
          <p:cNvSpPr/>
          <p:nvPr/>
        </p:nvSpPr>
        <p:spPr>
          <a:xfrm>
            <a:off x="667440" y="4251960"/>
            <a:ext cx="82080" cy="82080"/>
          </a:xfrm>
          <a:prstGeom prst="ellipse">
            <a:avLst/>
          </a:prstGeom>
          <a:solidFill>
            <a:srgbClr val="1b6fd1"/>
          </a:solidFill>
          <a:ln w="12700">
            <a:solidFill>
              <a:srgbClr val="1b6fd1"/>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79" name="Text 47"/>
          <p:cNvSpPr/>
          <p:nvPr/>
        </p:nvSpPr>
        <p:spPr>
          <a:xfrm>
            <a:off x="813960" y="4160520"/>
            <a:ext cx="432720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20" strike="noStrike" u="none">
                <a:solidFill>
                  <a:srgbClr val="243b53"/>
                </a:solidFill>
                <a:effectLst/>
                <a:uFillTx/>
                <a:latin typeface="Yu Gothic"/>
                <a:ea typeface="Yu Gothic"/>
              </a:rPr>
              <a:t>月次効果測定</a:t>
            </a:r>
            <a:endParaRPr b="0" lang="en-US" sz="1120" strike="noStrike" u="none">
              <a:solidFill>
                <a:srgbClr val="000000"/>
              </a:solidFill>
              <a:effectLst/>
              <a:uFillTx/>
              <a:latin typeface="Arial"/>
            </a:endParaRPr>
          </a:p>
        </p:txBody>
      </p:sp>
      <p:sp>
        <p:nvSpPr>
          <p:cNvPr id="80" name="Shape 48"/>
          <p:cNvSpPr/>
          <p:nvPr/>
        </p:nvSpPr>
        <p:spPr>
          <a:xfrm>
            <a:off x="5406840" y="2971800"/>
            <a:ext cx="82080" cy="82080"/>
          </a:xfrm>
          <a:prstGeom prst="ellipse">
            <a:avLst/>
          </a:prstGeom>
          <a:solidFill>
            <a:srgbClr val="0f9d8a"/>
          </a:solidFill>
          <a:ln w="12700">
            <a:solidFill>
              <a:srgbClr val="0f9d8a"/>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81" name="Text 49"/>
          <p:cNvSpPr/>
          <p:nvPr/>
        </p:nvSpPr>
        <p:spPr>
          <a:xfrm>
            <a:off x="5553000" y="2880360"/>
            <a:ext cx="432720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20" strike="noStrike" u="none">
                <a:solidFill>
                  <a:srgbClr val="243b53"/>
                </a:solidFill>
                <a:effectLst/>
                <a:uFillTx/>
                <a:latin typeface="Yu Gothic"/>
                <a:ea typeface="Yu Gothic"/>
              </a:rPr>
              <a:t>並行検証対象を拡張</a:t>
            </a:r>
            <a:endParaRPr b="0" lang="en-US" sz="1120" strike="noStrike" u="none">
              <a:solidFill>
                <a:srgbClr val="000000"/>
              </a:solidFill>
              <a:effectLst/>
              <a:uFillTx/>
              <a:latin typeface="Arial"/>
            </a:endParaRPr>
          </a:p>
        </p:txBody>
      </p:sp>
      <p:sp>
        <p:nvSpPr>
          <p:cNvPr id="82" name="Shape 50"/>
          <p:cNvSpPr/>
          <p:nvPr/>
        </p:nvSpPr>
        <p:spPr>
          <a:xfrm>
            <a:off x="5406840" y="3291840"/>
            <a:ext cx="82080" cy="82080"/>
          </a:xfrm>
          <a:prstGeom prst="ellipse">
            <a:avLst/>
          </a:prstGeom>
          <a:solidFill>
            <a:srgbClr val="0f9d8a"/>
          </a:solidFill>
          <a:ln w="12700">
            <a:solidFill>
              <a:srgbClr val="0f9d8a"/>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83" name="Text 51"/>
          <p:cNvSpPr/>
          <p:nvPr/>
        </p:nvSpPr>
        <p:spPr>
          <a:xfrm>
            <a:off x="5553000" y="3200400"/>
            <a:ext cx="432720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20" strike="noStrike" u="none">
                <a:solidFill>
                  <a:srgbClr val="243b53"/>
                </a:solidFill>
                <a:effectLst/>
                <a:uFillTx/>
                <a:latin typeface="Yu Gothic"/>
                <a:ea typeface="Yu Gothic"/>
              </a:rPr>
              <a:t>標準化・自動化</a:t>
            </a:r>
            <a:endParaRPr b="0" lang="en-US" sz="1120" strike="noStrike" u="none">
              <a:solidFill>
                <a:srgbClr val="000000"/>
              </a:solidFill>
              <a:effectLst/>
              <a:uFillTx/>
              <a:latin typeface="Arial"/>
            </a:endParaRPr>
          </a:p>
        </p:txBody>
      </p:sp>
      <p:sp>
        <p:nvSpPr>
          <p:cNvPr id="84" name="Shape 52"/>
          <p:cNvSpPr/>
          <p:nvPr/>
        </p:nvSpPr>
        <p:spPr>
          <a:xfrm>
            <a:off x="5406840" y="3611880"/>
            <a:ext cx="82080" cy="82080"/>
          </a:xfrm>
          <a:prstGeom prst="ellipse">
            <a:avLst/>
          </a:prstGeom>
          <a:solidFill>
            <a:srgbClr val="0f9d8a"/>
          </a:solidFill>
          <a:ln w="12700">
            <a:solidFill>
              <a:srgbClr val="0f9d8a"/>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85" name="Text 53"/>
          <p:cNvSpPr/>
          <p:nvPr/>
        </p:nvSpPr>
        <p:spPr>
          <a:xfrm>
            <a:off x="5553000" y="3520440"/>
            <a:ext cx="432720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20" strike="noStrike" u="none">
                <a:solidFill>
                  <a:srgbClr val="243b53"/>
                </a:solidFill>
                <a:effectLst/>
                <a:uFillTx/>
                <a:latin typeface="Yu Gothic"/>
                <a:ea typeface="Yu Gothic"/>
              </a:rPr>
              <a:t>回帰試験</a:t>
            </a:r>
            <a:endParaRPr b="0" lang="en-US" sz="1120" strike="noStrike" u="none">
              <a:solidFill>
                <a:srgbClr val="000000"/>
              </a:solidFill>
              <a:effectLst/>
              <a:uFillTx/>
              <a:latin typeface="Arial"/>
            </a:endParaRPr>
          </a:p>
        </p:txBody>
      </p:sp>
      <p:sp>
        <p:nvSpPr>
          <p:cNvPr id="86" name="Shape 54"/>
          <p:cNvSpPr/>
          <p:nvPr/>
        </p:nvSpPr>
        <p:spPr>
          <a:xfrm>
            <a:off x="5406840" y="3931920"/>
            <a:ext cx="82080" cy="82080"/>
          </a:xfrm>
          <a:prstGeom prst="ellipse">
            <a:avLst/>
          </a:prstGeom>
          <a:solidFill>
            <a:srgbClr val="0f9d8a"/>
          </a:solidFill>
          <a:ln w="12700">
            <a:solidFill>
              <a:srgbClr val="0f9d8a"/>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87" name="Text 55"/>
          <p:cNvSpPr/>
          <p:nvPr/>
        </p:nvSpPr>
        <p:spPr>
          <a:xfrm>
            <a:off x="5553000" y="3840480"/>
            <a:ext cx="432720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20" strike="noStrike" u="none">
                <a:solidFill>
                  <a:srgbClr val="243b53"/>
                </a:solidFill>
                <a:effectLst/>
                <a:uFillTx/>
                <a:latin typeface="Yu Gothic"/>
                <a:ea typeface="Yu Gothic"/>
              </a:rPr>
              <a:t>改善サイクル高速化</a:t>
            </a:r>
            <a:endParaRPr b="0" lang="en-US" sz="1120" strike="noStrike" u="none">
              <a:solidFill>
                <a:srgbClr val="000000"/>
              </a:solidFill>
              <a:effectLst/>
              <a:uFillTx/>
              <a:latin typeface="Arial"/>
            </a:endParaRPr>
          </a:p>
        </p:txBody>
      </p:sp>
      <p:sp>
        <p:nvSpPr>
          <p:cNvPr id="88" name="Shape 56"/>
          <p:cNvSpPr/>
          <p:nvPr/>
        </p:nvSpPr>
        <p:spPr>
          <a:xfrm>
            <a:off x="5406840" y="4251960"/>
            <a:ext cx="82080" cy="82080"/>
          </a:xfrm>
          <a:prstGeom prst="ellipse">
            <a:avLst/>
          </a:prstGeom>
          <a:solidFill>
            <a:srgbClr val="0f9d8a"/>
          </a:solidFill>
          <a:ln w="12700">
            <a:solidFill>
              <a:srgbClr val="0f9d8a"/>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89" name="Text 57"/>
          <p:cNvSpPr/>
          <p:nvPr/>
        </p:nvSpPr>
        <p:spPr>
          <a:xfrm>
            <a:off x="5553000" y="4160520"/>
            <a:ext cx="432720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20" strike="noStrike" u="none">
                <a:solidFill>
                  <a:srgbClr val="243b53"/>
                </a:solidFill>
                <a:effectLst/>
                <a:uFillTx/>
                <a:latin typeface="Yu Gothic"/>
                <a:ea typeface="Yu Gothic"/>
              </a:rPr>
              <a:t>体制負荷モデル確定</a:t>
            </a:r>
            <a:endParaRPr b="0" lang="en-US" sz="1120" strike="noStrike" u="none">
              <a:solidFill>
                <a:srgbClr val="000000"/>
              </a:solidFill>
              <a:effectLst/>
              <a:uFillTx/>
              <a:latin typeface="Arial"/>
            </a:endParaRPr>
          </a:p>
        </p:txBody>
      </p:sp>
      <p:sp>
        <p:nvSpPr>
          <p:cNvPr id="90" name="Shape 58"/>
          <p:cNvSpPr/>
          <p:nvPr/>
        </p:nvSpPr>
        <p:spPr>
          <a:xfrm>
            <a:off x="10091160" y="2971800"/>
            <a:ext cx="82080" cy="82080"/>
          </a:xfrm>
          <a:prstGeom prst="ellipse">
            <a:avLst/>
          </a:prstGeom>
          <a:solidFill>
            <a:srgbClr val="f59e0b"/>
          </a:solidFill>
          <a:ln w="12700">
            <a:solidFill>
              <a:srgbClr val="f59e0b"/>
            </a:solidFill>
            <a:round/>
          </a:ln>
        </p:spPr>
        <p:style>
          <a:lnRef idx="0"/>
          <a:fillRef idx="0"/>
          <a:effectRef idx="0"/>
          <a:fontRef idx="minor"/>
        </p:style>
        <p:txBody>
          <a:bodyPr lIns="90000" rIns="90000" tIns="13320" bIns="13320" anchor="t">
            <a:noAutofit/>
          </a:bodyPr>
          <a:p>
            <a:endParaRPr b="0" lang="en-US" sz="1800" strike="noStrike" u="none">
              <a:solidFill>
                <a:srgbClr val="000000"/>
              </a:solidFill>
              <a:effectLst/>
              <a:uFillTx/>
              <a:latin typeface="Arial"/>
            </a:endParaRPr>
          </a:p>
        </p:txBody>
      </p:sp>
      <p:sp>
        <p:nvSpPr>
          <p:cNvPr id="91" name="Text 59"/>
          <p:cNvSpPr/>
          <p:nvPr/>
        </p:nvSpPr>
        <p:spPr>
          <a:xfrm>
            <a:off x="10237320" y="2880360"/>
            <a:ext cx="1256400" cy="31068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0" lang="en-US" sz="1120" strike="noStrike" u="none">
                <a:solidFill>
                  <a:srgbClr val="243b53"/>
                </a:solidFill>
                <a:effectLst/>
                <a:uFillTx/>
                <a:latin typeface="Yu Gothic"/>
                <a:ea typeface="Yu Gothic"/>
              </a:rPr>
              <a:t>Gate</a:t>
            </a:r>
            <a:r>
              <a:rPr b="0" lang="zh-CN" sz="1120" strike="noStrike" u="none">
                <a:solidFill>
                  <a:srgbClr val="243b53"/>
                </a:solidFill>
                <a:effectLst/>
                <a:uFillTx/>
                <a:latin typeface="Yu Gothic"/>
                <a:ea typeface="Yu Gothic"/>
              </a:rPr>
              <a:t>通過後</a:t>
            </a:r>
            <a:r>
              <a:rPr b="0" lang="en-US" sz="1120" strike="noStrike" u="none">
                <a:solidFill>
                  <a:srgbClr val="243b53"/>
                </a:solidFill>
                <a:effectLst/>
                <a:uFillTx/>
                <a:latin typeface="Yu Gothic"/>
                <a:ea typeface="Yu Gothic"/>
              </a:rPr>
              <a:t>70%</a:t>
            </a:r>
            <a:r>
              <a:rPr b="0" lang="zh-CN" sz="1120" strike="noStrike" u="none">
                <a:solidFill>
                  <a:srgbClr val="243b53"/>
                </a:solidFill>
                <a:effectLst/>
                <a:uFillTx/>
                <a:latin typeface="Yu Gothic"/>
                <a:ea typeface="Yu Gothic"/>
              </a:rPr>
              <a:t>体制へ</a:t>
            </a:r>
            <a:endParaRPr b="0" lang="en-US" sz="1120" strike="noStrike" u="none">
              <a:solidFill>
                <a:srgbClr val="000000"/>
              </a:solidFill>
              <a:effectLst/>
              <a:uFillTx/>
              <a:latin typeface="Arial"/>
            </a:endParaRPr>
          </a:p>
        </p:txBody>
      </p:sp>
      <p:sp>
        <p:nvSpPr>
          <p:cNvPr id="92" name="Shape 60"/>
          <p:cNvSpPr/>
          <p:nvPr/>
        </p:nvSpPr>
        <p:spPr>
          <a:xfrm>
            <a:off x="10091160" y="3291840"/>
            <a:ext cx="82080" cy="82080"/>
          </a:xfrm>
          <a:prstGeom prst="ellipse">
            <a:avLst/>
          </a:prstGeom>
          <a:solidFill>
            <a:srgbClr val="f59e0b"/>
          </a:solidFill>
          <a:ln w="12700">
            <a:solidFill>
              <a:srgbClr val="f59e0b"/>
            </a:solidFill>
            <a:round/>
          </a:ln>
        </p:spPr>
        <p:style>
          <a:lnRef idx="0"/>
          <a:fillRef idx="0"/>
          <a:effectRef idx="0"/>
          <a:fontRef idx="minor"/>
        </p:style>
        <p:txBody>
          <a:bodyPr lIns="90000" rIns="90000" tIns="13320" bIns="13320" anchor="t">
            <a:noAutofit/>
          </a:bodyPr>
          <a:p>
            <a:endParaRPr b="0" lang="en-US" sz="1800" strike="noStrike" u="none">
              <a:solidFill>
                <a:srgbClr val="000000"/>
              </a:solidFill>
              <a:effectLst/>
              <a:uFillTx/>
              <a:latin typeface="Arial"/>
            </a:endParaRPr>
          </a:p>
        </p:txBody>
      </p:sp>
      <p:sp>
        <p:nvSpPr>
          <p:cNvPr id="93" name="Text 61"/>
          <p:cNvSpPr/>
          <p:nvPr/>
        </p:nvSpPr>
        <p:spPr>
          <a:xfrm>
            <a:off x="10237320" y="3200400"/>
            <a:ext cx="1256400" cy="31068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0" lang="zh-CN" sz="1120" strike="noStrike" u="none">
                <a:solidFill>
                  <a:srgbClr val="243b53"/>
                </a:solidFill>
                <a:effectLst/>
                <a:uFillTx/>
                <a:latin typeface="Yu Gothic"/>
                <a:ea typeface="Yu Gothic"/>
              </a:rPr>
              <a:t>監視・復帰条件運用</a:t>
            </a:r>
            <a:endParaRPr b="0" lang="en-US" sz="1120" strike="noStrike" u="none">
              <a:solidFill>
                <a:srgbClr val="000000"/>
              </a:solidFill>
              <a:effectLst/>
              <a:uFillTx/>
              <a:latin typeface="Arial"/>
            </a:endParaRPr>
          </a:p>
        </p:txBody>
      </p:sp>
      <p:sp>
        <p:nvSpPr>
          <p:cNvPr id="94" name="Shape 62"/>
          <p:cNvSpPr/>
          <p:nvPr/>
        </p:nvSpPr>
        <p:spPr>
          <a:xfrm>
            <a:off x="3854880" y="4160520"/>
            <a:ext cx="1316520" cy="585000"/>
          </a:xfrm>
          <a:prstGeom prst="roundRect">
            <a:avLst>
              <a:gd name="adj" fmla="val 7813"/>
            </a:avLst>
          </a:prstGeom>
          <a:solidFill>
            <a:srgbClr val="0b1f33"/>
          </a:solidFill>
          <a:ln w="12700">
            <a:solidFill>
              <a:srgbClr val="0b1f33"/>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5" name="Text 63"/>
          <p:cNvSpPr/>
          <p:nvPr/>
        </p:nvSpPr>
        <p:spPr>
          <a:xfrm>
            <a:off x="3886200" y="4242960"/>
            <a:ext cx="125352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trike="noStrike" u="none">
                <a:solidFill>
                  <a:srgbClr val="ffffff"/>
                </a:solidFill>
                <a:effectLst/>
                <a:uFillTx/>
                <a:latin typeface="Yu Gothic"/>
                <a:ea typeface="Yu Gothic"/>
              </a:rPr>
              <a:t>12</a:t>
            </a:r>
            <a:r>
              <a:rPr b="1" lang="zh-CN" sz="1050" strike="noStrike" u="none">
                <a:solidFill>
                  <a:srgbClr val="ffffff"/>
                </a:solidFill>
                <a:effectLst/>
                <a:uFillTx/>
                <a:latin typeface="Yu Gothic"/>
                <a:ea typeface="Yu Gothic"/>
              </a:rPr>
              <a:t>月 </a:t>
            </a:r>
            <a:r>
              <a:rPr b="1" lang="en-US" sz="1050" strike="noStrike" u="none">
                <a:solidFill>
                  <a:srgbClr val="ffffff"/>
                </a:solidFill>
                <a:effectLst/>
                <a:uFillTx/>
                <a:latin typeface="Yu Gothic"/>
                <a:ea typeface="Yu Gothic"/>
              </a:rPr>
              <a:t>Gate 1</a:t>
            </a:r>
            <a:endParaRPr b="0" lang="en-US" sz="1050" strike="noStrike" u="none">
              <a:solidFill>
                <a:srgbClr val="000000"/>
              </a:solidFill>
              <a:effectLst/>
              <a:uFillTx/>
              <a:latin typeface="Arial"/>
            </a:endParaRPr>
          </a:p>
        </p:txBody>
      </p:sp>
      <p:sp>
        <p:nvSpPr>
          <p:cNvPr id="96" name="Text 64"/>
          <p:cNvSpPr/>
          <p:nvPr/>
        </p:nvSpPr>
        <p:spPr>
          <a:xfrm>
            <a:off x="3886200" y="4462200"/>
            <a:ext cx="1253520" cy="145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zh-CN" sz="950" strike="noStrike" u="none">
                <a:solidFill>
                  <a:srgbClr val="ffffff"/>
                </a:solidFill>
                <a:effectLst/>
                <a:uFillTx/>
                <a:latin typeface="Yu Gothic"/>
                <a:ea typeface="Yu Gothic"/>
              </a:rPr>
              <a:t>純効果を確認</a:t>
            </a:r>
            <a:endParaRPr b="0" lang="en-US" sz="950" strike="noStrike" u="none">
              <a:solidFill>
                <a:srgbClr val="000000"/>
              </a:solidFill>
              <a:effectLst/>
              <a:uFillTx/>
              <a:latin typeface="Arial"/>
            </a:endParaRPr>
          </a:p>
        </p:txBody>
      </p:sp>
      <p:sp>
        <p:nvSpPr>
          <p:cNvPr id="97" name="Shape 65"/>
          <p:cNvSpPr/>
          <p:nvPr/>
        </p:nvSpPr>
        <p:spPr>
          <a:xfrm>
            <a:off x="8557560" y="4160520"/>
            <a:ext cx="1316520" cy="585000"/>
          </a:xfrm>
          <a:prstGeom prst="roundRect">
            <a:avLst>
              <a:gd name="adj" fmla="val 7813"/>
            </a:avLst>
          </a:prstGeom>
          <a:solidFill>
            <a:srgbClr val="0b1f33"/>
          </a:solidFill>
          <a:ln w="12700">
            <a:solidFill>
              <a:srgbClr val="0b1f33"/>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8" name="Text 66"/>
          <p:cNvSpPr/>
          <p:nvPr/>
        </p:nvSpPr>
        <p:spPr>
          <a:xfrm>
            <a:off x="8588880" y="4242960"/>
            <a:ext cx="125352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trike="noStrike" u="none">
                <a:solidFill>
                  <a:srgbClr val="ffffff"/>
                </a:solidFill>
                <a:effectLst/>
                <a:uFillTx/>
                <a:latin typeface="Yu Gothic"/>
                <a:ea typeface="Yu Gothic"/>
              </a:rPr>
              <a:t>3</a:t>
            </a:r>
            <a:r>
              <a:rPr b="1" lang="zh-CN" sz="1050" strike="noStrike" u="none">
                <a:solidFill>
                  <a:srgbClr val="ffffff"/>
                </a:solidFill>
                <a:effectLst/>
                <a:uFillTx/>
                <a:latin typeface="Yu Gothic"/>
                <a:ea typeface="Yu Gothic"/>
              </a:rPr>
              <a:t>月 </a:t>
            </a:r>
            <a:r>
              <a:rPr b="1" lang="en-US" sz="1050" strike="noStrike" u="none">
                <a:solidFill>
                  <a:srgbClr val="ffffff"/>
                </a:solidFill>
                <a:effectLst/>
                <a:uFillTx/>
                <a:latin typeface="Yu Gothic"/>
                <a:ea typeface="Yu Gothic"/>
              </a:rPr>
              <a:t>Gate 2</a:t>
            </a:r>
            <a:endParaRPr b="0" lang="en-US" sz="1050" strike="noStrike" u="none">
              <a:solidFill>
                <a:srgbClr val="000000"/>
              </a:solidFill>
              <a:effectLst/>
              <a:uFillTx/>
              <a:latin typeface="Arial"/>
            </a:endParaRPr>
          </a:p>
        </p:txBody>
      </p:sp>
      <p:sp>
        <p:nvSpPr>
          <p:cNvPr id="99" name="Text 67"/>
          <p:cNvSpPr/>
          <p:nvPr/>
        </p:nvSpPr>
        <p:spPr>
          <a:xfrm>
            <a:off x="8588880" y="4462200"/>
            <a:ext cx="1253520" cy="145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zh-CN" sz="950" strike="noStrike" u="none">
                <a:solidFill>
                  <a:srgbClr val="ffffff"/>
                </a:solidFill>
                <a:effectLst/>
                <a:uFillTx/>
                <a:latin typeface="Yu Gothic"/>
                <a:ea typeface="Yu Gothic"/>
              </a:rPr>
              <a:t>工数</a:t>
            </a:r>
            <a:r>
              <a:rPr b="0" lang="en-US" sz="950" strike="noStrike" u="none">
                <a:solidFill>
                  <a:srgbClr val="ffffff"/>
                </a:solidFill>
                <a:effectLst/>
                <a:uFillTx/>
                <a:latin typeface="Yu Gothic"/>
                <a:ea typeface="Yu Gothic"/>
              </a:rPr>
              <a:t>70%</a:t>
            </a:r>
            <a:r>
              <a:rPr b="0" lang="zh-CN" sz="950" strike="noStrike" u="none">
                <a:solidFill>
                  <a:srgbClr val="ffffff"/>
                </a:solidFill>
                <a:effectLst/>
                <a:uFillTx/>
                <a:latin typeface="Yu Gothic"/>
                <a:ea typeface="Yu Gothic"/>
              </a:rPr>
              <a:t>以下</a:t>
            </a:r>
            <a:endParaRPr b="0" lang="en-US" sz="950" strike="noStrike" u="none">
              <a:solidFill>
                <a:srgbClr val="000000"/>
              </a:solidFill>
              <a:effectLst/>
              <a:uFillTx/>
              <a:latin typeface="Arial"/>
            </a:endParaRPr>
          </a:p>
        </p:txBody>
      </p:sp>
      <p:sp>
        <p:nvSpPr>
          <p:cNvPr id="100" name="Shape 68"/>
          <p:cNvSpPr/>
          <p:nvPr/>
        </p:nvSpPr>
        <p:spPr>
          <a:xfrm>
            <a:off x="612720" y="5102280"/>
            <a:ext cx="10926720" cy="914040"/>
          </a:xfrm>
          <a:prstGeom prst="roundRect">
            <a:avLst>
              <a:gd name="adj" fmla="val 6000"/>
            </a:avLst>
          </a:prstGeom>
          <a:solidFill>
            <a:srgbClr val="edf2f7"/>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01" name="Text 69"/>
          <p:cNvSpPr/>
          <p:nvPr/>
        </p:nvSpPr>
        <p:spPr>
          <a:xfrm>
            <a:off x="822960" y="5257800"/>
            <a:ext cx="196560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zh-CN" sz="1200" strike="noStrike" u="none">
                <a:solidFill>
                  <a:srgbClr val="0b1f33"/>
                </a:solidFill>
                <a:effectLst/>
                <a:uFillTx/>
                <a:latin typeface="Yu Gothic"/>
                <a:ea typeface="Yu Gothic"/>
              </a:rPr>
              <a:t>全フェーズ共通の成功条件</a:t>
            </a:r>
            <a:endParaRPr b="0" lang="en-US" sz="1200" strike="noStrike" u="none">
              <a:solidFill>
                <a:srgbClr val="000000"/>
              </a:solidFill>
              <a:effectLst/>
              <a:uFillTx/>
              <a:latin typeface="Arial"/>
            </a:endParaRPr>
          </a:p>
        </p:txBody>
      </p:sp>
      <p:sp>
        <p:nvSpPr>
          <p:cNvPr id="102" name="Shape 70"/>
          <p:cNvSpPr/>
          <p:nvPr/>
        </p:nvSpPr>
        <p:spPr>
          <a:xfrm>
            <a:off x="2880360" y="5203080"/>
            <a:ext cx="987120" cy="328680"/>
          </a:xfrm>
          <a:prstGeom prst="roundRect">
            <a:avLst>
              <a:gd name="adj" fmla="val 19444"/>
            </a:avLst>
          </a:prstGeom>
          <a:solidFill>
            <a:srgbClr val="1b6fd1"/>
          </a:solidFill>
          <a:ln w="12700">
            <a:solidFill>
              <a:srgbClr val="1b6fd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03" name="Text 71"/>
          <p:cNvSpPr/>
          <p:nvPr/>
        </p:nvSpPr>
        <p:spPr>
          <a:xfrm>
            <a:off x="2926080" y="5239440"/>
            <a:ext cx="89568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zh-CN" sz="950" strike="noStrike" u="none">
                <a:solidFill>
                  <a:srgbClr val="ffffff"/>
                </a:solidFill>
                <a:effectLst/>
                <a:uFillTx/>
                <a:latin typeface="Yu Gothic"/>
                <a:ea typeface="Yu Gothic"/>
              </a:rPr>
              <a:t>同じスコープ</a:t>
            </a:r>
            <a:endParaRPr b="0" lang="en-US" sz="950" strike="noStrike" u="none">
              <a:solidFill>
                <a:srgbClr val="000000"/>
              </a:solidFill>
              <a:effectLst/>
              <a:uFillTx/>
              <a:latin typeface="Arial"/>
            </a:endParaRPr>
          </a:p>
        </p:txBody>
      </p:sp>
      <p:sp>
        <p:nvSpPr>
          <p:cNvPr id="104" name="Text 72"/>
          <p:cNvSpPr/>
          <p:nvPr/>
        </p:nvSpPr>
        <p:spPr>
          <a:xfrm>
            <a:off x="2834640" y="5596200"/>
            <a:ext cx="1874160" cy="255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zh-CN" sz="950" strike="noStrike" u="none">
                <a:solidFill>
                  <a:srgbClr val="243b53"/>
                </a:solidFill>
                <a:effectLst/>
                <a:uFillTx/>
                <a:latin typeface="Yu Gothic"/>
                <a:ea typeface="Yu Gothic"/>
              </a:rPr>
              <a:t>成果量を落として改善と見せない</a:t>
            </a:r>
            <a:endParaRPr b="0" lang="en-US" sz="950" strike="noStrike" u="none">
              <a:solidFill>
                <a:srgbClr val="000000"/>
              </a:solidFill>
              <a:effectLst/>
              <a:uFillTx/>
              <a:latin typeface="Arial"/>
            </a:endParaRPr>
          </a:p>
        </p:txBody>
      </p:sp>
      <p:sp>
        <p:nvSpPr>
          <p:cNvPr id="105" name="Shape 73"/>
          <p:cNvSpPr/>
          <p:nvPr/>
        </p:nvSpPr>
        <p:spPr>
          <a:xfrm>
            <a:off x="5001840" y="5203080"/>
            <a:ext cx="987120" cy="328680"/>
          </a:xfrm>
          <a:prstGeom prst="roundRect">
            <a:avLst>
              <a:gd name="adj" fmla="val 19444"/>
            </a:avLst>
          </a:prstGeom>
          <a:solidFill>
            <a:srgbClr val="0f9d8a"/>
          </a:solidFill>
          <a:ln w="12700">
            <a:solidFill>
              <a:srgbClr val="0f9d8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06" name="Text 74"/>
          <p:cNvSpPr/>
          <p:nvPr/>
        </p:nvSpPr>
        <p:spPr>
          <a:xfrm>
            <a:off x="5047560" y="5239440"/>
            <a:ext cx="895680" cy="228240"/>
          </a:xfrm>
          <a:prstGeom prst="rect">
            <a:avLst/>
          </a:prstGeom>
          <a:noFill/>
          <a:ln w="0">
            <a:noFill/>
          </a:ln>
        </p:spPr>
        <p:style>
          <a:lnRef idx="0"/>
          <a:fillRef idx="0"/>
          <a:effectRef idx="0"/>
          <a:fontRef idx="minor"/>
        </p:style>
        <p:txBody>
          <a:bodyPr lIns="0" rIns="0" tIns="0" bIns="0" anchor="ctr">
            <a:normAutofit fontScale="92500" lnSpcReduction="9999"/>
          </a:bodyPr>
          <a:p>
            <a:pPr algn="ctr" defTabSz="914400">
              <a:lnSpc>
                <a:spcPct val="100000"/>
              </a:lnSpc>
              <a:tabLst>
                <a:tab algn="l" pos="0"/>
              </a:tabLst>
            </a:pPr>
            <a:r>
              <a:rPr b="1" lang="en-US" sz="950" strike="noStrike" u="none">
                <a:solidFill>
                  <a:srgbClr val="ffffff"/>
                </a:solidFill>
                <a:effectLst/>
                <a:uFillTx/>
                <a:latin typeface="Yu Gothic"/>
                <a:ea typeface="Yu Gothic"/>
              </a:rPr>
              <a:t>AI</a:t>
            </a:r>
            <a:r>
              <a:rPr b="1" lang="zh-CN" sz="950" strike="noStrike" u="none">
                <a:solidFill>
                  <a:srgbClr val="ffffff"/>
                </a:solidFill>
                <a:effectLst/>
                <a:uFillTx/>
                <a:latin typeface="Yu Gothic"/>
                <a:ea typeface="Yu Gothic"/>
              </a:rPr>
              <a:t>成果物が同等品質</a:t>
            </a:r>
            <a:endParaRPr b="0" lang="en-US" sz="950" strike="noStrike" u="none">
              <a:solidFill>
                <a:srgbClr val="000000"/>
              </a:solidFill>
              <a:effectLst/>
              <a:uFillTx/>
              <a:latin typeface="Arial"/>
            </a:endParaRPr>
          </a:p>
        </p:txBody>
      </p:sp>
      <p:sp>
        <p:nvSpPr>
          <p:cNvPr id="107" name="Text 75"/>
          <p:cNvSpPr/>
          <p:nvPr/>
        </p:nvSpPr>
        <p:spPr>
          <a:xfrm>
            <a:off x="4956120" y="5596200"/>
            <a:ext cx="1874160" cy="255600"/>
          </a:xfrm>
          <a:prstGeom prst="rect">
            <a:avLst/>
          </a:prstGeom>
          <a:noFill/>
          <a:ln w="0">
            <a:noFill/>
          </a:ln>
        </p:spPr>
        <p:style>
          <a:lnRef idx="0"/>
          <a:fillRef idx="0"/>
          <a:effectRef idx="0"/>
          <a:fontRef idx="minor"/>
        </p:style>
        <p:txBody>
          <a:bodyPr lIns="0" rIns="0" tIns="0" bIns="0" anchor="ctr">
            <a:normAutofit fontScale="92500" lnSpcReduction="9999"/>
          </a:bodyPr>
          <a:p>
            <a:pPr algn="ctr" defTabSz="914400">
              <a:lnSpc>
                <a:spcPct val="100000"/>
              </a:lnSpc>
              <a:tabLst>
                <a:tab algn="l" pos="0"/>
              </a:tabLst>
            </a:pPr>
            <a:r>
              <a:rPr b="0" lang="zh-CN" sz="950" strike="noStrike" u="none">
                <a:solidFill>
                  <a:srgbClr val="243b53"/>
                </a:solidFill>
                <a:effectLst/>
                <a:uFillTx/>
                <a:latin typeface="Yu Gothic"/>
                <a:ea typeface="Yu Gothic"/>
              </a:rPr>
              <a:t>人手確定成果物と同じ品質ゲートで評価</a:t>
            </a:r>
            <a:endParaRPr b="0" lang="en-US" sz="950" strike="noStrike" u="none">
              <a:solidFill>
                <a:srgbClr val="000000"/>
              </a:solidFill>
              <a:effectLst/>
              <a:uFillTx/>
              <a:latin typeface="Arial"/>
            </a:endParaRPr>
          </a:p>
        </p:txBody>
      </p:sp>
      <p:sp>
        <p:nvSpPr>
          <p:cNvPr id="108" name="Shape 76"/>
          <p:cNvSpPr/>
          <p:nvPr/>
        </p:nvSpPr>
        <p:spPr>
          <a:xfrm>
            <a:off x="7123320" y="5203080"/>
            <a:ext cx="987120" cy="328680"/>
          </a:xfrm>
          <a:prstGeom prst="roundRect">
            <a:avLst>
              <a:gd name="adj" fmla="val 19444"/>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09" name="Text 77"/>
          <p:cNvSpPr/>
          <p:nvPr/>
        </p:nvSpPr>
        <p:spPr>
          <a:xfrm>
            <a:off x="7169040" y="5239440"/>
            <a:ext cx="89568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zh-CN" sz="950" strike="noStrike" u="none">
                <a:solidFill>
                  <a:srgbClr val="ffffff"/>
                </a:solidFill>
                <a:effectLst/>
                <a:uFillTx/>
                <a:latin typeface="Yu Gothic"/>
                <a:ea typeface="Yu Gothic"/>
              </a:rPr>
              <a:t>正味工数</a:t>
            </a:r>
            <a:endParaRPr b="0" lang="en-US" sz="950" strike="noStrike" u="none">
              <a:solidFill>
                <a:srgbClr val="000000"/>
              </a:solidFill>
              <a:effectLst/>
              <a:uFillTx/>
              <a:latin typeface="Arial"/>
            </a:endParaRPr>
          </a:p>
        </p:txBody>
      </p:sp>
      <p:sp>
        <p:nvSpPr>
          <p:cNvPr id="110" name="Text 78"/>
          <p:cNvSpPr/>
          <p:nvPr/>
        </p:nvSpPr>
        <p:spPr>
          <a:xfrm>
            <a:off x="7077600" y="5596200"/>
            <a:ext cx="1874160" cy="255600"/>
          </a:xfrm>
          <a:prstGeom prst="rect">
            <a:avLst/>
          </a:prstGeom>
          <a:noFill/>
          <a:ln w="0">
            <a:noFill/>
          </a:ln>
        </p:spPr>
        <p:style>
          <a:lnRef idx="0"/>
          <a:fillRef idx="0"/>
          <a:effectRef idx="0"/>
          <a:fontRef idx="minor"/>
        </p:style>
        <p:txBody>
          <a:bodyPr lIns="0" rIns="0" tIns="0" bIns="0" anchor="ctr">
            <a:normAutofit fontScale="92500" lnSpcReduction="9999"/>
          </a:bodyPr>
          <a:p>
            <a:pPr algn="ctr" defTabSz="914400">
              <a:lnSpc>
                <a:spcPct val="100000"/>
              </a:lnSpc>
              <a:tabLst>
                <a:tab algn="l" pos="0"/>
              </a:tabLst>
            </a:pPr>
            <a:r>
              <a:rPr b="0" lang="zh-CN" sz="950" strike="noStrike" u="none">
                <a:solidFill>
                  <a:srgbClr val="243b53"/>
                </a:solidFill>
                <a:effectLst/>
                <a:uFillTx/>
                <a:latin typeface="Yu Gothic"/>
                <a:ea typeface="Yu Gothic"/>
              </a:rPr>
              <a:t>レビュー・手戻り・</a:t>
            </a:r>
            <a:r>
              <a:rPr b="0" lang="en-US" sz="950" strike="noStrike" u="none">
                <a:solidFill>
                  <a:srgbClr val="243b53"/>
                </a:solidFill>
                <a:effectLst/>
                <a:uFillTx/>
                <a:latin typeface="Yu Gothic"/>
                <a:ea typeface="Yu Gothic"/>
              </a:rPr>
              <a:t>AI</a:t>
            </a:r>
            <a:r>
              <a:rPr b="0" lang="zh-CN" sz="950" strike="noStrike" u="none">
                <a:solidFill>
                  <a:srgbClr val="243b53"/>
                </a:solidFill>
                <a:effectLst/>
                <a:uFillTx/>
                <a:latin typeface="Yu Gothic"/>
                <a:ea typeface="Yu Gothic"/>
              </a:rPr>
              <a:t>運用を全て含む</a:t>
            </a:r>
            <a:endParaRPr b="0" lang="en-US" sz="950" strike="noStrike" u="none">
              <a:solidFill>
                <a:srgbClr val="000000"/>
              </a:solidFill>
              <a:effectLst/>
              <a:uFillTx/>
              <a:latin typeface="Arial"/>
            </a:endParaRPr>
          </a:p>
        </p:txBody>
      </p:sp>
      <p:sp>
        <p:nvSpPr>
          <p:cNvPr id="111" name="Shape 79"/>
          <p:cNvSpPr/>
          <p:nvPr/>
        </p:nvSpPr>
        <p:spPr>
          <a:xfrm>
            <a:off x="9244440" y="5203080"/>
            <a:ext cx="987120" cy="328680"/>
          </a:xfrm>
          <a:prstGeom prst="roundRect">
            <a:avLst>
              <a:gd name="adj" fmla="val 19444"/>
            </a:avLst>
          </a:prstGeom>
          <a:solidFill>
            <a:srgbClr val="0b1f33"/>
          </a:solidFill>
          <a:ln w="12700">
            <a:solidFill>
              <a:srgbClr val="0b1f33"/>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12" name="Text 80"/>
          <p:cNvSpPr/>
          <p:nvPr/>
        </p:nvSpPr>
        <p:spPr>
          <a:xfrm>
            <a:off x="9290160" y="5239440"/>
            <a:ext cx="89568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zh-CN" sz="950" strike="noStrike" u="none">
                <a:solidFill>
                  <a:srgbClr val="ffffff"/>
                </a:solidFill>
                <a:effectLst/>
                <a:uFillTx/>
                <a:latin typeface="Yu Gothic"/>
                <a:ea typeface="Yu Gothic"/>
              </a:rPr>
              <a:t>再現性</a:t>
            </a:r>
            <a:endParaRPr b="0" lang="en-US" sz="950" strike="noStrike" u="none">
              <a:solidFill>
                <a:srgbClr val="000000"/>
              </a:solidFill>
              <a:effectLst/>
              <a:uFillTx/>
              <a:latin typeface="Arial"/>
            </a:endParaRPr>
          </a:p>
        </p:txBody>
      </p:sp>
      <p:sp>
        <p:nvSpPr>
          <p:cNvPr id="113" name="Text 81"/>
          <p:cNvSpPr/>
          <p:nvPr/>
        </p:nvSpPr>
        <p:spPr>
          <a:xfrm>
            <a:off x="9198720" y="5596200"/>
            <a:ext cx="1874160" cy="255600"/>
          </a:xfrm>
          <a:prstGeom prst="rect">
            <a:avLst/>
          </a:prstGeom>
          <a:noFill/>
          <a:ln w="0">
            <a:noFill/>
          </a:ln>
        </p:spPr>
        <p:style>
          <a:lnRef idx="0"/>
          <a:fillRef idx="0"/>
          <a:effectRef idx="0"/>
          <a:fontRef idx="minor"/>
        </p:style>
        <p:txBody>
          <a:bodyPr lIns="0" rIns="0" tIns="0" bIns="0" anchor="ctr">
            <a:normAutofit fontScale="92500" lnSpcReduction="9999"/>
          </a:bodyPr>
          <a:p>
            <a:pPr algn="ctr" defTabSz="914400">
              <a:lnSpc>
                <a:spcPct val="100000"/>
              </a:lnSpc>
              <a:tabLst>
                <a:tab algn="l" pos="0"/>
              </a:tabLst>
            </a:pPr>
            <a:r>
              <a:rPr b="0" lang="zh-CN" sz="950" strike="noStrike" u="none">
                <a:solidFill>
                  <a:srgbClr val="243b53"/>
                </a:solidFill>
                <a:effectLst/>
                <a:uFillTx/>
                <a:latin typeface="Yu Gothic"/>
                <a:ea typeface="Yu Gothic"/>
              </a:rPr>
              <a:t>人ではなく仕組みとして反復できる</a:t>
            </a:r>
            <a:endParaRPr b="0" lang="en-US" sz="950" strike="noStrike" u="none">
              <a:solidFill>
                <a:srgbClr val="000000"/>
              </a:solidFill>
              <a:effectLst/>
              <a:uFillTx/>
              <a:latin typeface="Arial"/>
            </a:endParaRPr>
          </a:p>
        </p:txBody>
      </p:sp>
      <p:sp>
        <p:nvSpPr>
          <p:cNvPr id="114" name="PlaceHolder 1"/>
          <p:cNvSpPr>
            <a:spLocks noGrp="1"/>
          </p:cNvSpPr>
          <p:nvPr>
            <p:ph type="sldNum" idx="6"/>
          </p:nvPr>
        </p:nvSpPr>
        <p:spPr>
          <a:xfrm>
            <a:off x="11777400" y="65563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850" strike="noStrike" u="none">
                <a:solidFill>
                  <a:srgbClr val="75808f"/>
                </a:solidFill>
                <a:effectLst/>
                <a:uFillTx/>
                <a:latin typeface="Yu Gothic"/>
                <a:ea typeface="Yu Gothic"/>
              </a:defRPr>
            </a:lvl1pPr>
          </a:lstStyle>
          <a:p>
            <a:pPr indent="0" defTabSz="914400">
              <a:lnSpc>
                <a:spcPct val="100000"/>
              </a:lnSpc>
              <a:buNone/>
            </a:pPr>
            <a:fld id="{1F8318A7-48F9-490F-960C-98D37E1E2E5F}" type="slidenum">
              <a:rPr b="0" lang="en-US" sz="850" strike="noStrike" u="none">
                <a:solidFill>
                  <a:srgbClr val="75808f"/>
                </a:solidFill>
                <a:effectLst/>
                <a:uFillTx/>
                <a:latin typeface="Yu Gothic"/>
                <a:ea typeface="Yu Gothic"/>
              </a:rPr>
              <a:t>&lt;number&gt;</a:t>
            </a:fld>
            <a:endParaRPr b="0" lang="en-US" sz="85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Text 0"/>
          <p:cNvSpPr/>
          <p:nvPr/>
        </p:nvSpPr>
        <p:spPr>
          <a:xfrm>
            <a:off x="530280" y="301680"/>
            <a:ext cx="11109600" cy="420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50" strike="noStrike" u="none">
                <a:solidFill>
                  <a:srgbClr val="0b1f33"/>
                </a:solidFill>
                <a:effectLst/>
                <a:uFillTx/>
                <a:latin typeface="Yu Gothic"/>
                <a:ea typeface="Yu Gothic"/>
              </a:rPr>
              <a:t>KPI</a:t>
            </a:r>
            <a:r>
              <a:rPr b="1" lang="zh-CN" sz="2550" strike="noStrike" u="none">
                <a:solidFill>
                  <a:srgbClr val="0b1f33"/>
                </a:solidFill>
                <a:effectLst/>
                <a:uFillTx/>
                <a:latin typeface="Yu Gothic"/>
                <a:ea typeface="Yu Gothic"/>
              </a:rPr>
              <a:t>設計：コスト・品質・生産性を同じ物差しで測る</a:t>
            </a:r>
            <a:endParaRPr b="0" lang="en-US" sz="2550" strike="noStrike" u="none">
              <a:solidFill>
                <a:srgbClr val="000000"/>
              </a:solidFill>
              <a:effectLst/>
              <a:uFillTx/>
              <a:latin typeface="Arial"/>
            </a:endParaRPr>
          </a:p>
        </p:txBody>
      </p:sp>
      <p:sp>
        <p:nvSpPr>
          <p:cNvPr id="116" name="Text 1"/>
          <p:cNvSpPr/>
          <p:nvPr/>
        </p:nvSpPr>
        <p:spPr>
          <a:xfrm>
            <a:off x="548640" y="749880"/>
            <a:ext cx="1097244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50" strike="noStrike" u="none">
                <a:solidFill>
                  <a:srgbClr val="52606d"/>
                </a:solidFill>
                <a:effectLst/>
                <a:uFillTx/>
                <a:latin typeface="Yu Gothic"/>
                <a:ea typeface="Yu Gothic"/>
              </a:rPr>
              <a:t>人手の本番実績を基準線、</a:t>
            </a:r>
            <a:r>
              <a:rPr b="0" lang="en-US" sz="1150" strike="noStrike" u="none">
                <a:solidFill>
                  <a:srgbClr val="52606d"/>
                </a:solidFill>
                <a:effectLst/>
                <a:uFillTx/>
                <a:latin typeface="Yu Gothic"/>
                <a:ea typeface="Yu Gothic"/>
              </a:rPr>
              <a:t>AI</a:t>
            </a:r>
            <a:r>
              <a:rPr b="0" lang="zh-CN" sz="1150" strike="noStrike" u="none">
                <a:solidFill>
                  <a:srgbClr val="52606d"/>
                </a:solidFill>
                <a:effectLst/>
                <a:uFillTx/>
                <a:latin typeface="Yu Gothic"/>
                <a:ea typeface="Yu Gothic"/>
              </a:rPr>
              <a:t>シャドー実行を比較対象として、同じ物差しで効果を測ります</a:t>
            </a:r>
            <a:endParaRPr b="0" lang="en-US" sz="1150" strike="noStrike" u="none">
              <a:solidFill>
                <a:srgbClr val="000000"/>
              </a:solidFill>
              <a:effectLst/>
              <a:uFillTx/>
              <a:latin typeface="Arial"/>
            </a:endParaRPr>
          </a:p>
        </p:txBody>
      </p:sp>
      <p:sp>
        <p:nvSpPr>
          <p:cNvPr id="117" name="Shape 2"/>
          <p:cNvSpPr/>
          <p:nvPr/>
        </p:nvSpPr>
        <p:spPr>
          <a:xfrm>
            <a:off x="594360" y="1216080"/>
            <a:ext cx="1416960" cy="328680"/>
          </a:xfrm>
          <a:prstGeom prst="roundRect">
            <a:avLst>
              <a:gd name="adj" fmla="val 19444"/>
            </a:avLst>
          </a:prstGeom>
          <a:solidFill>
            <a:srgbClr val="1b6fd1"/>
          </a:solidFill>
          <a:ln w="12700">
            <a:solidFill>
              <a:srgbClr val="1b6fd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18" name="Text 3"/>
          <p:cNvSpPr/>
          <p:nvPr/>
        </p:nvSpPr>
        <p:spPr>
          <a:xfrm>
            <a:off x="640080" y="1252800"/>
            <a:ext cx="132552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ffffff"/>
                </a:solidFill>
                <a:effectLst/>
                <a:uFillTx/>
                <a:latin typeface="Yu Gothic"/>
                <a:ea typeface="Yu Gothic"/>
              </a:rPr>
              <a:t>① 正味工数を測る</a:t>
            </a:r>
            <a:endParaRPr b="0" lang="en-US" sz="1050" strike="noStrike" u="none">
              <a:solidFill>
                <a:srgbClr val="000000"/>
              </a:solidFill>
              <a:effectLst/>
              <a:uFillTx/>
              <a:latin typeface="Arial"/>
            </a:endParaRPr>
          </a:p>
        </p:txBody>
      </p:sp>
      <p:sp>
        <p:nvSpPr>
          <p:cNvPr id="119" name="Shape 4"/>
          <p:cNvSpPr/>
          <p:nvPr/>
        </p:nvSpPr>
        <p:spPr>
          <a:xfrm>
            <a:off x="594360" y="1600200"/>
            <a:ext cx="3382920" cy="1919880"/>
          </a:xfrm>
          <a:prstGeom prst="roundRect">
            <a:avLst>
              <a:gd name="adj" fmla="val 3333"/>
            </a:avLst>
          </a:prstGeom>
          <a:solidFill>
            <a:srgbClr val="f4f8fd"/>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20" name="Shape 5"/>
          <p:cNvSpPr/>
          <p:nvPr/>
        </p:nvSpPr>
        <p:spPr>
          <a:xfrm>
            <a:off x="594360" y="1600200"/>
            <a:ext cx="63720" cy="1919880"/>
          </a:xfrm>
          <a:prstGeom prst="rect">
            <a:avLst/>
          </a:prstGeom>
          <a:solidFill>
            <a:srgbClr val="1b6fd1"/>
          </a:solidFill>
          <a:ln w="12700">
            <a:solidFill>
              <a:srgbClr val="1b6fd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21" name="Text 6"/>
          <p:cNvSpPr/>
          <p:nvPr/>
        </p:nvSpPr>
        <p:spPr>
          <a:xfrm>
            <a:off x="758880" y="1746360"/>
            <a:ext cx="306288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zh-CN" sz="1500" strike="noStrike" u="none">
                <a:solidFill>
                  <a:srgbClr val="0b1f33"/>
                </a:solidFill>
                <a:effectLst/>
                <a:uFillTx/>
                <a:latin typeface="Yu Gothic"/>
                <a:ea typeface="Yu Gothic"/>
              </a:rPr>
              <a:t>正味工数 </a:t>
            </a:r>
            <a:r>
              <a:rPr b="1" lang="en-US" sz="1500" strike="noStrike" u="none">
                <a:solidFill>
                  <a:srgbClr val="0b1f33"/>
                </a:solidFill>
                <a:effectLst/>
                <a:uFillTx/>
                <a:latin typeface="Yu Gothic"/>
                <a:ea typeface="Yu Gothic"/>
              </a:rPr>
              <a:t>= </a:t>
            </a:r>
            <a:r>
              <a:rPr b="1" lang="zh-CN" sz="1500" strike="noStrike" u="none">
                <a:solidFill>
                  <a:srgbClr val="0b1f33"/>
                </a:solidFill>
                <a:effectLst/>
                <a:uFillTx/>
                <a:latin typeface="Yu Gothic"/>
                <a:ea typeface="Yu Gothic"/>
              </a:rPr>
              <a:t>全作業を含める</a:t>
            </a:r>
            <a:endParaRPr b="0" lang="en-US" sz="1500" strike="noStrike" u="none">
              <a:solidFill>
                <a:srgbClr val="000000"/>
              </a:solidFill>
              <a:effectLst/>
              <a:uFillTx/>
              <a:latin typeface="Arial"/>
            </a:endParaRPr>
          </a:p>
        </p:txBody>
      </p:sp>
      <p:sp>
        <p:nvSpPr>
          <p:cNvPr id="122" name="Text 7"/>
          <p:cNvSpPr/>
          <p:nvPr/>
        </p:nvSpPr>
        <p:spPr>
          <a:xfrm>
            <a:off x="758880" y="2139840"/>
            <a:ext cx="3062880" cy="123408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zh-CN" sz="1150" strike="noStrike" u="none">
                <a:solidFill>
                  <a:srgbClr val="243b53"/>
                </a:solidFill>
                <a:effectLst/>
                <a:uFillTx/>
                <a:latin typeface="Yu Gothic"/>
                <a:ea typeface="Yu Gothic"/>
              </a:rPr>
              <a:t>実装・設計だけでなく、レビュー、手戻り、再試験、</a:t>
            </a:r>
            <a:r>
              <a:rPr b="0" lang="en-US" sz="1150" strike="noStrike" u="none">
                <a:solidFill>
                  <a:srgbClr val="243b53"/>
                </a:solidFill>
                <a:effectLst/>
                <a:uFillTx/>
                <a:latin typeface="Yu Gothic"/>
                <a:ea typeface="Yu Gothic"/>
              </a:rPr>
              <a:t>AI</a:t>
            </a:r>
            <a:r>
              <a:rPr b="0" lang="zh-CN" sz="1150" strike="noStrike" u="none">
                <a:solidFill>
                  <a:srgbClr val="243b53"/>
                </a:solidFill>
                <a:effectLst/>
                <a:uFillTx/>
                <a:latin typeface="Yu Gothic"/>
                <a:ea typeface="Yu Gothic"/>
              </a:rPr>
              <a:t>操作、プロンプト修正、証跡整理まで含めて計測します。</a:t>
            </a:r>
            <a:endParaRPr b="0" lang="en-US" sz="1150" strike="noStrike" u="none">
              <a:solidFill>
                <a:srgbClr val="000000"/>
              </a:solidFill>
              <a:effectLst/>
              <a:uFillTx/>
              <a:latin typeface="Arial"/>
            </a:endParaRPr>
          </a:p>
        </p:txBody>
      </p:sp>
      <p:sp>
        <p:nvSpPr>
          <p:cNvPr id="123" name="Text 8"/>
          <p:cNvSpPr/>
          <p:nvPr/>
        </p:nvSpPr>
        <p:spPr>
          <a:xfrm>
            <a:off x="841320" y="2340720"/>
            <a:ext cx="84096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zh-CN" sz="1800" strike="noStrike" u="none">
                <a:solidFill>
                  <a:srgbClr val="0b1f33"/>
                </a:solidFill>
                <a:effectLst/>
                <a:uFillTx/>
                <a:latin typeface="Yu Gothic"/>
                <a:ea typeface="Yu Gothic"/>
              </a:rPr>
              <a:t>正味工数</a:t>
            </a:r>
            <a:endParaRPr b="0" lang="en-US" sz="1800" strike="noStrike" u="none">
              <a:solidFill>
                <a:srgbClr val="000000"/>
              </a:solidFill>
              <a:effectLst/>
              <a:uFillTx/>
              <a:latin typeface="Arial"/>
            </a:endParaRPr>
          </a:p>
        </p:txBody>
      </p:sp>
      <p:sp>
        <p:nvSpPr>
          <p:cNvPr id="124" name="Text 9"/>
          <p:cNvSpPr/>
          <p:nvPr/>
        </p:nvSpPr>
        <p:spPr>
          <a:xfrm>
            <a:off x="1682640" y="2340720"/>
            <a:ext cx="1919880" cy="31968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zh-CN" sz="1250" strike="noStrike" u="none">
                <a:solidFill>
                  <a:srgbClr val="1b6fd1"/>
                </a:solidFill>
                <a:effectLst/>
                <a:uFillTx/>
                <a:latin typeface="Yu Gothic"/>
                <a:ea typeface="Yu Gothic"/>
              </a:rPr>
              <a:t>＝ 実作業 ＋ レビュー ＋ 手戻り ＋ </a:t>
            </a:r>
            <a:r>
              <a:rPr b="1" lang="en-US" sz="1250" strike="noStrike" u="none">
                <a:solidFill>
                  <a:srgbClr val="1b6fd1"/>
                </a:solidFill>
                <a:effectLst/>
                <a:uFillTx/>
                <a:latin typeface="Yu Gothic"/>
                <a:ea typeface="Yu Gothic"/>
              </a:rPr>
              <a:t>AI</a:t>
            </a:r>
            <a:r>
              <a:rPr b="1" lang="zh-CN" sz="1250" strike="noStrike" u="none">
                <a:solidFill>
                  <a:srgbClr val="1b6fd1"/>
                </a:solidFill>
                <a:effectLst/>
                <a:uFillTx/>
                <a:latin typeface="Yu Gothic"/>
                <a:ea typeface="Yu Gothic"/>
              </a:rPr>
              <a:t>運用</a:t>
            </a:r>
            <a:endParaRPr b="0" lang="en-US" sz="1250" strike="noStrike" u="none">
              <a:solidFill>
                <a:srgbClr val="000000"/>
              </a:solidFill>
              <a:effectLst/>
              <a:uFillTx/>
              <a:latin typeface="Arial"/>
            </a:endParaRPr>
          </a:p>
        </p:txBody>
      </p:sp>
      <p:sp>
        <p:nvSpPr>
          <p:cNvPr id="125" name="Shape 10"/>
          <p:cNvSpPr/>
          <p:nvPr/>
        </p:nvSpPr>
        <p:spPr>
          <a:xfrm>
            <a:off x="4178880" y="1216080"/>
            <a:ext cx="1416960" cy="328680"/>
          </a:xfrm>
          <a:prstGeom prst="roundRect">
            <a:avLst>
              <a:gd name="adj" fmla="val 19444"/>
            </a:avLst>
          </a:prstGeom>
          <a:solidFill>
            <a:srgbClr val="0f9d8a"/>
          </a:solidFill>
          <a:ln w="12700">
            <a:solidFill>
              <a:srgbClr val="0f9d8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26" name="Text 11"/>
          <p:cNvSpPr/>
          <p:nvPr/>
        </p:nvSpPr>
        <p:spPr>
          <a:xfrm>
            <a:off x="4224600" y="1252800"/>
            <a:ext cx="132552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ffffff"/>
                </a:solidFill>
                <a:effectLst/>
                <a:uFillTx/>
                <a:latin typeface="Yu Gothic"/>
                <a:ea typeface="Yu Gothic"/>
              </a:rPr>
              <a:t>② 品質で補正する</a:t>
            </a:r>
            <a:endParaRPr b="0" lang="en-US" sz="1050" strike="noStrike" u="none">
              <a:solidFill>
                <a:srgbClr val="000000"/>
              </a:solidFill>
              <a:effectLst/>
              <a:uFillTx/>
              <a:latin typeface="Arial"/>
            </a:endParaRPr>
          </a:p>
        </p:txBody>
      </p:sp>
      <p:sp>
        <p:nvSpPr>
          <p:cNvPr id="127" name="Shape 12"/>
          <p:cNvSpPr/>
          <p:nvPr/>
        </p:nvSpPr>
        <p:spPr>
          <a:xfrm>
            <a:off x="4178880" y="1600200"/>
            <a:ext cx="3428640" cy="1919880"/>
          </a:xfrm>
          <a:prstGeom prst="roundRect">
            <a:avLst>
              <a:gd name="adj" fmla="val 3333"/>
            </a:avLst>
          </a:prstGeom>
          <a:solidFill>
            <a:srgbClr val="f2fbf9"/>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28" name="Shape 13"/>
          <p:cNvSpPr/>
          <p:nvPr/>
        </p:nvSpPr>
        <p:spPr>
          <a:xfrm>
            <a:off x="4178880" y="1600200"/>
            <a:ext cx="63720" cy="1919880"/>
          </a:xfrm>
          <a:prstGeom prst="rect">
            <a:avLst/>
          </a:prstGeom>
          <a:solidFill>
            <a:srgbClr val="0f9d8a"/>
          </a:solidFill>
          <a:ln w="12700">
            <a:solidFill>
              <a:srgbClr val="0f9d8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29" name="Text 14"/>
          <p:cNvSpPr/>
          <p:nvPr/>
        </p:nvSpPr>
        <p:spPr>
          <a:xfrm>
            <a:off x="4343400" y="1746360"/>
            <a:ext cx="3108600" cy="31968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zh-CN" sz="1500" strike="noStrike" u="none">
                <a:solidFill>
                  <a:srgbClr val="0b1f33"/>
                </a:solidFill>
                <a:effectLst/>
                <a:uFillTx/>
                <a:latin typeface="Yu Gothic"/>
                <a:ea typeface="Yu Gothic"/>
              </a:rPr>
              <a:t>人手確定成果物を品質の基準線にする</a:t>
            </a:r>
            <a:endParaRPr b="0" lang="en-US" sz="1500" strike="noStrike" u="none">
              <a:solidFill>
                <a:srgbClr val="000000"/>
              </a:solidFill>
              <a:effectLst/>
              <a:uFillTx/>
              <a:latin typeface="Arial"/>
            </a:endParaRPr>
          </a:p>
        </p:txBody>
      </p:sp>
      <p:sp>
        <p:nvSpPr>
          <p:cNvPr id="130" name="Text 15"/>
          <p:cNvSpPr/>
          <p:nvPr/>
        </p:nvSpPr>
        <p:spPr>
          <a:xfrm>
            <a:off x="4343400" y="2139840"/>
            <a:ext cx="3108600" cy="123408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150" strike="noStrike" u="none">
                <a:solidFill>
                  <a:srgbClr val="243b53"/>
                </a:solidFill>
                <a:effectLst/>
                <a:uFillTx/>
                <a:latin typeface="Yu Gothic"/>
                <a:ea typeface="Yu Gothic"/>
              </a:rPr>
              <a:t>AI</a:t>
            </a:r>
            <a:r>
              <a:rPr b="0" lang="zh-CN" sz="1150" strike="noStrike" u="none">
                <a:solidFill>
                  <a:srgbClr val="243b53"/>
                </a:solidFill>
                <a:effectLst/>
                <a:uFillTx/>
                <a:latin typeface="Yu Gothic"/>
                <a:ea typeface="Yu Gothic"/>
              </a:rPr>
              <a:t>成果物は本番へ反映せず、人手で確定した設計・コード・試験結果と同じ品質ゲートで比較します。影響漏れ、要修正、試験不足を工数改善と切り離さず評価します。</a:t>
            </a:r>
            <a:endParaRPr b="0" lang="en-US" sz="1150" strike="noStrike" u="none">
              <a:solidFill>
                <a:srgbClr val="000000"/>
              </a:solidFill>
              <a:effectLst/>
              <a:uFillTx/>
              <a:latin typeface="Arial"/>
            </a:endParaRPr>
          </a:p>
        </p:txBody>
      </p:sp>
      <p:sp>
        <p:nvSpPr>
          <p:cNvPr id="131" name="Shape 16"/>
          <p:cNvSpPr/>
          <p:nvPr/>
        </p:nvSpPr>
        <p:spPr>
          <a:xfrm>
            <a:off x="4407480" y="2468880"/>
            <a:ext cx="1234080" cy="328680"/>
          </a:xfrm>
          <a:prstGeom prst="roundRect">
            <a:avLst>
              <a:gd name="adj" fmla="val 19444"/>
            </a:avLst>
          </a:prstGeom>
          <a:solidFill>
            <a:srgbClr val="0f9d8a"/>
          </a:solidFill>
          <a:ln w="12700">
            <a:solidFill>
              <a:srgbClr val="0f9d8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32" name="Text 17"/>
          <p:cNvSpPr/>
          <p:nvPr/>
        </p:nvSpPr>
        <p:spPr>
          <a:xfrm>
            <a:off x="4453200" y="2505600"/>
            <a:ext cx="114264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zh-CN" sz="900" strike="noStrike" u="none">
                <a:solidFill>
                  <a:srgbClr val="ffffff"/>
                </a:solidFill>
                <a:effectLst/>
                <a:uFillTx/>
                <a:latin typeface="Yu Gothic"/>
                <a:ea typeface="Yu Gothic"/>
              </a:rPr>
              <a:t>要修正率</a:t>
            </a:r>
            <a:endParaRPr b="0" lang="en-US" sz="900" strike="noStrike" u="none">
              <a:solidFill>
                <a:srgbClr val="000000"/>
              </a:solidFill>
              <a:effectLst/>
              <a:uFillTx/>
              <a:latin typeface="Arial"/>
            </a:endParaRPr>
          </a:p>
        </p:txBody>
      </p:sp>
      <p:sp>
        <p:nvSpPr>
          <p:cNvPr id="133" name="Shape 18"/>
          <p:cNvSpPr/>
          <p:nvPr/>
        </p:nvSpPr>
        <p:spPr>
          <a:xfrm>
            <a:off x="5852160" y="2468880"/>
            <a:ext cx="1234080" cy="328680"/>
          </a:xfrm>
          <a:prstGeom prst="roundRect">
            <a:avLst>
              <a:gd name="adj" fmla="val 19444"/>
            </a:avLst>
          </a:prstGeom>
          <a:solidFill>
            <a:srgbClr val="0f9d8a"/>
          </a:solidFill>
          <a:ln w="12700">
            <a:solidFill>
              <a:srgbClr val="0f9d8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34" name="Text 19"/>
          <p:cNvSpPr/>
          <p:nvPr/>
        </p:nvSpPr>
        <p:spPr>
          <a:xfrm>
            <a:off x="5897880" y="2505600"/>
            <a:ext cx="114264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zh-CN" sz="900" strike="noStrike" u="none">
                <a:solidFill>
                  <a:srgbClr val="ffffff"/>
                </a:solidFill>
                <a:effectLst/>
                <a:uFillTx/>
                <a:latin typeface="Yu Gothic"/>
                <a:ea typeface="Yu Gothic"/>
              </a:rPr>
              <a:t>影響漏れ件数</a:t>
            </a:r>
            <a:endParaRPr b="0" lang="en-US" sz="900" strike="noStrike" u="none">
              <a:solidFill>
                <a:srgbClr val="000000"/>
              </a:solidFill>
              <a:effectLst/>
              <a:uFillTx/>
              <a:latin typeface="Arial"/>
            </a:endParaRPr>
          </a:p>
        </p:txBody>
      </p:sp>
      <p:sp>
        <p:nvSpPr>
          <p:cNvPr id="135" name="Shape 20"/>
          <p:cNvSpPr/>
          <p:nvPr/>
        </p:nvSpPr>
        <p:spPr>
          <a:xfrm>
            <a:off x="4407480" y="2907720"/>
            <a:ext cx="1234080" cy="328680"/>
          </a:xfrm>
          <a:prstGeom prst="roundRect">
            <a:avLst>
              <a:gd name="adj" fmla="val 19444"/>
            </a:avLst>
          </a:prstGeom>
          <a:solidFill>
            <a:srgbClr val="4a7c75"/>
          </a:solidFill>
          <a:ln w="12700">
            <a:solidFill>
              <a:srgbClr val="4a7c7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36" name="Text 21"/>
          <p:cNvSpPr/>
          <p:nvPr/>
        </p:nvSpPr>
        <p:spPr>
          <a:xfrm>
            <a:off x="4453200" y="2944440"/>
            <a:ext cx="114264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zh-CN" sz="900" strike="noStrike" u="none">
                <a:solidFill>
                  <a:srgbClr val="ffffff"/>
                </a:solidFill>
                <a:effectLst/>
                <a:uFillTx/>
                <a:latin typeface="Yu Gothic"/>
                <a:ea typeface="Yu Gothic"/>
              </a:rPr>
              <a:t>重大差分件数</a:t>
            </a:r>
            <a:endParaRPr b="0" lang="en-US" sz="900" strike="noStrike" u="none">
              <a:solidFill>
                <a:srgbClr val="000000"/>
              </a:solidFill>
              <a:effectLst/>
              <a:uFillTx/>
              <a:latin typeface="Arial"/>
            </a:endParaRPr>
          </a:p>
        </p:txBody>
      </p:sp>
      <p:sp>
        <p:nvSpPr>
          <p:cNvPr id="137" name="Shape 22"/>
          <p:cNvSpPr/>
          <p:nvPr/>
        </p:nvSpPr>
        <p:spPr>
          <a:xfrm>
            <a:off x="5852160" y="2907720"/>
            <a:ext cx="1234080" cy="328680"/>
          </a:xfrm>
          <a:prstGeom prst="roundRect">
            <a:avLst>
              <a:gd name="adj" fmla="val 19444"/>
            </a:avLst>
          </a:prstGeom>
          <a:solidFill>
            <a:srgbClr val="4a7c75"/>
          </a:solidFill>
          <a:ln w="12700">
            <a:solidFill>
              <a:srgbClr val="4a7c7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38" name="Text 23"/>
          <p:cNvSpPr/>
          <p:nvPr/>
        </p:nvSpPr>
        <p:spPr>
          <a:xfrm>
            <a:off x="5897880" y="2944440"/>
            <a:ext cx="114264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zh-CN" sz="900" strike="noStrike" u="none">
                <a:solidFill>
                  <a:srgbClr val="ffffff"/>
                </a:solidFill>
                <a:effectLst/>
                <a:uFillTx/>
                <a:latin typeface="Yu Gothic"/>
                <a:ea typeface="Yu Gothic"/>
              </a:rPr>
              <a:t>試験不足・追跡性</a:t>
            </a:r>
            <a:endParaRPr b="0" lang="en-US" sz="900" strike="noStrike" u="none">
              <a:solidFill>
                <a:srgbClr val="000000"/>
              </a:solidFill>
              <a:effectLst/>
              <a:uFillTx/>
              <a:latin typeface="Arial"/>
            </a:endParaRPr>
          </a:p>
        </p:txBody>
      </p:sp>
      <p:sp>
        <p:nvSpPr>
          <p:cNvPr id="139" name="Shape 24"/>
          <p:cNvSpPr/>
          <p:nvPr/>
        </p:nvSpPr>
        <p:spPr>
          <a:xfrm>
            <a:off x="7827120" y="1216080"/>
            <a:ext cx="2057040" cy="328680"/>
          </a:xfrm>
          <a:prstGeom prst="roundRect">
            <a:avLst>
              <a:gd name="adj" fmla="val 19444"/>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40" name="Text 25"/>
          <p:cNvSpPr/>
          <p:nvPr/>
        </p:nvSpPr>
        <p:spPr>
          <a:xfrm>
            <a:off x="7872840" y="1252800"/>
            <a:ext cx="19656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ffffff"/>
                </a:solidFill>
                <a:effectLst/>
                <a:uFillTx/>
                <a:latin typeface="Yu Gothic"/>
                <a:ea typeface="Yu Gothic"/>
              </a:rPr>
              <a:t>③ 4</a:t>
            </a:r>
            <a:r>
              <a:rPr b="1" lang="zh-CN" sz="1050" strike="noStrike" u="none">
                <a:solidFill>
                  <a:srgbClr val="ffffff"/>
                </a:solidFill>
                <a:effectLst/>
                <a:uFillTx/>
                <a:latin typeface="Yu Gothic"/>
                <a:ea typeface="Yu Gothic"/>
              </a:rPr>
              <a:t>月の体制目標と整合</a:t>
            </a:r>
            <a:endParaRPr b="0" lang="en-US" sz="1050" strike="noStrike" u="none">
              <a:solidFill>
                <a:srgbClr val="000000"/>
              </a:solidFill>
              <a:effectLst/>
              <a:uFillTx/>
              <a:latin typeface="Arial"/>
            </a:endParaRPr>
          </a:p>
        </p:txBody>
      </p:sp>
      <p:sp>
        <p:nvSpPr>
          <p:cNvPr id="141" name="Shape 26"/>
          <p:cNvSpPr/>
          <p:nvPr/>
        </p:nvSpPr>
        <p:spPr>
          <a:xfrm>
            <a:off x="7827120" y="1600200"/>
            <a:ext cx="3748680" cy="1919880"/>
          </a:xfrm>
          <a:prstGeom prst="roundRect">
            <a:avLst>
              <a:gd name="adj" fmla="val 3333"/>
            </a:avLst>
          </a:prstGeom>
          <a:solidFill>
            <a:srgbClr val="fff9ed"/>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42" name="Shape 27"/>
          <p:cNvSpPr/>
          <p:nvPr/>
        </p:nvSpPr>
        <p:spPr>
          <a:xfrm>
            <a:off x="7827120" y="1600200"/>
            <a:ext cx="63720" cy="191988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43" name="Text 28"/>
          <p:cNvSpPr/>
          <p:nvPr/>
        </p:nvSpPr>
        <p:spPr>
          <a:xfrm>
            <a:off x="7992000" y="1746360"/>
            <a:ext cx="342864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zh-CN" sz="1500" strike="noStrike" u="none">
                <a:solidFill>
                  <a:srgbClr val="0b1f33"/>
                </a:solidFill>
                <a:effectLst/>
                <a:uFillTx/>
                <a:latin typeface="Yu Gothic"/>
                <a:ea typeface="Yu Gothic"/>
              </a:rPr>
              <a:t>本計画の「</a:t>
            </a:r>
            <a:r>
              <a:rPr b="1" lang="en-US" sz="1500" strike="noStrike" u="none">
                <a:solidFill>
                  <a:srgbClr val="0b1f33"/>
                </a:solidFill>
                <a:effectLst/>
                <a:uFillTx/>
                <a:latin typeface="Yu Gothic"/>
                <a:ea typeface="Yu Gothic"/>
              </a:rPr>
              <a:t>30%</a:t>
            </a:r>
            <a:r>
              <a:rPr b="1" lang="zh-CN" sz="1500" strike="noStrike" u="none">
                <a:solidFill>
                  <a:srgbClr val="0b1f33"/>
                </a:solidFill>
                <a:effectLst/>
                <a:uFillTx/>
                <a:latin typeface="Yu Gothic"/>
                <a:ea typeface="Yu Gothic"/>
              </a:rPr>
              <a:t>改善」の定義</a:t>
            </a:r>
            <a:endParaRPr b="0" lang="en-US" sz="1500" strike="noStrike" u="none">
              <a:solidFill>
                <a:srgbClr val="000000"/>
              </a:solidFill>
              <a:effectLst/>
              <a:uFillTx/>
              <a:latin typeface="Arial"/>
            </a:endParaRPr>
          </a:p>
        </p:txBody>
      </p:sp>
      <p:sp>
        <p:nvSpPr>
          <p:cNvPr id="144" name="Text 29"/>
          <p:cNvSpPr/>
          <p:nvPr/>
        </p:nvSpPr>
        <p:spPr>
          <a:xfrm>
            <a:off x="7992000" y="2139840"/>
            <a:ext cx="3428640" cy="123408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zh-CN" sz="1150" strike="noStrike" u="none">
                <a:solidFill>
                  <a:srgbClr val="243b53"/>
                </a:solidFill>
                <a:effectLst/>
                <a:uFillTx/>
                <a:latin typeface="Yu Gothic"/>
                <a:ea typeface="Yu Gothic"/>
              </a:rPr>
              <a:t>同一成果量を</a:t>
            </a:r>
            <a:r>
              <a:rPr b="0" lang="en-US" sz="1150" strike="noStrike" u="none">
                <a:solidFill>
                  <a:srgbClr val="243b53"/>
                </a:solidFill>
                <a:effectLst/>
                <a:uFillTx/>
                <a:latin typeface="Yu Gothic"/>
                <a:ea typeface="Yu Gothic"/>
              </a:rPr>
              <a:t>100</a:t>
            </a:r>
            <a:r>
              <a:rPr b="0" lang="zh-CN" sz="1150" strike="noStrike" u="none">
                <a:solidFill>
                  <a:srgbClr val="243b53"/>
                </a:solidFill>
                <a:effectLst/>
                <a:uFillTx/>
                <a:latin typeface="Yu Gothic"/>
                <a:ea typeface="Yu Gothic"/>
              </a:rPr>
              <a:t>時間→</a:t>
            </a:r>
            <a:r>
              <a:rPr b="0" lang="en-US" sz="1150" strike="noStrike" u="none">
                <a:solidFill>
                  <a:srgbClr val="243b53"/>
                </a:solidFill>
                <a:effectLst/>
                <a:uFillTx/>
                <a:latin typeface="Yu Gothic"/>
                <a:ea typeface="Yu Gothic"/>
              </a:rPr>
              <a:t>70</a:t>
            </a:r>
            <a:r>
              <a:rPr b="0" lang="zh-CN" sz="1150" strike="noStrike" u="none">
                <a:solidFill>
                  <a:srgbClr val="243b53"/>
                </a:solidFill>
                <a:effectLst/>
                <a:uFillTx/>
                <a:latin typeface="Yu Gothic"/>
                <a:ea typeface="Yu Gothic"/>
              </a:rPr>
              <a:t>時間で完了する「必要工数</a:t>
            </a:r>
            <a:r>
              <a:rPr b="0" lang="en-US" sz="1150" strike="noStrike" u="none">
                <a:solidFill>
                  <a:srgbClr val="243b53"/>
                </a:solidFill>
                <a:effectLst/>
                <a:uFillTx/>
                <a:latin typeface="Yu Gothic"/>
                <a:ea typeface="Yu Gothic"/>
              </a:rPr>
              <a:t>30%</a:t>
            </a:r>
            <a:r>
              <a:rPr b="0" lang="zh-CN" sz="1150" strike="noStrike" u="none">
                <a:solidFill>
                  <a:srgbClr val="243b53"/>
                </a:solidFill>
                <a:effectLst/>
                <a:uFillTx/>
                <a:latin typeface="Yu Gothic"/>
                <a:ea typeface="Yu Gothic"/>
              </a:rPr>
              <a:t>削減」と定義します。これで</a:t>
            </a:r>
            <a:r>
              <a:rPr b="0" lang="en-US" sz="1150" strike="noStrike" u="none">
                <a:solidFill>
                  <a:srgbClr val="243b53"/>
                </a:solidFill>
                <a:effectLst/>
                <a:uFillTx/>
                <a:latin typeface="Yu Gothic"/>
                <a:ea typeface="Yu Gothic"/>
              </a:rPr>
              <a:t>4</a:t>
            </a:r>
            <a:r>
              <a:rPr b="0" lang="zh-CN" sz="1150" strike="noStrike" u="none">
                <a:solidFill>
                  <a:srgbClr val="243b53"/>
                </a:solidFill>
                <a:effectLst/>
                <a:uFillTx/>
                <a:latin typeface="Yu Gothic"/>
                <a:ea typeface="Yu Gothic"/>
              </a:rPr>
              <a:t>月の必要要員</a:t>
            </a:r>
            <a:r>
              <a:rPr b="0" lang="en-US" sz="1150" strike="noStrike" u="none">
                <a:solidFill>
                  <a:srgbClr val="243b53"/>
                </a:solidFill>
                <a:effectLst/>
                <a:uFillTx/>
                <a:latin typeface="Yu Gothic"/>
                <a:ea typeface="Yu Gothic"/>
              </a:rPr>
              <a:t>30%</a:t>
            </a:r>
            <a:r>
              <a:rPr b="0" lang="zh-CN" sz="1150" strike="noStrike" u="none">
                <a:solidFill>
                  <a:srgbClr val="243b53"/>
                </a:solidFill>
                <a:effectLst/>
                <a:uFillTx/>
                <a:latin typeface="Yu Gothic"/>
                <a:ea typeface="Yu Gothic"/>
              </a:rPr>
              <a:t>削減と数理的に一致します。</a:t>
            </a:r>
            <a:endParaRPr b="0" lang="en-US" sz="1150" strike="noStrike" u="none">
              <a:solidFill>
                <a:srgbClr val="000000"/>
              </a:solidFill>
              <a:effectLst/>
              <a:uFillTx/>
              <a:latin typeface="Arial"/>
            </a:endParaRPr>
          </a:p>
        </p:txBody>
      </p:sp>
      <p:sp>
        <p:nvSpPr>
          <p:cNvPr id="145" name="Shape 30"/>
          <p:cNvSpPr/>
          <p:nvPr/>
        </p:nvSpPr>
        <p:spPr>
          <a:xfrm>
            <a:off x="8083440" y="2395800"/>
            <a:ext cx="1325520" cy="868320"/>
          </a:xfrm>
          <a:prstGeom prst="roundRect">
            <a:avLst>
              <a:gd name="adj" fmla="val 7368"/>
            </a:avLst>
          </a:prstGeom>
          <a:solidFill>
            <a:srgbClr val="eef3f8"/>
          </a:solidFill>
          <a:ln w="12700">
            <a:solidFill>
              <a:srgbClr val="eef3f8"/>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46" name="Text 31"/>
          <p:cNvSpPr/>
          <p:nvPr/>
        </p:nvSpPr>
        <p:spPr>
          <a:xfrm>
            <a:off x="8156520" y="2523600"/>
            <a:ext cx="1179360" cy="383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2300" strike="noStrike" u="none">
                <a:solidFill>
                  <a:srgbClr val="52606d"/>
                </a:solidFill>
                <a:effectLst/>
                <a:uFillTx/>
                <a:latin typeface="Yu Gothic"/>
                <a:ea typeface="Yu Gothic"/>
              </a:rPr>
              <a:t>100h</a:t>
            </a:r>
            <a:endParaRPr b="0" lang="en-US" sz="2300" strike="noStrike" u="none">
              <a:solidFill>
                <a:srgbClr val="000000"/>
              </a:solidFill>
              <a:effectLst/>
              <a:uFillTx/>
              <a:latin typeface="Arial"/>
            </a:endParaRPr>
          </a:p>
        </p:txBody>
      </p:sp>
      <p:sp>
        <p:nvSpPr>
          <p:cNvPr id="147" name="Text 32"/>
          <p:cNvSpPr/>
          <p:nvPr/>
        </p:nvSpPr>
        <p:spPr>
          <a:xfrm>
            <a:off x="8183880" y="2962800"/>
            <a:ext cx="112428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zh-CN" sz="1050" strike="noStrike" u="none">
                <a:solidFill>
                  <a:srgbClr val="243b53"/>
                </a:solidFill>
                <a:effectLst/>
                <a:uFillTx/>
                <a:latin typeface="Yu Gothic"/>
                <a:ea typeface="Yu Gothic"/>
              </a:rPr>
              <a:t>基準</a:t>
            </a:r>
            <a:endParaRPr b="0" lang="en-US" sz="1050" strike="noStrike" u="none">
              <a:solidFill>
                <a:srgbClr val="000000"/>
              </a:solidFill>
              <a:effectLst/>
              <a:uFillTx/>
              <a:latin typeface="Arial"/>
            </a:endParaRPr>
          </a:p>
        </p:txBody>
      </p:sp>
      <p:sp>
        <p:nvSpPr>
          <p:cNvPr id="148" name="Shape 33"/>
          <p:cNvSpPr/>
          <p:nvPr/>
        </p:nvSpPr>
        <p:spPr>
          <a:xfrm>
            <a:off x="9473040" y="2834640"/>
            <a:ext cx="429840" cy="360"/>
          </a:xfrm>
          <a:prstGeom prst="line">
            <a:avLst/>
          </a:prstGeom>
          <a:ln w="26670">
            <a:solidFill>
              <a:srgbClr val="f59e0b"/>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49" name="Shape 34"/>
          <p:cNvSpPr/>
          <p:nvPr/>
        </p:nvSpPr>
        <p:spPr>
          <a:xfrm>
            <a:off x="10012680" y="2395800"/>
            <a:ext cx="1325520" cy="868320"/>
          </a:xfrm>
          <a:prstGeom prst="roundRect">
            <a:avLst>
              <a:gd name="adj" fmla="val 7368"/>
            </a:avLst>
          </a:prstGeom>
          <a:solidFill>
            <a:srgbClr val="fff4dd"/>
          </a:solidFill>
          <a:ln w="12700">
            <a:solidFill>
              <a:srgbClr val="fff4dd"/>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0" name="Text 35"/>
          <p:cNvSpPr/>
          <p:nvPr/>
        </p:nvSpPr>
        <p:spPr>
          <a:xfrm>
            <a:off x="10085760" y="2523600"/>
            <a:ext cx="1179360" cy="383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2300" strike="noStrike" u="none">
                <a:solidFill>
                  <a:srgbClr val="f59e0b"/>
                </a:solidFill>
                <a:effectLst/>
                <a:uFillTx/>
                <a:latin typeface="Yu Gothic"/>
                <a:ea typeface="Yu Gothic"/>
              </a:rPr>
              <a:t>70h</a:t>
            </a:r>
            <a:endParaRPr b="0" lang="en-US" sz="2300" strike="noStrike" u="none">
              <a:solidFill>
                <a:srgbClr val="000000"/>
              </a:solidFill>
              <a:effectLst/>
              <a:uFillTx/>
              <a:latin typeface="Arial"/>
            </a:endParaRPr>
          </a:p>
        </p:txBody>
      </p:sp>
      <p:sp>
        <p:nvSpPr>
          <p:cNvPr id="151" name="Text 36"/>
          <p:cNvSpPr/>
          <p:nvPr/>
        </p:nvSpPr>
        <p:spPr>
          <a:xfrm>
            <a:off x="10113120" y="2962800"/>
            <a:ext cx="112428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zh-CN" sz="1050" strike="noStrike" u="none">
                <a:solidFill>
                  <a:srgbClr val="243b53"/>
                </a:solidFill>
                <a:effectLst/>
                <a:uFillTx/>
                <a:latin typeface="Yu Gothic"/>
                <a:ea typeface="Yu Gothic"/>
              </a:rPr>
              <a:t>目標</a:t>
            </a:r>
            <a:endParaRPr b="0" lang="en-US" sz="1050" strike="noStrike" u="none">
              <a:solidFill>
                <a:srgbClr val="000000"/>
              </a:solidFill>
              <a:effectLst/>
              <a:uFillTx/>
              <a:latin typeface="Arial"/>
            </a:endParaRPr>
          </a:p>
        </p:txBody>
      </p:sp>
      <p:sp>
        <p:nvSpPr>
          <p:cNvPr id="152" name="Text 37"/>
          <p:cNvSpPr/>
          <p:nvPr/>
        </p:nvSpPr>
        <p:spPr>
          <a:xfrm>
            <a:off x="612720" y="3886200"/>
            <a:ext cx="374868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0b1f33"/>
                </a:solidFill>
                <a:effectLst/>
                <a:uFillTx/>
                <a:latin typeface="Yu Gothic"/>
                <a:ea typeface="Yu Gothic"/>
              </a:rPr>
              <a:t>12</a:t>
            </a:r>
            <a:r>
              <a:rPr b="1" lang="zh-CN" sz="1700" strike="noStrike" u="none">
                <a:solidFill>
                  <a:srgbClr val="0b1f33"/>
                </a:solidFill>
                <a:effectLst/>
                <a:uFillTx/>
                <a:latin typeface="Yu Gothic"/>
                <a:ea typeface="Yu Gothic"/>
              </a:rPr>
              <a:t>月までに「見える化」する</a:t>
            </a:r>
            <a:r>
              <a:rPr b="1" lang="en-US" sz="1700" strike="noStrike" u="none">
                <a:solidFill>
                  <a:srgbClr val="0b1f33"/>
                </a:solidFill>
                <a:effectLst/>
                <a:uFillTx/>
                <a:latin typeface="Yu Gothic"/>
                <a:ea typeface="Yu Gothic"/>
              </a:rPr>
              <a:t>KPI</a:t>
            </a:r>
            <a:endParaRPr b="0" lang="en-US" sz="1700" strike="noStrike" u="none">
              <a:solidFill>
                <a:srgbClr val="000000"/>
              </a:solidFill>
              <a:effectLst/>
              <a:uFillTx/>
              <a:latin typeface="Arial"/>
            </a:endParaRPr>
          </a:p>
        </p:txBody>
      </p:sp>
      <p:sp>
        <p:nvSpPr>
          <p:cNvPr id="153" name="Shape 38"/>
          <p:cNvSpPr/>
          <p:nvPr/>
        </p:nvSpPr>
        <p:spPr>
          <a:xfrm>
            <a:off x="621720" y="4279320"/>
            <a:ext cx="3062880" cy="1590840"/>
          </a:xfrm>
          <a:prstGeom prst="roundRect">
            <a:avLst>
              <a:gd name="adj" fmla="val 4023"/>
            </a:avLst>
          </a:prstGeom>
          <a:solidFill>
            <a:srgbClr val="ffffff"/>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4" name="Shape 39"/>
          <p:cNvSpPr/>
          <p:nvPr/>
        </p:nvSpPr>
        <p:spPr>
          <a:xfrm>
            <a:off x="621720" y="4279320"/>
            <a:ext cx="63720" cy="1590840"/>
          </a:xfrm>
          <a:prstGeom prst="rect">
            <a:avLst/>
          </a:prstGeom>
          <a:solidFill>
            <a:srgbClr val="1b6fd1"/>
          </a:solidFill>
          <a:ln w="12700">
            <a:solidFill>
              <a:srgbClr val="1b6fd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55" name="Text 40"/>
          <p:cNvSpPr/>
          <p:nvPr/>
        </p:nvSpPr>
        <p:spPr>
          <a:xfrm>
            <a:off x="786240" y="4425840"/>
            <a:ext cx="274284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zh-CN" sz="1500" strike="noStrike" u="none">
                <a:solidFill>
                  <a:srgbClr val="0b1f33"/>
                </a:solidFill>
                <a:effectLst/>
                <a:uFillTx/>
                <a:latin typeface="Yu Gothic"/>
                <a:ea typeface="Yu Gothic"/>
              </a:rPr>
              <a:t>コスト</a:t>
            </a:r>
            <a:endParaRPr b="0" lang="en-US" sz="1500" strike="noStrike" u="none">
              <a:solidFill>
                <a:srgbClr val="000000"/>
              </a:solidFill>
              <a:effectLst/>
              <a:uFillTx/>
              <a:latin typeface="Arial"/>
            </a:endParaRPr>
          </a:p>
        </p:txBody>
      </p:sp>
      <p:sp>
        <p:nvSpPr>
          <p:cNvPr id="156" name="Shape 41"/>
          <p:cNvSpPr/>
          <p:nvPr/>
        </p:nvSpPr>
        <p:spPr>
          <a:xfrm>
            <a:off x="786240" y="4873680"/>
            <a:ext cx="82080" cy="82080"/>
          </a:xfrm>
          <a:prstGeom prst="ellipse">
            <a:avLst/>
          </a:prstGeom>
          <a:solidFill>
            <a:srgbClr val="1b6fd1"/>
          </a:solidFill>
          <a:ln w="12700">
            <a:solidFill>
              <a:srgbClr val="1b6fd1"/>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157" name="Text 42"/>
          <p:cNvSpPr/>
          <p:nvPr/>
        </p:nvSpPr>
        <p:spPr>
          <a:xfrm>
            <a:off x="932760" y="4782240"/>
            <a:ext cx="255096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243b53"/>
                </a:solidFill>
                <a:effectLst/>
                <a:uFillTx/>
                <a:latin typeface="Yu Gothic"/>
                <a:ea typeface="Yu Gothic"/>
              </a:rPr>
              <a:t>1</a:t>
            </a:r>
            <a:r>
              <a:rPr b="0" lang="zh-CN" sz="1050" strike="noStrike" u="none">
                <a:solidFill>
                  <a:srgbClr val="243b53"/>
                </a:solidFill>
                <a:effectLst/>
                <a:uFillTx/>
                <a:latin typeface="Yu Gothic"/>
                <a:ea typeface="Yu Gothic"/>
              </a:rPr>
              <a:t>件あたり正味工数</a:t>
            </a:r>
            <a:endParaRPr b="0" lang="en-US" sz="1050" strike="noStrike" u="none">
              <a:solidFill>
                <a:srgbClr val="000000"/>
              </a:solidFill>
              <a:effectLst/>
              <a:uFillTx/>
              <a:latin typeface="Arial"/>
            </a:endParaRPr>
          </a:p>
        </p:txBody>
      </p:sp>
      <p:sp>
        <p:nvSpPr>
          <p:cNvPr id="158" name="Shape 43"/>
          <p:cNvSpPr/>
          <p:nvPr/>
        </p:nvSpPr>
        <p:spPr>
          <a:xfrm>
            <a:off x="786240" y="5129640"/>
            <a:ext cx="82080" cy="82080"/>
          </a:xfrm>
          <a:prstGeom prst="ellipse">
            <a:avLst/>
          </a:prstGeom>
          <a:solidFill>
            <a:srgbClr val="1b6fd1"/>
          </a:solidFill>
          <a:ln w="12700">
            <a:solidFill>
              <a:srgbClr val="1b6fd1"/>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159" name="Text 44"/>
          <p:cNvSpPr/>
          <p:nvPr/>
        </p:nvSpPr>
        <p:spPr>
          <a:xfrm>
            <a:off x="932760" y="5038200"/>
            <a:ext cx="255096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050" strike="noStrike" u="none">
                <a:solidFill>
                  <a:srgbClr val="243b53"/>
                </a:solidFill>
                <a:effectLst/>
                <a:uFillTx/>
                <a:latin typeface="Yu Gothic"/>
                <a:ea typeface="Yu Gothic"/>
              </a:rPr>
              <a:t>レビュー工数</a:t>
            </a:r>
            <a:endParaRPr b="0" lang="en-US" sz="1050" strike="noStrike" u="none">
              <a:solidFill>
                <a:srgbClr val="000000"/>
              </a:solidFill>
              <a:effectLst/>
              <a:uFillTx/>
              <a:latin typeface="Arial"/>
            </a:endParaRPr>
          </a:p>
        </p:txBody>
      </p:sp>
      <p:sp>
        <p:nvSpPr>
          <p:cNvPr id="160" name="Shape 45"/>
          <p:cNvSpPr/>
          <p:nvPr/>
        </p:nvSpPr>
        <p:spPr>
          <a:xfrm>
            <a:off x="786240" y="5385960"/>
            <a:ext cx="82080" cy="82080"/>
          </a:xfrm>
          <a:prstGeom prst="ellipse">
            <a:avLst/>
          </a:prstGeom>
          <a:solidFill>
            <a:srgbClr val="1b6fd1"/>
          </a:solidFill>
          <a:ln w="12700">
            <a:solidFill>
              <a:srgbClr val="1b6fd1"/>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161" name="Text 46"/>
          <p:cNvSpPr/>
          <p:nvPr/>
        </p:nvSpPr>
        <p:spPr>
          <a:xfrm>
            <a:off x="932760" y="5294520"/>
            <a:ext cx="255096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050" strike="noStrike" u="none">
                <a:solidFill>
                  <a:srgbClr val="243b53"/>
                </a:solidFill>
                <a:effectLst/>
                <a:uFillTx/>
                <a:latin typeface="Yu Gothic"/>
                <a:ea typeface="Yu Gothic"/>
              </a:rPr>
              <a:t>手戻り工数</a:t>
            </a:r>
            <a:endParaRPr b="0" lang="en-US" sz="1050" strike="noStrike" u="none">
              <a:solidFill>
                <a:srgbClr val="000000"/>
              </a:solidFill>
              <a:effectLst/>
              <a:uFillTx/>
              <a:latin typeface="Arial"/>
            </a:endParaRPr>
          </a:p>
        </p:txBody>
      </p:sp>
      <p:sp>
        <p:nvSpPr>
          <p:cNvPr id="162" name="Shape 47"/>
          <p:cNvSpPr/>
          <p:nvPr/>
        </p:nvSpPr>
        <p:spPr>
          <a:xfrm>
            <a:off x="786240" y="5641920"/>
            <a:ext cx="82080" cy="82080"/>
          </a:xfrm>
          <a:prstGeom prst="ellipse">
            <a:avLst/>
          </a:prstGeom>
          <a:solidFill>
            <a:srgbClr val="1b6fd1"/>
          </a:solidFill>
          <a:ln w="12700">
            <a:solidFill>
              <a:srgbClr val="1b6fd1"/>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163" name="Text 48"/>
          <p:cNvSpPr/>
          <p:nvPr/>
        </p:nvSpPr>
        <p:spPr>
          <a:xfrm>
            <a:off x="932760" y="5550480"/>
            <a:ext cx="255096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243b53"/>
                </a:solidFill>
                <a:effectLst/>
                <a:uFillTx/>
                <a:latin typeface="Yu Gothic"/>
                <a:ea typeface="Yu Gothic"/>
              </a:rPr>
              <a:t>AI/</a:t>
            </a:r>
            <a:r>
              <a:rPr b="0" lang="zh-CN" sz="1050" strike="noStrike" u="none">
                <a:solidFill>
                  <a:srgbClr val="243b53"/>
                </a:solidFill>
                <a:effectLst/>
                <a:uFillTx/>
                <a:latin typeface="Yu Gothic"/>
                <a:ea typeface="Yu Gothic"/>
              </a:rPr>
              <a:t>ハーネス費控除後の純効果</a:t>
            </a:r>
            <a:endParaRPr b="0" lang="en-US" sz="1050" strike="noStrike" u="none">
              <a:solidFill>
                <a:srgbClr val="000000"/>
              </a:solidFill>
              <a:effectLst/>
              <a:uFillTx/>
              <a:latin typeface="Arial"/>
            </a:endParaRPr>
          </a:p>
        </p:txBody>
      </p:sp>
      <p:sp>
        <p:nvSpPr>
          <p:cNvPr id="164" name="Shape 49"/>
          <p:cNvSpPr/>
          <p:nvPr/>
        </p:nvSpPr>
        <p:spPr>
          <a:xfrm>
            <a:off x="4041720" y="4279320"/>
            <a:ext cx="3062880" cy="1590840"/>
          </a:xfrm>
          <a:prstGeom prst="roundRect">
            <a:avLst>
              <a:gd name="adj" fmla="val 4023"/>
            </a:avLst>
          </a:prstGeom>
          <a:solidFill>
            <a:srgbClr val="ffffff"/>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5" name="Shape 50"/>
          <p:cNvSpPr/>
          <p:nvPr/>
        </p:nvSpPr>
        <p:spPr>
          <a:xfrm>
            <a:off x="4041720" y="4279320"/>
            <a:ext cx="63720" cy="1590840"/>
          </a:xfrm>
          <a:prstGeom prst="rect">
            <a:avLst/>
          </a:prstGeom>
          <a:solidFill>
            <a:srgbClr val="0f9d8a"/>
          </a:solidFill>
          <a:ln w="12700">
            <a:solidFill>
              <a:srgbClr val="0f9d8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66" name="Text 51"/>
          <p:cNvSpPr/>
          <p:nvPr/>
        </p:nvSpPr>
        <p:spPr>
          <a:xfrm>
            <a:off x="4206240" y="4425840"/>
            <a:ext cx="274284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zh-CN" sz="1500" strike="noStrike" u="none">
                <a:solidFill>
                  <a:srgbClr val="0b1f33"/>
                </a:solidFill>
                <a:effectLst/>
                <a:uFillTx/>
                <a:latin typeface="Yu Gothic"/>
                <a:ea typeface="Yu Gothic"/>
              </a:rPr>
              <a:t>品質</a:t>
            </a:r>
            <a:endParaRPr b="0" lang="en-US" sz="1500" strike="noStrike" u="none">
              <a:solidFill>
                <a:srgbClr val="000000"/>
              </a:solidFill>
              <a:effectLst/>
              <a:uFillTx/>
              <a:latin typeface="Arial"/>
            </a:endParaRPr>
          </a:p>
        </p:txBody>
      </p:sp>
      <p:sp>
        <p:nvSpPr>
          <p:cNvPr id="167" name="Shape 52"/>
          <p:cNvSpPr/>
          <p:nvPr/>
        </p:nvSpPr>
        <p:spPr>
          <a:xfrm>
            <a:off x="4206240" y="4873680"/>
            <a:ext cx="82080" cy="82080"/>
          </a:xfrm>
          <a:prstGeom prst="ellipse">
            <a:avLst/>
          </a:prstGeom>
          <a:solidFill>
            <a:srgbClr val="0f9d8a"/>
          </a:solidFill>
          <a:ln w="12700">
            <a:solidFill>
              <a:srgbClr val="0f9d8a"/>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168" name="Text 53"/>
          <p:cNvSpPr/>
          <p:nvPr/>
        </p:nvSpPr>
        <p:spPr>
          <a:xfrm>
            <a:off x="4352400" y="4782240"/>
            <a:ext cx="255096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243b53"/>
                </a:solidFill>
                <a:effectLst/>
                <a:uFillTx/>
                <a:latin typeface="Yu Gothic"/>
                <a:ea typeface="Yu Gothic"/>
              </a:rPr>
              <a:t>AI</a:t>
            </a:r>
            <a:r>
              <a:rPr b="0" lang="zh-CN" sz="1050" strike="noStrike" u="none">
                <a:solidFill>
                  <a:srgbClr val="243b53"/>
                </a:solidFill>
                <a:effectLst/>
                <a:uFillTx/>
                <a:latin typeface="Yu Gothic"/>
                <a:ea typeface="Yu Gothic"/>
              </a:rPr>
              <a:t>成果物の要修正</a:t>
            </a:r>
            <a:endParaRPr b="0" lang="en-US" sz="1050" strike="noStrike" u="none">
              <a:solidFill>
                <a:srgbClr val="000000"/>
              </a:solidFill>
              <a:effectLst/>
              <a:uFillTx/>
              <a:latin typeface="Arial"/>
            </a:endParaRPr>
          </a:p>
        </p:txBody>
      </p:sp>
      <p:sp>
        <p:nvSpPr>
          <p:cNvPr id="169" name="Shape 54"/>
          <p:cNvSpPr/>
          <p:nvPr/>
        </p:nvSpPr>
        <p:spPr>
          <a:xfrm>
            <a:off x="4206240" y="5129640"/>
            <a:ext cx="82080" cy="82080"/>
          </a:xfrm>
          <a:prstGeom prst="ellipse">
            <a:avLst/>
          </a:prstGeom>
          <a:solidFill>
            <a:srgbClr val="0f9d8a"/>
          </a:solidFill>
          <a:ln w="12700">
            <a:solidFill>
              <a:srgbClr val="0f9d8a"/>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170" name="Text 55"/>
          <p:cNvSpPr/>
          <p:nvPr/>
        </p:nvSpPr>
        <p:spPr>
          <a:xfrm>
            <a:off x="4352400" y="5038200"/>
            <a:ext cx="255096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050" strike="noStrike" u="none">
                <a:solidFill>
                  <a:srgbClr val="243b53"/>
                </a:solidFill>
                <a:effectLst/>
                <a:uFillTx/>
                <a:latin typeface="Yu Gothic"/>
                <a:ea typeface="Yu Gothic"/>
              </a:rPr>
              <a:t>影響漏れ</a:t>
            </a:r>
            <a:endParaRPr b="0" lang="en-US" sz="1050" strike="noStrike" u="none">
              <a:solidFill>
                <a:srgbClr val="000000"/>
              </a:solidFill>
              <a:effectLst/>
              <a:uFillTx/>
              <a:latin typeface="Arial"/>
            </a:endParaRPr>
          </a:p>
        </p:txBody>
      </p:sp>
      <p:sp>
        <p:nvSpPr>
          <p:cNvPr id="171" name="Shape 56"/>
          <p:cNvSpPr/>
          <p:nvPr/>
        </p:nvSpPr>
        <p:spPr>
          <a:xfrm>
            <a:off x="4206240" y="5385960"/>
            <a:ext cx="82080" cy="82080"/>
          </a:xfrm>
          <a:prstGeom prst="ellipse">
            <a:avLst/>
          </a:prstGeom>
          <a:solidFill>
            <a:srgbClr val="0f9d8a"/>
          </a:solidFill>
          <a:ln w="12700">
            <a:solidFill>
              <a:srgbClr val="0f9d8a"/>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172" name="Text 57"/>
          <p:cNvSpPr/>
          <p:nvPr/>
        </p:nvSpPr>
        <p:spPr>
          <a:xfrm>
            <a:off x="4352400" y="5294520"/>
            <a:ext cx="255096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050" strike="noStrike" u="none">
                <a:solidFill>
                  <a:srgbClr val="243b53"/>
                </a:solidFill>
                <a:effectLst/>
                <a:uFillTx/>
                <a:latin typeface="Yu Gothic"/>
                <a:ea typeface="Yu Gothic"/>
              </a:rPr>
              <a:t>重大差分・再試験</a:t>
            </a:r>
            <a:endParaRPr b="0" lang="en-US" sz="1050" strike="noStrike" u="none">
              <a:solidFill>
                <a:srgbClr val="000000"/>
              </a:solidFill>
              <a:effectLst/>
              <a:uFillTx/>
              <a:latin typeface="Arial"/>
            </a:endParaRPr>
          </a:p>
        </p:txBody>
      </p:sp>
      <p:sp>
        <p:nvSpPr>
          <p:cNvPr id="173" name="Shape 58"/>
          <p:cNvSpPr/>
          <p:nvPr/>
        </p:nvSpPr>
        <p:spPr>
          <a:xfrm>
            <a:off x="4206240" y="5641920"/>
            <a:ext cx="82080" cy="82080"/>
          </a:xfrm>
          <a:prstGeom prst="ellipse">
            <a:avLst/>
          </a:prstGeom>
          <a:solidFill>
            <a:srgbClr val="0f9d8a"/>
          </a:solidFill>
          <a:ln w="12700">
            <a:solidFill>
              <a:srgbClr val="0f9d8a"/>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174" name="Text 59"/>
          <p:cNvSpPr/>
          <p:nvPr/>
        </p:nvSpPr>
        <p:spPr>
          <a:xfrm>
            <a:off x="4352400" y="5550480"/>
            <a:ext cx="255096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050" strike="noStrike" u="none">
                <a:solidFill>
                  <a:srgbClr val="243b53"/>
                </a:solidFill>
                <a:effectLst/>
                <a:uFillTx/>
                <a:latin typeface="Yu Gothic"/>
                <a:ea typeface="Yu Gothic"/>
              </a:rPr>
              <a:t>追跡性・試験不足</a:t>
            </a:r>
            <a:endParaRPr b="0" lang="en-US" sz="1050" strike="noStrike" u="none">
              <a:solidFill>
                <a:srgbClr val="000000"/>
              </a:solidFill>
              <a:effectLst/>
              <a:uFillTx/>
              <a:latin typeface="Arial"/>
            </a:endParaRPr>
          </a:p>
        </p:txBody>
      </p:sp>
      <p:sp>
        <p:nvSpPr>
          <p:cNvPr id="175" name="Shape 60"/>
          <p:cNvSpPr/>
          <p:nvPr/>
        </p:nvSpPr>
        <p:spPr>
          <a:xfrm>
            <a:off x="7461360" y="4279320"/>
            <a:ext cx="3062880" cy="1590840"/>
          </a:xfrm>
          <a:prstGeom prst="roundRect">
            <a:avLst>
              <a:gd name="adj" fmla="val 4023"/>
            </a:avLst>
          </a:prstGeom>
          <a:solidFill>
            <a:srgbClr val="ffffff"/>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76" name="Shape 61"/>
          <p:cNvSpPr/>
          <p:nvPr/>
        </p:nvSpPr>
        <p:spPr>
          <a:xfrm>
            <a:off x="7461360" y="4279320"/>
            <a:ext cx="63720" cy="159084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77" name="Text 62"/>
          <p:cNvSpPr/>
          <p:nvPr/>
        </p:nvSpPr>
        <p:spPr>
          <a:xfrm>
            <a:off x="7626240" y="4425840"/>
            <a:ext cx="274284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zh-CN" sz="1500" strike="noStrike" u="none">
                <a:solidFill>
                  <a:srgbClr val="0b1f33"/>
                </a:solidFill>
                <a:effectLst/>
                <a:uFillTx/>
                <a:latin typeface="Yu Gothic"/>
                <a:ea typeface="Yu Gothic"/>
              </a:rPr>
              <a:t>納期・処理能力</a:t>
            </a:r>
            <a:endParaRPr b="0" lang="en-US" sz="1500" strike="noStrike" u="none">
              <a:solidFill>
                <a:srgbClr val="000000"/>
              </a:solidFill>
              <a:effectLst/>
              <a:uFillTx/>
              <a:latin typeface="Arial"/>
            </a:endParaRPr>
          </a:p>
        </p:txBody>
      </p:sp>
      <p:sp>
        <p:nvSpPr>
          <p:cNvPr id="178" name="Shape 63"/>
          <p:cNvSpPr/>
          <p:nvPr/>
        </p:nvSpPr>
        <p:spPr>
          <a:xfrm>
            <a:off x="7626240" y="4873680"/>
            <a:ext cx="82080" cy="82080"/>
          </a:xfrm>
          <a:prstGeom prst="ellipse">
            <a:avLst/>
          </a:prstGeom>
          <a:solidFill>
            <a:srgbClr val="f59e0b"/>
          </a:solidFill>
          <a:ln w="12700">
            <a:solidFill>
              <a:srgbClr val="f59e0b"/>
            </a:solidFill>
            <a:round/>
          </a:ln>
        </p:spPr>
        <p:style>
          <a:lnRef idx="0"/>
          <a:fillRef idx="0"/>
          <a:effectRef idx="0"/>
          <a:fontRef idx="minor"/>
        </p:style>
        <p:txBody>
          <a:bodyPr lIns="90000" rIns="90000" tIns="13320" bIns="13320" anchor="t">
            <a:noAutofit/>
          </a:bodyPr>
          <a:p>
            <a:endParaRPr b="0" lang="en-US" sz="1800" strike="noStrike" u="none">
              <a:solidFill>
                <a:srgbClr val="000000"/>
              </a:solidFill>
              <a:effectLst/>
              <a:uFillTx/>
              <a:latin typeface="Arial"/>
            </a:endParaRPr>
          </a:p>
        </p:txBody>
      </p:sp>
      <p:sp>
        <p:nvSpPr>
          <p:cNvPr id="179" name="Text 64"/>
          <p:cNvSpPr/>
          <p:nvPr/>
        </p:nvSpPr>
        <p:spPr>
          <a:xfrm>
            <a:off x="7772400" y="4782240"/>
            <a:ext cx="255096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050" strike="noStrike" u="none">
                <a:solidFill>
                  <a:srgbClr val="243b53"/>
                </a:solidFill>
                <a:effectLst/>
                <a:uFillTx/>
                <a:latin typeface="Yu Gothic"/>
                <a:ea typeface="Yu Gothic"/>
              </a:rPr>
              <a:t>リードタイム</a:t>
            </a:r>
            <a:endParaRPr b="0" lang="en-US" sz="1050" strike="noStrike" u="none">
              <a:solidFill>
                <a:srgbClr val="000000"/>
              </a:solidFill>
              <a:effectLst/>
              <a:uFillTx/>
              <a:latin typeface="Arial"/>
            </a:endParaRPr>
          </a:p>
        </p:txBody>
      </p:sp>
      <p:sp>
        <p:nvSpPr>
          <p:cNvPr id="180" name="Shape 65"/>
          <p:cNvSpPr/>
          <p:nvPr/>
        </p:nvSpPr>
        <p:spPr>
          <a:xfrm>
            <a:off x="7626240" y="5129640"/>
            <a:ext cx="82080" cy="82080"/>
          </a:xfrm>
          <a:prstGeom prst="ellipse">
            <a:avLst/>
          </a:prstGeom>
          <a:solidFill>
            <a:srgbClr val="f59e0b"/>
          </a:solidFill>
          <a:ln w="12700">
            <a:solidFill>
              <a:srgbClr val="f59e0b"/>
            </a:solidFill>
            <a:round/>
          </a:ln>
        </p:spPr>
        <p:style>
          <a:lnRef idx="0"/>
          <a:fillRef idx="0"/>
          <a:effectRef idx="0"/>
          <a:fontRef idx="minor"/>
        </p:style>
        <p:txBody>
          <a:bodyPr lIns="90000" rIns="90000" tIns="13320" bIns="13320" anchor="t">
            <a:noAutofit/>
          </a:bodyPr>
          <a:p>
            <a:endParaRPr b="0" lang="en-US" sz="1800" strike="noStrike" u="none">
              <a:solidFill>
                <a:srgbClr val="000000"/>
              </a:solidFill>
              <a:effectLst/>
              <a:uFillTx/>
              <a:latin typeface="Arial"/>
            </a:endParaRPr>
          </a:p>
        </p:txBody>
      </p:sp>
      <p:sp>
        <p:nvSpPr>
          <p:cNvPr id="181" name="Text 66"/>
          <p:cNvSpPr/>
          <p:nvPr/>
        </p:nvSpPr>
        <p:spPr>
          <a:xfrm>
            <a:off x="7772400" y="5038200"/>
            <a:ext cx="255096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050" strike="noStrike" u="none">
                <a:solidFill>
                  <a:srgbClr val="243b53"/>
                </a:solidFill>
                <a:effectLst/>
                <a:uFillTx/>
                <a:latin typeface="Yu Gothic"/>
                <a:ea typeface="Yu Gothic"/>
              </a:rPr>
              <a:t>滞留時間</a:t>
            </a:r>
            <a:endParaRPr b="0" lang="en-US" sz="1050" strike="noStrike" u="none">
              <a:solidFill>
                <a:srgbClr val="000000"/>
              </a:solidFill>
              <a:effectLst/>
              <a:uFillTx/>
              <a:latin typeface="Arial"/>
            </a:endParaRPr>
          </a:p>
        </p:txBody>
      </p:sp>
      <p:sp>
        <p:nvSpPr>
          <p:cNvPr id="182" name="Shape 67"/>
          <p:cNvSpPr/>
          <p:nvPr/>
        </p:nvSpPr>
        <p:spPr>
          <a:xfrm>
            <a:off x="7626240" y="5385960"/>
            <a:ext cx="82080" cy="82080"/>
          </a:xfrm>
          <a:prstGeom prst="ellipse">
            <a:avLst/>
          </a:prstGeom>
          <a:solidFill>
            <a:srgbClr val="f59e0b"/>
          </a:solidFill>
          <a:ln w="12700">
            <a:solidFill>
              <a:srgbClr val="f59e0b"/>
            </a:solidFill>
            <a:round/>
          </a:ln>
        </p:spPr>
        <p:style>
          <a:lnRef idx="0"/>
          <a:fillRef idx="0"/>
          <a:effectRef idx="0"/>
          <a:fontRef idx="minor"/>
        </p:style>
        <p:txBody>
          <a:bodyPr lIns="90000" rIns="90000" tIns="13320" bIns="13320" anchor="t">
            <a:noAutofit/>
          </a:bodyPr>
          <a:p>
            <a:endParaRPr b="0" lang="en-US" sz="1800" strike="noStrike" u="none">
              <a:solidFill>
                <a:srgbClr val="000000"/>
              </a:solidFill>
              <a:effectLst/>
              <a:uFillTx/>
              <a:latin typeface="Arial"/>
            </a:endParaRPr>
          </a:p>
        </p:txBody>
      </p:sp>
      <p:sp>
        <p:nvSpPr>
          <p:cNvPr id="183" name="Text 68"/>
          <p:cNvSpPr/>
          <p:nvPr/>
        </p:nvSpPr>
        <p:spPr>
          <a:xfrm>
            <a:off x="7772400" y="5294520"/>
            <a:ext cx="255096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050" strike="noStrike" u="none">
                <a:solidFill>
                  <a:srgbClr val="243b53"/>
                </a:solidFill>
                <a:effectLst/>
                <a:uFillTx/>
                <a:latin typeface="Yu Gothic"/>
                <a:ea typeface="Yu Gothic"/>
              </a:rPr>
              <a:t>同時処理量</a:t>
            </a:r>
            <a:endParaRPr b="0" lang="en-US" sz="1050" strike="noStrike" u="none">
              <a:solidFill>
                <a:srgbClr val="000000"/>
              </a:solidFill>
              <a:effectLst/>
              <a:uFillTx/>
              <a:latin typeface="Arial"/>
            </a:endParaRPr>
          </a:p>
        </p:txBody>
      </p:sp>
      <p:sp>
        <p:nvSpPr>
          <p:cNvPr id="184" name="Shape 69"/>
          <p:cNvSpPr/>
          <p:nvPr/>
        </p:nvSpPr>
        <p:spPr>
          <a:xfrm>
            <a:off x="7626240" y="5641920"/>
            <a:ext cx="82080" cy="82080"/>
          </a:xfrm>
          <a:prstGeom prst="ellipse">
            <a:avLst/>
          </a:prstGeom>
          <a:solidFill>
            <a:srgbClr val="f59e0b"/>
          </a:solidFill>
          <a:ln w="12700">
            <a:solidFill>
              <a:srgbClr val="f59e0b"/>
            </a:solidFill>
            <a:round/>
          </a:ln>
        </p:spPr>
        <p:style>
          <a:lnRef idx="0"/>
          <a:fillRef idx="0"/>
          <a:effectRef idx="0"/>
          <a:fontRef idx="minor"/>
        </p:style>
        <p:txBody>
          <a:bodyPr lIns="90000" rIns="90000" tIns="13320" bIns="13320" anchor="t">
            <a:noAutofit/>
          </a:bodyPr>
          <a:p>
            <a:endParaRPr b="0" lang="en-US" sz="1800" strike="noStrike" u="none">
              <a:solidFill>
                <a:srgbClr val="000000"/>
              </a:solidFill>
              <a:effectLst/>
              <a:uFillTx/>
              <a:latin typeface="Arial"/>
            </a:endParaRPr>
          </a:p>
        </p:txBody>
      </p:sp>
      <p:sp>
        <p:nvSpPr>
          <p:cNvPr id="185" name="Text 70"/>
          <p:cNvSpPr/>
          <p:nvPr/>
        </p:nvSpPr>
        <p:spPr>
          <a:xfrm>
            <a:off x="7772400" y="5550480"/>
            <a:ext cx="255096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050" strike="noStrike" u="none">
                <a:solidFill>
                  <a:srgbClr val="243b53"/>
                </a:solidFill>
                <a:effectLst/>
                <a:uFillTx/>
                <a:latin typeface="Yu Gothic"/>
                <a:ea typeface="Yu Gothic"/>
              </a:rPr>
              <a:t>複雑度別のばらつき</a:t>
            </a:r>
            <a:endParaRPr b="0" lang="en-US" sz="1050" strike="noStrike" u="none">
              <a:solidFill>
                <a:srgbClr val="000000"/>
              </a:solidFill>
              <a:effectLst/>
              <a:uFillTx/>
              <a:latin typeface="Arial"/>
            </a:endParaRPr>
          </a:p>
        </p:txBody>
      </p:sp>
      <p:sp>
        <p:nvSpPr>
          <p:cNvPr id="186" name="Shape 71"/>
          <p:cNvSpPr/>
          <p:nvPr/>
        </p:nvSpPr>
        <p:spPr>
          <a:xfrm>
            <a:off x="10643760" y="4096440"/>
            <a:ext cx="749520" cy="1801080"/>
          </a:xfrm>
          <a:prstGeom prst="roundRect">
            <a:avLst>
              <a:gd name="adj" fmla="val 6098"/>
            </a:avLst>
          </a:prstGeom>
          <a:solidFill>
            <a:srgbClr val="fcebec"/>
          </a:solidFill>
          <a:ln w="12700">
            <a:solidFill>
              <a:srgbClr val="f2c2c5"/>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87" name="Text 72"/>
          <p:cNvSpPr/>
          <p:nvPr/>
        </p:nvSpPr>
        <p:spPr>
          <a:xfrm>
            <a:off x="10744200" y="4242960"/>
            <a:ext cx="5482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zh-CN" sz="1000" strike="noStrike" u="none">
                <a:solidFill>
                  <a:srgbClr val="d64545"/>
                </a:solidFill>
                <a:effectLst/>
                <a:uFillTx/>
                <a:latin typeface="Yu Gothic"/>
                <a:ea typeface="Yu Gothic"/>
              </a:rPr>
              <a:t>注意</a:t>
            </a:r>
            <a:endParaRPr b="0" lang="en-US" sz="1000" strike="noStrike" u="none">
              <a:solidFill>
                <a:srgbClr val="000000"/>
              </a:solidFill>
              <a:effectLst/>
              <a:uFillTx/>
              <a:latin typeface="Arial"/>
            </a:endParaRPr>
          </a:p>
        </p:txBody>
      </p:sp>
      <p:sp>
        <p:nvSpPr>
          <p:cNvPr id="188" name="Text 73"/>
          <p:cNvSpPr/>
          <p:nvPr/>
        </p:nvSpPr>
        <p:spPr>
          <a:xfrm>
            <a:off x="10716840" y="4526280"/>
            <a:ext cx="603000" cy="1161000"/>
          </a:xfrm>
          <a:prstGeom prst="rect">
            <a:avLst/>
          </a:prstGeom>
          <a:noFill/>
          <a:ln w="0">
            <a:noFill/>
          </a:ln>
        </p:spPr>
        <p:style>
          <a:lnRef idx="0"/>
          <a:fillRef idx="0"/>
          <a:effectRef idx="0"/>
          <a:fontRef idx="minor"/>
        </p:style>
        <p:txBody>
          <a:bodyPr lIns="0" rIns="0" tIns="0" bIns="0" anchor="ctr">
            <a:normAutofit fontScale="92500" lnSpcReduction="9999"/>
          </a:bodyPr>
          <a:p>
            <a:pPr algn="ctr" defTabSz="914400">
              <a:lnSpc>
                <a:spcPct val="100000"/>
              </a:lnSpc>
              <a:tabLst>
                <a:tab algn="l" pos="0"/>
              </a:tabLst>
            </a:pPr>
            <a:r>
              <a:rPr b="0" lang="zh-CN" sz="880" strike="noStrike" u="none">
                <a:solidFill>
                  <a:srgbClr val="243b53"/>
                </a:solidFill>
                <a:effectLst/>
                <a:uFillTx/>
                <a:latin typeface="Yu Gothic"/>
                <a:ea typeface="Yu Gothic"/>
              </a:rPr>
              <a:t>一般的な「出力量</a:t>
            </a:r>
            <a:r>
              <a:rPr b="0" lang="en-US" sz="880" strike="noStrike" u="none">
                <a:solidFill>
                  <a:srgbClr val="243b53"/>
                </a:solidFill>
                <a:effectLst/>
                <a:uFillTx/>
                <a:latin typeface="Yu Gothic"/>
                <a:ea typeface="Yu Gothic"/>
              </a:rPr>
              <a:t>/</a:t>
            </a:r>
            <a:r>
              <a:rPr b="0" lang="zh-CN" sz="880" strike="noStrike" u="none">
                <a:solidFill>
                  <a:srgbClr val="243b53"/>
                </a:solidFill>
                <a:effectLst/>
                <a:uFillTx/>
                <a:latin typeface="Yu Gothic"/>
                <a:ea typeface="Yu Gothic"/>
              </a:rPr>
              <a:t>人時 </a:t>
            </a:r>
            <a:r>
              <a:rPr b="0" lang="en-US" sz="880" strike="noStrike" u="none">
                <a:solidFill>
                  <a:srgbClr val="243b53"/>
                </a:solidFill>
                <a:effectLst/>
                <a:uFillTx/>
                <a:latin typeface="Yu Gothic"/>
                <a:ea typeface="Yu Gothic"/>
              </a:rPr>
              <a:t>+30%</a:t>
            </a:r>
            <a:r>
              <a:rPr b="0" lang="zh-CN" sz="880" strike="noStrike" u="none">
                <a:solidFill>
                  <a:srgbClr val="243b53"/>
                </a:solidFill>
                <a:effectLst/>
                <a:uFillTx/>
                <a:latin typeface="Yu Gothic"/>
                <a:ea typeface="Yu Gothic"/>
              </a:rPr>
              <a:t>」定義では、同一量に必要な要員削減は</a:t>
            </a:r>
            <a:r>
              <a:rPr b="0" lang="en-US" sz="880" strike="noStrike" u="none">
                <a:solidFill>
                  <a:srgbClr val="243b53"/>
                </a:solidFill>
                <a:effectLst/>
                <a:uFillTx/>
                <a:latin typeface="Yu Gothic"/>
                <a:ea typeface="Yu Gothic"/>
              </a:rPr>
              <a:t>23.1%</a:t>
            </a:r>
            <a:r>
              <a:rPr b="0" lang="zh-CN" sz="880" strike="noStrike" u="none">
                <a:solidFill>
                  <a:srgbClr val="243b53"/>
                </a:solidFill>
                <a:effectLst/>
                <a:uFillTx/>
                <a:latin typeface="Yu Gothic"/>
                <a:ea typeface="Yu Gothic"/>
              </a:rPr>
              <a:t>です。目標定義は初回に固定します。</a:t>
            </a:r>
            <a:endParaRPr b="0" lang="en-US" sz="880" strike="noStrike" u="none">
              <a:solidFill>
                <a:srgbClr val="000000"/>
              </a:solidFill>
              <a:effectLst/>
              <a:uFillTx/>
              <a:latin typeface="Arial"/>
            </a:endParaRPr>
          </a:p>
        </p:txBody>
      </p:sp>
      <p:sp>
        <p:nvSpPr>
          <p:cNvPr id="189" name="PlaceHolder 1"/>
          <p:cNvSpPr>
            <a:spLocks noGrp="1"/>
          </p:cNvSpPr>
          <p:nvPr>
            <p:ph type="sldNum" idx="7"/>
          </p:nvPr>
        </p:nvSpPr>
        <p:spPr>
          <a:xfrm>
            <a:off x="11777400" y="65563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850" strike="noStrike" u="none">
                <a:solidFill>
                  <a:srgbClr val="75808f"/>
                </a:solidFill>
                <a:effectLst/>
                <a:uFillTx/>
                <a:latin typeface="Yu Gothic"/>
                <a:ea typeface="Yu Gothic"/>
              </a:defRPr>
            </a:lvl1pPr>
          </a:lstStyle>
          <a:p>
            <a:pPr indent="0" defTabSz="914400">
              <a:lnSpc>
                <a:spcPct val="100000"/>
              </a:lnSpc>
              <a:buNone/>
            </a:pPr>
            <a:fld id="{D2A00367-C142-495D-B7B6-CF39EC8BFDA2}" type="slidenum">
              <a:rPr b="0" lang="en-US" sz="850" strike="noStrike" u="none">
                <a:solidFill>
                  <a:srgbClr val="75808f"/>
                </a:solidFill>
                <a:effectLst/>
                <a:uFillTx/>
                <a:latin typeface="Yu Gothic"/>
                <a:ea typeface="Yu Gothic"/>
              </a:rPr>
              <a:t>&lt;number&gt;</a:t>
            </a:fld>
            <a:endParaRPr b="0" lang="en-US" sz="85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Text 0"/>
          <p:cNvSpPr/>
          <p:nvPr/>
        </p:nvSpPr>
        <p:spPr>
          <a:xfrm>
            <a:off x="530280" y="301680"/>
            <a:ext cx="11109600" cy="420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50" strike="noStrike" u="none">
                <a:solidFill>
                  <a:srgbClr val="0b1f33"/>
                </a:solidFill>
                <a:effectLst/>
                <a:uFillTx/>
                <a:latin typeface="Yu Gothic"/>
                <a:ea typeface="Yu Gothic"/>
              </a:rPr>
              <a:t>10</a:t>
            </a:r>
            <a:r>
              <a:rPr b="1" lang="zh-CN" sz="2550" strike="noStrike" u="none">
                <a:solidFill>
                  <a:srgbClr val="0b1f33"/>
                </a:solidFill>
                <a:effectLst/>
                <a:uFillTx/>
                <a:latin typeface="Yu Gothic"/>
                <a:ea typeface="Yu Gothic"/>
              </a:rPr>
              <a:t>〜</a:t>
            </a:r>
            <a:r>
              <a:rPr b="1" lang="en-US" sz="2550" strike="noStrike" u="none">
                <a:solidFill>
                  <a:srgbClr val="0b1f33"/>
                </a:solidFill>
                <a:effectLst/>
                <a:uFillTx/>
                <a:latin typeface="Yu Gothic"/>
                <a:ea typeface="Yu Gothic"/>
              </a:rPr>
              <a:t>12</a:t>
            </a:r>
            <a:r>
              <a:rPr b="1" lang="zh-CN" sz="2550" strike="noStrike" u="none">
                <a:solidFill>
                  <a:srgbClr val="0b1f33"/>
                </a:solidFill>
                <a:effectLst/>
                <a:uFillTx/>
                <a:latin typeface="Yu Gothic"/>
                <a:ea typeface="Yu Gothic"/>
              </a:rPr>
              <a:t>月：人手開発と並行して「純効果」を証明する</a:t>
            </a:r>
            <a:endParaRPr b="0" lang="en-US" sz="2550" strike="noStrike" u="none">
              <a:solidFill>
                <a:srgbClr val="000000"/>
              </a:solidFill>
              <a:effectLst/>
              <a:uFillTx/>
              <a:latin typeface="Arial"/>
            </a:endParaRPr>
          </a:p>
        </p:txBody>
      </p:sp>
      <p:sp>
        <p:nvSpPr>
          <p:cNvPr id="191" name="Text 1"/>
          <p:cNvSpPr/>
          <p:nvPr/>
        </p:nvSpPr>
        <p:spPr>
          <a:xfrm>
            <a:off x="548640" y="749880"/>
            <a:ext cx="1097244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50" strike="noStrike" u="none">
                <a:solidFill>
                  <a:srgbClr val="52606d"/>
                </a:solidFill>
                <a:effectLst/>
                <a:uFillTx/>
                <a:latin typeface="Yu Gothic"/>
                <a:ea typeface="Yu Gothic"/>
              </a:rPr>
              <a:t>本番成果物は人手開発を正とし、</a:t>
            </a:r>
            <a:r>
              <a:rPr b="0" lang="en-US" sz="1150" strike="noStrike" u="none">
                <a:solidFill>
                  <a:srgbClr val="52606d"/>
                </a:solidFill>
                <a:effectLst/>
                <a:uFillTx/>
                <a:latin typeface="Yu Gothic"/>
                <a:ea typeface="Yu Gothic"/>
              </a:rPr>
              <a:t>AI</a:t>
            </a:r>
            <a:r>
              <a:rPr b="0" lang="zh-CN" sz="1150" strike="noStrike" u="none">
                <a:solidFill>
                  <a:srgbClr val="52606d"/>
                </a:solidFill>
                <a:effectLst/>
                <a:uFillTx/>
                <a:latin typeface="Yu Gothic"/>
                <a:ea typeface="Yu Gothic"/>
              </a:rPr>
              <a:t>は隔離環境で同じ案件をシャドー実行。</a:t>
            </a:r>
            <a:r>
              <a:rPr b="0" lang="en-US" sz="1150" strike="noStrike" u="none">
                <a:solidFill>
                  <a:srgbClr val="52606d"/>
                </a:solidFill>
                <a:effectLst/>
                <a:uFillTx/>
                <a:latin typeface="Yu Gothic"/>
                <a:ea typeface="Yu Gothic"/>
              </a:rPr>
              <a:t>AI</a:t>
            </a:r>
            <a:r>
              <a:rPr b="0" lang="zh-CN" sz="1150" strike="noStrike" u="none">
                <a:solidFill>
                  <a:srgbClr val="52606d"/>
                </a:solidFill>
                <a:effectLst/>
                <a:uFillTx/>
                <a:latin typeface="Yu Gothic"/>
                <a:ea typeface="Yu Gothic"/>
              </a:rPr>
              <a:t>成果物は本番へ反映せず、工数・品質だけを比較します</a:t>
            </a:r>
            <a:endParaRPr b="0" lang="en-US" sz="1150" strike="noStrike" u="none">
              <a:solidFill>
                <a:srgbClr val="000000"/>
              </a:solidFill>
              <a:effectLst/>
              <a:uFillTx/>
              <a:latin typeface="Arial"/>
            </a:endParaRPr>
          </a:p>
        </p:txBody>
      </p:sp>
      <p:sp>
        <p:nvSpPr>
          <p:cNvPr id="192" name="Text 2"/>
          <p:cNvSpPr/>
          <p:nvPr/>
        </p:nvSpPr>
        <p:spPr>
          <a:xfrm>
            <a:off x="612720" y="1143000"/>
            <a:ext cx="201132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zh-CN" sz="1700" strike="noStrike" u="none">
                <a:solidFill>
                  <a:srgbClr val="0b1f33"/>
                </a:solidFill>
                <a:effectLst/>
                <a:uFillTx/>
                <a:latin typeface="Yu Gothic"/>
                <a:ea typeface="Yu Gothic"/>
              </a:rPr>
              <a:t>月別実行計画</a:t>
            </a:r>
            <a:endParaRPr b="0" lang="en-US" sz="1700" strike="noStrike" u="none">
              <a:solidFill>
                <a:srgbClr val="000000"/>
              </a:solidFill>
              <a:effectLst/>
              <a:uFillTx/>
              <a:latin typeface="Arial"/>
            </a:endParaRPr>
          </a:p>
        </p:txBody>
      </p:sp>
      <p:sp>
        <p:nvSpPr>
          <p:cNvPr id="193" name="Shape 3"/>
          <p:cNvSpPr/>
          <p:nvPr/>
        </p:nvSpPr>
        <p:spPr>
          <a:xfrm>
            <a:off x="2770560" y="1572840"/>
            <a:ext cx="959760" cy="328680"/>
          </a:xfrm>
          <a:prstGeom prst="roundRect">
            <a:avLst>
              <a:gd name="adj" fmla="val 19444"/>
            </a:avLst>
          </a:prstGeom>
          <a:solidFill>
            <a:srgbClr val="1b6fd1"/>
          </a:solidFill>
          <a:ln w="12700">
            <a:solidFill>
              <a:srgbClr val="1b6fd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94" name="Text 4"/>
          <p:cNvSpPr/>
          <p:nvPr/>
        </p:nvSpPr>
        <p:spPr>
          <a:xfrm>
            <a:off x="2816280" y="1609200"/>
            <a:ext cx="86832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ffffff"/>
                </a:solidFill>
                <a:effectLst/>
                <a:uFillTx/>
                <a:latin typeface="Yu Gothic"/>
                <a:ea typeface="Yu Gothic"/>
              </a:rPr>
              <a:t>10</a:t>
            </a:r>
            <a:r>
              <a:rPr b="1" lang="zh-CN" sz="1050" strike="noStrike" u="none">
                <a:solidFill>
                  <a:srgbClr val="ffffff"/>
                </a:solidFill>
                <a:effectLst/>
                <a:uFillTx/>
                <a:latin typeface="Yu Gothic"/>
                <a:ea typeface="Yu Gothic"/>
              </a:rPr>
              <a:t>月</a:t>
            </a:r>
            <a:endParaRPr b="0" lang="en-US" sz="1050" strike="noStrike" u="none">
              <a:solidFill>
                <a:srgbClr val="000000"/>
              </a:solidFill>
              <a:effectLst/>
              <a:uFillTx/>
              <a:latin typeface="Arial"/>
            </a:endParaRPr>
          </a:p>
        </p:txBody>
      </p:sp>
      <p:sp>
        <p:nvSpPr>
          <p:cNvPr id="195" name="Shape 5"/>
          <p:cNvSpPr/>
          <p:nvPr/>
        </p:nvSpPr>
        <p:spPr>
          <a:xfrm>
            <a:off x="3886200" y="1572840"/>
            <a:ext cx="959760" cy="328680"/>
          </a:xfrm>
          <a:prstGeom prst="roundRect">
            <a:avLst>
              <a:gd name="adj" fmla="val 19444"/>
            </a:avLst>
          </a:prstGeom>
          <a:solidFill>
            <a:srgbClr val="3b82f6"/>
          </a:solidFill>
          <a:ln w="12700">
            <a:solidFill>
              <a:srgbClr val="3b82f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96" name="Text 6"/>
          <p:cNvSpPr/>
          <p:nvPr/>
        </p:nvSpPr>
        <p:spPr>
          <a:xfrm>
            <a:off x="3931920" y="1609200"/>
            <a:ext cx="86832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ffffff"/>
                </a:solidFill>
                <a:effectLst/>
                <a:uFillTx/>
                <a:latin typeface="Yu Gothic"/>
                <a:ea typeface="Yu Gothic"/>
              </a:rPr>
              <a:t>11</a:t>
            </a:r>
            <a:r>
              <a:rPr b="1" lang="zh-CN" sz="1050" strike="noStrike" u="none">
                <a:solidFill>
                  <a:srgbClr val="ffffff"/>
                </a:solidFill>
                <a:effectLst/>
                <a:uFillTx/>
                <a:latin typeface="Yu Gothic"/>
                <a:ea typeface="Yu Gothic"/>
              </a:rPr>
              <a:t>月</a:t>
            </a:r>
            <a:endParaRPr b="0" lang="en-US" sz="1050" strike="noStrike" u="none">
              <a:solidFill>
                <a:srgbClr val="000000"/>
              </a:solidFill>
              <a:effectLst/>
              <a:uFillTx/>
              <a:latin typeface="Arial"/>
            </a:endParaRPr>
          </a:p>
        </p:txBody>
      </p:sp>
      <p:sp>
        <p:nvSpPr>
          <p:cNvPr id="197" name="Shape 7"/>
          <p:cNvSpPr/>
          <p:nvPr/>
        </p:nvSpPr>
        <p:spPr>
          <a:xfrm>
            <a:off x="5001840" y="1572840"/>
            <a:ext cx="959760" cy="328680"/>
          </a:xfrm>
          <a:prstGeom prst="roundRect">
            <a:avLst>
              <a:gd name="adj" fmla="val 19444"/>
            </a:avLst>
          </a:prstGeom>
          <a:solidFill>
            <a:srgbClr val="0b1f33"/>
          </a:solidFill>
          <a:ln w="12700">
            <a:solidFill>
              <a:srgbClr val="0b1f33"/>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98" name="Text 8"/>
          <p:cNvSpPr/>
          <p:nvPr/>
        </p:nvSpPr>
        <p:spPr>
          <a:xfrm>
            <a:off x="5047560" y="1609200"/>
            <a:ext cx="86832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ffffff"/>
                </a:solidFill>
                <a:effectLst/>
                <a:uFillTx/>
                <a:latin typeface="Yu Gothic"/>
                <a:ea typeface="Yu Gothic"/>
              </a:rPr>
              <a:t>12</a:t>
            </a:r>
            <a:r>
              <a:rPr b="1" lang="zh-CN" sz="1050" strike="noStrike" u="none">
                <a:solidFill>
                  <a:srgbClr val="ffffff"/>
                </a:solidFill>
                <a:effectLst/>
                <a:uFillTx/>
                <a:latin typeface="Yu Gothic"/>
                <a:ea typeface="Yu Gothic"/>
              </a:rPr>
              <a:t>月</a:t>
            </a:r>
            <a:endParaRPr b="0" lang="en-US" sz="1050" strike="noStrike" u="none">
              <a:solidFill>
                <a:srgbClr val="000000"/>
              </a:solidFill>
              <a:effectLst/>
              <a:uFillTx/>
              <a:latin typeface="Arial"/>
            </a:endParaRPr>
          </a:p>
        </p:txBody>
      </p:sp>
      <p:sp>
        <p:nvSpPr>
          <p:cNvPr id="199" name="Text 9"/>
          <p:cNvSpPr/>
          <p:nvPr/>
        </p:nvSpPr>
        <p:spPr>
          <a:xfrm>
            <a:off x="621720" y="2084760"/>
            <a:ext cx="205704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080" strike="noStrike" u="none">
                <a:solidFill>
                  <a:srgbClr val="243b53"/>
                </a:solidFill>
                <a:effectLst/>
                <a:uFillTx/>
                <a:latin typeface="Yu Gothic"/>
                <a:ea typeface="Yu Gothic"/>
              </a:rPr>
              <a:t>基準値・計測ルール固定</a:t>
            </a:r>
            <a:endParaRPr b="0" lang="en-US" sz="1080" strike="noStrike" u="none">
              <a:solidFill>
                <a:srgbClr val="000000"/>
              </a:solidFill>
              <a:effectLst/>
              <a:uFillTx/>
              <a:latin typeface="Arial"/>
            </a:endParaRPr>
          </a:p>
        </p:txBody>
      </p:sp>
      <p:sp>
        <p:nvSpPr>
          <p:cNvPr id="200" name="Shape 10"/>
          <p:cNvSpPr/>
          <p:nvPr/>
        </p:nvSpPr>
        <p:spPr>
          <a:xfrm>
            <a:off x="2770560" y="2048400"/>
            <a:ext cx="959760" cy="310680"/>
          </a:xfrm>
          <a:prstGeom prst="roundRect">
            <a:avLst>
              <a:gd name="adj" fmla="val 11765"/>
            </a:avLst>
          </a:prstGeom>
          <a:solidFill>
            <a:srgbClr val="3b82f6"/>
          </a:solidFill>
          <a:ln w="8890">
            <a:solidFill>
              <a:srgbClr val="3b82f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01" name="Shape 11"/>
          <p:cNvSpPr/>
          <p:nvPr/>
        </p:nvSpPr>
        <p:spPr>
          <a:xfrm>
            <a:off x="3886200" y="2048400"/>
            <a:ext cx="959760" cy="310680"/>
          </a:xfrm>
          <a:prstGeom prst="roundRect">
            <a:avLst>
              <a:gd name="adj" fmla="val 11765"/>
            </a:avLst>
          </a:prstGeom>
          <a:solidFill>
            <a:srgbClr val="e9eef4">
              <a:alpha val="80000"/>
            </a:srgbClr>
          </a:solidFill>
          <a:ln w="889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02" name="Shape 12"/>
          <p:cNvSpPr/>
          <p:nvPr/>
        </p:nvSpPr>
        <p:spPr>
          <a:xfrm>
            <a:off x="5001840" y="2048400"/>
            <a:ext cx="959760" cy="310680"/>
          </a:xfrm>
          <a:prstGeom prst="roundRect">
            <a:avLst>
              <a:gd name="adj" fmla="val 11765"/>
            </a:avLst>
          </a:prstGeom>
          <a:solidFill>
            <a:srgbClr val="e9eef4">
              <a:alpha val="80000"/>
            </a:srgbClr>
          </a:solidFill>
          <a:ln w="889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03" name="Text 13"/>
          <p:cNvSpPr/>
          <p:nvPr/>
        </p:nvSpPr>
        <p:spPr>
          <a:xfrm>
            <a:off x="621720" y="2551320"/>
            <a:ext cx="205704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080" strike="noStrike" u="none">
                <a:solidFill>
                  <a:srgbClr val="243b53"/>
                </a:solidFill>
                <a:effectLst/>
                <a:uFillTx/>
                <a:latin typeface="Yu Gothic"/>
                <a:ea typeface="Yu Gothic"/>
              </a:rPr>
              <a:t>代表ユースケース選定</a:t>
            </a:r>
            <a:endParaRPr b="0" lang="en-US" sz="1080" strike="noStrike" u="none">
              <a:solidFill>
                <a:srgbClr val="000000"/>
              </a:solidFill>
              <a:effectLst/>
              <a:uFillTx/>
              <a:latin typeface="Arial"/>
            </a:endParaRPr>
          </a:p>
        </p:txBody>
      </p:sp>
      <p:sp>
        <p:nvSpPr>
          <p:cNvPr id="204" name="Shape 14"/>
          <p:cNvSpPr/>
          <p:nvPr/>
        </p:nvSpPr>
        <p:spPr>
          <a:xfrm>
            <a:off x="2770560" y="2514600"/>
            <a:ext cx="959760" cy="310680"/>
          </a:xfrm>
          <a:prstGeom prst="roundRect">
            <a:avLst>
              <a:gd name="adj" fmla="val 11765"/>
            </a:avLst>
          </a:prstGeom>
          <a:solidFill>
            <a:srgbClr val="3b82f6"/>
          </a:solidFill>
          <a:ln w="8890">
            <a:solidFill>
              <a:srgbClr val="3b82f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05" name="Shape 15"/>
          <p:cNvSpPr/>
          <p:nvPr/>
        </p:nvSpPr>
        <p:spPr>
          <a:xfrm>
            <a:off x="3886200" y="2514600"/>
            <a:ext cx="959760" cy="310680"/>
          </a:xfrm>
          <a:prstGeom prst="roundRect">
            <a:avLst>
              <a:gd name="adj" fmla="val 11765"/>
            </a:avLst>
          </a:prstGeom>
          <a:solidFill>
            <a:srgbClr val="3b82f6"/>
          </a:solidFill>
          <a:ln w="8890">
            <a:solidFill>
              <a:srgbClr val="3b82f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06" name="Shape 16"/>
          <p:cNvSpPr/>
          <p:nvPr/>
        </p:nvSpPr>
        <p:spPr>
          <a:xfrm>
            <a:off x="5001840" y="2514600"/>
            <a:ext cx="959760" cy="310680"/>
          </a:xfrm>
          <a:prstGeom prst="roundRect">
            <a:avLst>
              <a:gd name="adj" fmla="val 11765"/>
            </a:avLst>
          </a:prstGeom>
          <a:solidFill>
            <a:srgbClr val="e9eef4">
              <a:alpha val="80000"/>
            </a:srgbClr>
          </a:solidFill>
          <a:ln w="889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07" name="Text 17"/>
          <p:cNvSpPr/>
          <p:nvPr/>
        </p:nvSpPr>
        <p:spPr>
          <a:xfrm>
            <a:off x="621720" y="3017520"/>
            <a:ext cx="205704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80" strike="noStrike" u="none">
                <a:solidFill>
                  <a:srgbClr val="243b53"/>
                </a:solidFill>
                <a:effectLst/>
                <a:uFillTx/>
                <a:latin typeface="Yu Gothic"/>
                <a:ea typeface="Yu Gothic"/>
              </a:rPr>
              <a:t>AI</a:t>
            </a:r>
            <a:r>
              <a:rPr b="0" lang="zh-CN" sz="1080" strike="noStrike" u="none">
                <a:solidFill>
                  <a:srgbClr val="243b53"/>
                </a:solidFill>
                <a:effectLst/>
                <a:uFillTx/>
                <a:latin typeface="Yu Gothic"/>
                <a:ea typeface="Yu Gothic"/>
              </a:rPr>
              <a:t>開発ハーネス構築</a:t>
            </a:r>
            <a:endParaRPr b="0" lang="en-US" sz="1080" strike="noStrike" u="none">
              <a:solidFill>
                <a:srgbClr val="000000"/>
              </a:solidFill>
              <a:effectLst/>
              <a:uFillTx/>
              <a:latin typeface="Arial"/>
            </a:endParaRPr>
          </a:p>
        </p:txBody>
      </p:sp>
      <p:sp>
        <p:nvSpPr>
          <p:cNvPr id="208" name="Shape 18"/>
          <p:cNvSpPr/>
          <p:nvPr/>
        </p:nvSpPr>
        <p:spPr>
          <a:xfrm>
            <a:off x="2770560" y="2980800"/>
            <a:ext cx="959760" cy="310680"/>
          </a:xfrm>
          <a:prstGeom prst="roundRect">
            <a:avLst>
              <a:gd name="adj" fmla="val 11765"/>
            </a:avLst>
          </a:prstGeom>
          <a:solidFill>
            <a:srgbClr val="3b82f6"/>
          </a:solidFill>
          <a:ln w="8890">
            <a:solidFill>
              <a:srgbClr val="3b82f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09" name="Shape 19"/>
          <p:cNvSpPr/>
          <p:nvPr/>
        </p:nvSpPr>
        <p:spPr>
          <a:xfrm>
            <a:off x="3886200" y="2980800"/>
            <a:ext cx="959760" cy="310680"/>
          </a:xfrm>
          <a:prstGeom prst="roundRect">
            <a:avLst>
              <a:gd name="adj" fmla="val 11765"/>
            </a:avLst>
          </a:prstGeom>
          <a:solidFill>
            <a:srgbClr val="3b82f6"/>
          </a:solidFill>
          <a:ln w="8890">
            <a:solidFill>
              <a:srgbClr val="3b82f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10" name="Shape 20"/>
          <p:cNvSpPr/>
          <p:nvPr/>
        </p:nvSpPr>
        <p:spPr>
          <a:xfrm>
            <a:off x="5001840" y="2980800"/>
            <a:ext cx="959760" cy="310680"/>
          </a:xfrm>
          <a:prstGeom prst="roundRect">
            <a:avLst>
              <a:gd name="adj" fmla="val 11765"/>
            </a:avLst>
          </a:prstGeom>
          <a:solidFill>
            <a:srgbClr val="0b1f33"/>
          </a:solidFill>
          <a:ln w="8890">
            <a:solidFill>
              <a:srgbClr val="0b1f33"/>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11" name="Text 21"/>
          <p:cNvSpPr/>
          <p:nvPr/>
        </p:nvSpPr>
        <p:spPr>
          <a:xfrm>
            <a:off x="621720" y="3483720"/>
            <a:ext cx="205704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080" strike="noStrike" u="none">
                <a:solidFill>
                  <a:srgbClr val="243b53"/>
                </a:solidFill>
                <a:effectLst/>
                <a:uFillTx/>
                <a:latin typeface="Yu Gothic"/>
                <a:ea typeface="Yu Gothic"/>
              </a:rPr>
              <a:t>同一案件を並行実行</a:t>
            </a:r>
            <a:endParaRPr b="0" lang="en-US" sz="1080" strike="noStrike" u="none">
              <a:solidFill>
                <a:srgbClr val="000000"/>
              </a:solidFill>
              <a:effectLst/>
              <a:uFillTx/>
              <a:latin typeface="Arial"/>
            </a:endParaRPr>
          </a:p>
        </p:txBody>
      </p:sp>
      <p:sp>
        <p:nvSpPr>
          <p:cNvPr id="212" name="Shape 22"/>
          <p:cNvSpPr/>
          <p:nvPr/>
        </p:nvSpPr>
        <p:spPr>
          <a:xfrm>
            <a:off x="2770560" y="3447360"/>
            <a:ext cx="959760" cy="310680"/>
          </a:xfrm>
          <a:prstGeom prst="roundRect">
            <a:avLst>
              <a:gd name="adj" fmla="val 11765"/>
            </a:avLst>
          </a:prstGeom>
          <a:solidFill>
            <a:srgbClr val="3b82f6"/>
          </a:solidFill>
          <a:ln w="8890">
            <a:solidFill>
              <a:srgbClr val="3b82f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13" name="Shape 23"/>
          <p:cNvSpPr/>
          <p:nvPr/>
        </p:nvSpPr>
        <p:spPr>
          <a:xfrm>
            <a:off x="3886200" y="3447360"/>
            <a:ext cx="959760" cy="310680"/>
          </a:xfrm>
          <a:prstGeom prst="roundRect">
            <a:avLst>
              <a:gd name="adj" fmla="val 11765"/>
            </a:avLst>
          </a:prstGeom>
          <a:solidFill>
            <a:srgbClr val="3b82f6"/>
          </a:solidFill>
          <a:ln w="8890">
            <a:solidFill>
              <a:srgbClr val="3b82f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14" name="Shape 24"/>
          <p:cNvSpPr/>
          <p:nvPr/>
        </p:nvSpPr>
        <p:spPr>
          <a:xfrm>
            <a:off x="5001840" y="3447360"/>
            <a:ext cx="959760" cy="310680"/>
          </a:xfrm>
          <a:prstGeom prst="roundRect">
            <a:avLst>
              <a:gd name="adj" fmla="val 11765"/>
            </a:avLst>
          </a:prstGeom>
          <a:solidFill>
            <a:srgbClr val="e9eef4">
              <a:alpha val="80000"/>
            </a:srgbClr>
          </a:solidFill>
          <a:ln w="889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5" name="Text 25"/>
          <p:cNvSpPr/>
          <p:nvPr/>
        </p:nvSpPr>
        <p:spPr>
          <a:xfrm>
            <a:off x="621720" y="3950280"/>
            <a:ext cx="205704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080" strike="noStrike" u="none">
                <a:solidFill>
                  <a:srgbClr val="243b53"/>
                </a:solidFill>
                <a:effectLst/>
                <a:uFillTx/>
                <a:latin typeface="Yu Gothic"/>
                <a:ea typeface="Yu Gothic"/>
              </a:rPr>
              <a:t>シャドー検証を拡大</a:t>
            </a:r>
            <a:endParaRPr b="0" lang="en-US" sz="1080" strike="noStrike" u="none">
              <a:solidFill>
                <a:srgbClr val="000000"/>
              </a:solidFill>
              <a:effectLst/>
              <a:uFillTx/>
              <a:latin typeface="Arial"/>
            </a:endParaRPr>
          </a:p>
        </p:txBody>
      </p:sp>
      <p:sp>
        <p:nvSpPr>
          <p:cNvPr id="216" name="Shape 26"/>
          <p:cNvSpPr/>
          <p:nvPr/>
        </p:nvSpPr>
        <p:spPr>
          <a:xfrm>
            <a:off x="2770560" y="3913560"/>
            <a:ext cx="959760" cy="310680"/>
          </a:xfrm>
          <a:prstGeom prst="roundRect">
            <a:avLst>
              <a:gd name="adj" fmla="val 11765"/>
            </a:avLst>
          </a:prstGeom>
          <a:solidFill>
            <a:srgbClr val="e9eef4">
              <a:alpha val="80000"/>
            </a:srgbClr>
          </a:solidFill>
          <a:ln w="889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7" name="Shape 27"/>
          <p:cNvSpPr/>
          <p:nvPr/>
        </p:nvSpPr>
        <p:spPr>
          <a:xfrm>
            <a:off x="3886200" y="3913560"/>
            <a:ext cx="959760" cy="310680"/>
          </a:xfrm>
          <a:prstGeom prst="roundRect">
            <a:avLst>
              <a:gd name="adj" fmla="val 11765"/>
            </a:avLst>
          </a:prstGeom>
          <a:solidFill>
            <a:srgbClr val="3b82f6"/>
          </a:solidFill>
          <a:ln w="8890">
            <a:solidFill>
              <a:srgbClr val="3b82f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18" name="Shape 28"/>
          <p:cNvSpPr/>
          <p:nvPr/>
        </p:nvSpPr>
        <p:spPr>
          <a:xfrm>
            <a:off x="5001840" y="3913560"/>
            <a:ext cx="959760" cy="310680"/>
          </a:xfrm>
          <a:prstGeom prst="roundRect">
            <a:avLst>
              <a:gd name="adj" fmla="val 11765"/>
            </a:avLst>
          </a:prstGeom>
          <a:solidFill>
            <a:srgbClr val="0b1f33"/>
          </a:solidFill>
          <a:ln w="8890">
            <a:solidFill>
              <a:srgbClr val="0b1f33"/>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19" name="Text 29"/>
          <p:cNvSpPr/>
          <p:nvPr/>
        </p:nvSpPr>
        <p:spPr>
          <a:xfrm>
            <a:off x="621720" y="4416480"/>
            <a:ext cx="205704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080" strike="noStrike" u="none">
                <a:solidFill>
                  <a:srgbClr val="243b53"/>
                </a:solidFill>
                <a:effectLst/>
                <a:uFillTx/>
                <a:latin typeface="Yu Gothic"/>
                <a:ea typeface="Yu Gothic"/>
              </a:rPr>
              <a:t>効果測定・原因分析</a:t>
            </a:r>
            <a:endParaRPr b="0" lang="en-US" sz="1080" strike="noStrike" u="none">
              <a:solidFill>
                <a:srgbClr val="000000"/>
              </a:solidFill>
              <a:effectLst/>
              <a:uFillTx/>
              <a:latin typeface="Arial"/>
            </a:endParaRPr>
          </a:p>
        </p:txBody>
      </p:sp>
      <p:sp>
        <p:nvSpPr>
          <p:cNvPr id="220" name="Shape 30"/>
          <p:cNvSpPr/>
          <p:nvPr/>
        </p:nvSpPr>
        <p:spPr>
          <a:xfrm>
            <a:off x="2770560" y="4380120"/>
            <a:ext cx="959760" cy="310680"/>
          </a:xfrm>
          <a:prstGeom prst="roundRect">
            <a:avLst>
              <a:gd name="adj" fmla="val 11765"/>
            </a:avLst>
          </a:prstGeom>
          <a:solidFill>
            <a:srgbClr val="e9eef4">
              <a:alpha val="80000"/>
            </a:srgbClr>
          </a:solidFill>
          <a:ln w="889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21" name="Shape 31"/>
          <p:cNvSpPr/>
          <p:nvPr/>
        </p:nvSpPr>
        <p:spPr>
          <a:xfrm>
            <a:off x="3886200" y="4380120"/>
            <a:ext cx="959760" cy="310680"/>
          </a:xfrm>
          <a:prstGeom prst="roundRect">
            <a:avLst>
              <a:gd name="adj" fmla="val 11765"/>
            </a:avLst>
          </a:prstGeom>
          <a:solidFill>
            <a:srgbClr val="3b82f6"/>
          </a:solidFill>
          <a:ln w="8890">
            <a:solidFill>
              <a:srgbClr val="3b82f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22" name="Shape 32"/>
          <p:cNvSpPr/>
          <p:nvPr/>
        </p:nvSpPr>
        <p:spPr>
          <a:xfrm>
            <a:off x="5001840" y="4380120"/>
            <a:ext cx="959760" cy="310680"/>
          </a:xfrm>
          <a:prstGeom prst="roundRect">
            <a:avLst>
              <a:gd name="adj" fmla="val 11765"/>
            </a:avLst>
          </a:prstGeom>
          <a:solidFill>
            <a:srgbClr val="0b1f33"/>
          </a:solidFill>
          <a:ln w="8890">
            <a:solidFill>
              <a:srgbClr val="0b1f33"/>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23" name="Text 33"/>
          <p:cNvSpPr/>
          <p:nvPr/>
        </p:nvSpPr>
        <p:spPr>
          <a:xfrm>
            <a:off x="621720" y="4883040"/>
            <a:ext cx="205704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080" strike="noStrike" u="none">
                <a:solidFill>
                  <a:srgbClr val="243b53"/>
                </a:solidFill>
                <a:effectLst/>
                <a:uFillTx/>
                <a:latin typeface="Yu Gothic"/>
                <a:ea typeface="Yu Gothic"/>
              </a:rPr>
              <a:t>標準手順・再現性確立</a:t>
            </a:r>
            <a:endParaRPr b="0" lang="en-US" sz="1080" strike="noStrike" u="none">
              <a:solidFill>
                <a:srgbClr val="000000"/>
              </a:solidFill>
              <a:effectLst/>
              <a:uFillTx/>
              <a:latin typeface="Arial"/>
            </a:endParaRPr>
          </a:p>
        </p:txBody>
      </p:sp>
      <p:sp>
        <p:nvSpPr>
          <p:cNvPr id="224" name="Shape 34"/>
          <p:cNvSpPr/>
          <p:nvPr/>
        </p:nvSpPr>
        <p:spPr>
          <a:xfrm>
            <a:off x="2770560" y="4846320"/>
            <a:ext cx="959760" cy="310680"/>
          </a:xfrm>
          <a:prstGeom prst="roundRect">
            <a:avLst>
              <a:gd name="adj" fmla="val 11765"/>
            </a:avLst>
          </a:prstGeom>
          <a:solidFill>
            <a:srgbClr val="e9eef4">
              <a:alpha val="80000"/>
            </a:srgbClr>
          </a:solidFill>
          <a:ln w="889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25" name="Shape 35"/>
          <p:cNvSpPr/>
          <p:nvPr/>
        </p:nvSpPr>
        <p:spPr>
          <a:xfrm>
            <a:off x="3886200" y="4846320"/>
            <a:ext cx="959760" cy="310680"/>
          </a:xfrm>
          <a:prstGeom prst="roundRect">
            <a:avLst>
              <a:gd name="adj" fmla="val 11765"/>
            </a:avLst>
          </a:prstGeom>
          <a:solidFill>
            <a:srgbClr val="e9eef4">
              <a:alpha val="80000"/>
            </a:srgbClr>
          </a:solidFill>
          <a:ln w="889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26" name="Shape 36"/>
          <p:cNvSpPr/>
          <p:nvPr/>
        </p:nvSpPr>
        <p:spPr>
          <a:xfrm>
            <a:off x="5001840" y="4846320"/>
            <a:ext cx="959760" cy="310680"/>
          </a:xfrm>
          <a:prstGeom prst="roundRect">
            <a:avLst>
              <a:gd name="adj" fmla="val 11765"/>
            </a:avLst>
          </a:prstGeom>
          <a:solidFill>
            <a:srgbClr val="0b1f33"/>
          </a:solidFill>
          <a:ln w="8890">
            <a:solidFill>
              <a:srgbClr val="0b1f33"/>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27" name="Text 37"/>
          <p:cNvSpPr/>
          <p:nvPr/>
        </p:nvSpPr>
        <p:spPr>
          <a:xfrm>
            <a:off x="6400800" y="1143000"/>
            <a:ext cx="507456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0b1f33"/>
                </a:solidFill>
                <a:effectLst/>
                <a:uFillTx/>
                <a:latin typeface="Yu Gothic"/>
                <a:ea typeface="Yu Gothic"/>
              </a:rPr>
              <a:t>AI</a:t>
            </a:r>
            <a:r>
              <a:rPr b="1" lang="zh-CN" sz="1700" strike="noStrike" u="none">
                <a:solidFill>
                  <a:srgbClr val="0b1f33"/>
                </a:solidFill>
                <a:effectLst/>
                <a:uFillTx/>
                <a:latin typeface="Yu Gothic"/>
                <a:ea typeface="Yu Gothic"/>
              </a:rPr>
              <a:t>開発ハーネスで標準化する範囲</a:t>
            </a:r>
            <a:endParaRPr b="0" lang="en-US" sz="1700" strike="noStrike" u="none">
              <a:solidFill>
                <a:srgbClr val="000000"/>
              </a:solidFill>
              <a:effectLst/>
              <a:uFillTx/>
              <a:latin typeface="Arial"/>
            </a:endParaRPr>
          </a:p>
        </p:txBody>
      </p:sp>
      <p:sp>
        <p:nvSpPr>
          <p:cNvPr id="228" name="Shape 38"/>
          <p:cNvSpPr/>
          <p:nvPr/>
        </p:nvSpPr>
        <p:spPr>
          <a:xfrm>
            <a:off x="6419160" y="1627560"/>
            <a:ext cx="2239920" cy="712800"/>
          </a:xfrm>
          <a:prstGeom prst="roundRect">
            <a:avLst>
              <a:gd name="adj" fmla="val 8974"/>
            </a:avLst>
          </a:prstGeom>
          <a:solidFill>
            <a:srgbClr val="ffffff"/>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29" name="Shape 39"/>
          <p:cNvSpPr/>
          <p:nvPr/>
        </p:nvSpPr>
        <p:spPr>
          <a:xfrm>
            <a:off x="6419160" y="1627560"/>
            <a:ext cx="63720" cy="712800"/>
          </a:xfrm>
          <a:prstGeom prst="rect">
            <a:avLst/>
          </a:prstGeom>
          <a:solidFill>
            <a:srgbClr val="1b6fd1"/>
          </a:solidFill>
          <a:ln w="12700">
            <a:solidFill>
              <a:srgbClr val="1b6fd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30" name="Text 40"/>
          <p:cNvSpPr/>
          <p:nvPr/>
        </p:nvSpPr>
        <p:spPr>
          <a:xfrm>
            <a:off x="6583680" y="1774080"/>
            <a:ext cx="191988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zh-CN" sz="1500" strike="noStrike" u="none">
                <a:solidFill>
                  <a:srgbClr val="0b1f33"/>
                </a:solidFill>
                <a:effectLst/>
                <a:uFillTx/>
                <a:latin typeface="Yu Gothic"/>
                <a:ea typeface="Yu Gothic"/>
              </a:rPr>
              <a:t>参照情報</a:t>
            </a:r>
            <a:endParaRPr b="0" lang="en-US" sz="1500" strike="noStrike" u="none">
              <a:solidFill>
                <a:srgbClr val="000000"/>
              </a:solidFill>
              <a:effectLst/>
              <a:uFillTx/>
              <a:latin typeface="Arial"/>
            </a:endParaRPr>
          </a:p>
        </p:txBody>
      </p:sp>
      <p:sp>
        <p:nvSpPr>
          <p:cNvPr id="231" name="Text 41"/>
          <p:cNvSpPr/>
          <p:nvPr/>
        </p:nvSpPr>
        <p:spPr>
          <a:xfrm>
            <a:off x="6583680" y="2167200"/>
            <a:ext cx="1919880" cy="27000"/>
          </a:xfrm>
          <a:prstGeom prst="rect">
            <a:avLst/>
          </a:prstGeom>
          <a:noFill/>
          <a:ln w="0">
            <a:noFill/>
          </a:ln>
        </p:spPr>
        <p:style>
          <a:lnRef idx="0"/>
          <a:fillRef idx="0"/>
          <a:effectRef idx="0"/>
          <a:fontRef idx="minor"/>
        </p:style>
        <p:txBody>
          <a:bodyPr lIns="360" rIns="360" tIns="360" bIns="360" anchor="t">
            <a:normAutofit fontScale="25000" lnSpcReduction="19999"/>
          </a:bodyPr>
          <a:p>
            <a:pPr defTabSz="914400">
              <a:lnSpc>
                <a:spcPct val="100000"/>
              </a:lnSpc>
              <a:tabLst>
                <a:tab algn="l" pos="0"/>
              </a:tabLst>
            </a:pPr>
            <a:r>
              <a:rPr b="0" lang="zh-CN" sz="1150" strike="noStrike" u="none">
                <a:solidFill>
                  <a:srgbClr val="243b53"/>
                </a:solidFill>
                <a:effectLst/>
                <a:uFillTx/>
                <a:latin typeface="Yu Gothic"/>
                <a:ea typeface="Yu Gothic"/>
              </a:rPr>
              <a:t>仕様・設計・ソース・テストを案件単位で収集</a:t>
            </a:r>
            <a:endParaRPr b="0" lang="en-US" sz="1150" strike="noStrike" u="none">
              <a:solidFill>
                <a:srgbClr val="000000"/>
              </a:solidFill>
              <a:effectLst/>
              <a:uFillTx/>
              <a:latin typeface="Arial"/>
            </a:endParaRPr>
          </a:p>
        </p:txBody>
      </p:sp>
      <p:sp>
        <p:nvSpPr>
          <p:cNvPr id="232" name="Shape 42"/>
          <p:cNvSpPr/>
          <p:nvPr/>
        </p:nvSpPr>
        <p:spPr>
          <a:xfrm>
            <a:off x="8906400" y="1627560"/>
            <a:ext cx="2239920" cy="712800"/>
          </a:xfrm>
          <a:prstGeom prst="roundRect">
            <a:avLst>
              <a:gd name="adj" fmla="val 8974"/>
            </a:avLst>
          </a:prstGeom>
          <a:solidFill>
            <a:srgbClr val="ffffff"/>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33" name="Shape 43"/>
          <p:cNvSpPr/>
          <p:nvPr/>
        </p:nvSpPr>
        <p:spPr>
          <a:xfrm>
            <a:off x="8906400" y="1627560"/>
            <a:ext cx="63720" cy="712800"/>
          </a:xfrm>
          <a:prstGeom prst="rect">
            <a:avLst/>
          </a:prstGeom>
          <a:solidFill>
            <a:srgbClr val="0f9d8a"/>
          </a:solidFill>
          <a:ln w="12700">
            <a:solidFill>
              <a:srgbClr val="0f9d8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34" name="Text 44"/>
          <p:cNvSpPr/>
          <p:nvPr/>
        </p:nvSpPr>
        <p:spPr>
          <a:xfrm>
            <a:off x="9070920" y="1774080"/>
            <a:ext cx="191988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zh-CN" sz="1500" strike="noStrike" u="none">
                <a:solidFill>
                  <a:srgbClr val="0b1f33"/>
                </a:solidFill>
                <a:effectLst/>
                <a:uFillTx/>
                <a:latin typeface="Yu Gothic"/>
                <a:ea typeface="Yu Gothic"/>
              </a:rPr>
              <a:t>作業フロー</a:t>
            </a:r>
            <a:endParaRPr b="0" lang="en-US" sz="1500" strike="noStrike" u="none">
              <a:solidFill>
                <a:srgbClr val="000000"/>
              </a:solidFill>
              <a:effectLst/>
              <a:uFillTx/>
              <a:latin typeface="Arial"/>
            </a:endParaRPr>
          </a:p>
        </p:txBody>
      </p:sp>
      <p:sp>
        <p:nvSpPr>
          <p:cNvPr id="235" name="Text 45"/>
          <p:cNvSpPr/>
          <p:nvPr/>
        </p:nvSpPr>
        <p:spPr>
          <a:xfrm>
            <a:off x="9070920" y="2167200"/>
            <a:ext cx="1919880" cy="27000"/>
          </a:xfrm>
          <a:prstGeom prst="rect">
            <a:avLst/>
          </a:prstGeom>
          <a:noFill/>
          <a:ln w="0">
            <a:noFill/>
          </a:ln>
        </p:spPr>
        <p:style>
          <a:lnRef idx="0"/>
          <a:fillRef idx="0"/>
          <a:effectRef idx="0"/>
          <a:fontRef idx="minor"/>
        </p:style>
        <p:txBody>
          <a:bodyPr lIns="360" rIns="360" tIns="360" bIns="360" anchor="t">
            <a:normAutofit fontScale="25000" lnSpcReduction="19999"/>
          </a:bodyPr>
          <a:p>
            <a:pPr defTabSz="914400">
              <a:lnSpc>
                <a:spcPct val="100000"/>
              </a:lnSpc>
              <a:tabLst>
                <a:tab algn="l" pos="0"/>
              </a:tabLst>
            </a:pPr>
            <a:r>
              <a:rPr b="0" lang="zh-CN" sz="1150" strike="noStrike" u="none">
                <a:solidFill>
                  <a:srgbClr val="243b53"/>
                </a:solidFill>
                <a:effectLst/>
                <a:uFillTx/>
                <a:latin typeface="Yu Gothic"/>
                <a:ea typeface="Yu Gothic"/>
              </a:rPr>
              <a:t>影響調査→設計→実装→試験→レビューを制御</a:t>
            </a:r>
            <a:endParaRPr b="0" lang="en-US" sz="1150" strike="noStrike" u="none">
              <a:solidFill>
                <a:srgbClr val="000000"/>
              </a:solidFill>
              <a:effectLst/>
              <a:uFillTx/>
              <a:latin typeface="Arial"/>
            </a:endParaRPr>
          </a:p>
        </p:txBody>
      </p:sp>
      <p:sp>
        <p:nvSpPr>
          <p:cNvPr id="236" name="Shape 46"/>
          <p:cNvSpPr/>
          <p:nvPr/>
        </p:nvSpPr>
        <p:spPr>
          <a:xfrm>
            <a:off x="6419160" y="2615040"/>
            <a:ext cx="2239920" cy="712800"/>
          </a:xfrm>
          <a:prstGeom prst="roundRect">
            <a:avLst>
              <a:gd name="adj" fmla="val 8974"/>
            </a:avLst>
          </a:prstGeom>
          <a:solidFill>
            <a:srgbClr val="ffffff"/>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37" name="Shape 47"/>
          <p:cNvSpPr/>
          <p:nvPr/>
        </p:nvSpPr>
        <p:spPr>
          <a:xfrm>
            <a:off x="6419160" y="2615040"/>
            <a:ext cx="63720" cy="71280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38" name="Text 48"/>
          <p:cNvSpPr/>
          <p:nvPr/>
        </p:nvSpPr>
        <p:spPr>
          <a:xfrm>
            <a:off x="6583680" y="2761560"/>
            <a:ext cx="191988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zh-CN" sz="1500" strike="noStrike" u="none">
                <a:solidFill>
                  <a:srgbClr val="0b1f33"/>
                </a:solidFill>
                <a:effectLst/>
                <a:uFillTx/>
                <a:latin typeface="Yu Gothic"/>
                <a:ea typeface="Yu Gothic"/>
              </a:rPr>
              <a:t>品質ゲート</a:t>
            </a:r>
            <a:endParaRPr b="0" lang="en-US" sz="1500" strike="noStrike" u="none">
              <a:solidFill>
                <a:srgbClr val="000000"/>
              </a:solidFill>
              <a:effectLst/>
              <a:uFillTx/>
              <a:latin typeface="Arial"/>
            </a:endParaRPr>
          </a:p>
        </p:txBody>
      </p:sp>
      <p:sp>
        <p:nvSpPr>
          <p:cNvPr id="239" name="Text 49"/>
          <p:cNvSpPr/>
          <p:nvPr/>
        </p:nvSpPr>
        <p:spPr>
          <a:xfrm>
            <a:off x="6583680" y="3154680"/>
            <a:ext cx="1919880" cy="27000"/>
          </a:xfrm>
          <a:prstGeom prst="rect">
            <a:avLst/>
          </a:prstGeom>
          <a:noFill/>
          <a:ln w="0">
            <a:noFill/>
          </a:ln>
        </p:spPr>
        <p:style>
          <a:lnRef idx="0"/>
          <a:fillRef idx="0"/>
          <a:effectRef idx="0"/>
          <a:fontRef idx="minor"/>
        </p:style>
        <p:txBody>
          <a:bodyPr lIns="360" rIns="360" tIns="360" bIns="360" anchor="t">
            <a:normAutofit fontScale="25000" lnSpcReduction="19999"/>
          </a:bodyPr>
          <a:p>
            <a:pPr defTabSz="914400">
              <a:lnSpc>
                <a:spcPct val="100000"/>
              </a:lnSpc>
              <a:tabLst>
                <a:tab algn="l" pos="0"/>
              </a:tabLst>
            </a:pPr>
            <a:r>
              <a:rPr b="0" lang="zh-CN" sz="1150" strike="noStrike" u="none">
                <a:solidFill>
                  <a:srgbClr val="243b53"/>
                </a:solidFill>
                <a:effectLst/>
                <a:uFillTx/>
                <a:latin typeface="Yu Gothic"/>
                <a:ea typeface="Yu Gothic"/>
              </a:rPr>
              <a:t>必須検査・人レビュー・回帰試験・受入判定</a:t>
            </a:r>
            <a:endParaRPr b="0" lang="en-US" sz="1150" strike="noStrike" u="none">
              <a:solidFill>
                <a:srgbClr val="000000"/>
              </a:solidFill>
              <a:effectLst/>
              <a:uFillTx/>
              <a:latin typeface="Arial"/>
            </a:endParaRPr>
          </a:p>
        </p:txBody>
      </p:sp>
      <p:sp>
        <p:nvSpPr>
          <p:cNvPr id="240" name="Shape 50"/>
          <p:cNvSpPr/>
          <p:nvPr/>
        </p:nvSpPr>
        <p:spPr>
          <a:xfrm>
            <a:off x="8906400" y="2615040"/>
            <a:ext cx="2239920" cy="712800"/>
          </a:xfrm>
          <a:prstGeom prst="roundRect">
            <a:avLst>
              <a:gd name="adj" fmla="val 8974"/>
            </a:avLst>
          </a:prstGeom>
          <a:solidFill>
            <a:srgbClr val="ffffff"/>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41" name="Shape 51"/>
          <p:cNvSpPr/>
          <p:nvPr/>
        </p:nvSpPr>
        <p:spPr>
          <a:xfrm>
            <a:off x="8906400" y="2615040"/>
            <a:ext cx="63720" cy="712800"/>
          </a:xfrm>
          <a:prstGeom prst="rect">
            <a:avLst/>
          </a:prstGeom>
          <a:solidFill>
            <a:srgbClr val="0b1f33"/>
          </a:solidFill>
          <a:ln w="12700">
            <a:solidFill>
              <a:srgbClr val="0b1f33"/>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42" name="Text 52"/>
          <p:cNvSpPr/>
          <p:nvPr/>
        </p:nvSpPr>
        <p:spPr>
          <a:xfrm>
            <a:off x="9070920" y="2761560"/>
            <a:ext cx="191988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zh-CN" sz="1500" strike="noStrike" u="none">
                <a:solidFill>
                  <a:srgbClr val="0b1f33"/>
                </a:solidFill>
                <a:effectLst/>
                <a:uFillTx/>
                <a:latin typeface="Yu Gothic"/>
                <a:ea typeface="Yu Gothic"/>
              </a:rPr>
              <a:t>証跡・再現</a:t>
            </a:r>
            <a:endParaRPr b="0" lang="en-US" sz="1500" strike="noStrike" u="none">
              <a:solidFill>
                <a:srgbClr val="000000"/>
              </a:solidFill>
              <a:effectLst/>
              <a:uFillTx/>
              <a:latin typeface="Arial"/>
            </a:endParaRPr>
          </a:p>
        </p:txBody>
      </p:sp>
      <p:sp>
        <p:nvSpPr>
          <p:cNvPr id="243" name="Text 53"/>
          <p:cNvSpPr/>
          <p:nvPr/>
        </p:nvSpPr>
        <p:spPr>
          <a:xfrm>
            <a:off x="9070920" y="3154680"/>
            <a:ext cx="1919880" cy="27000"/>
          </a:xfrm>
          <a:prstGeom prst="rect">
            <a:avLst/>
          </a:prstGeom>
          <a:noFill/>
          <a:ln w="0">
            <a:noFill/>
          </a:ln>
        </p:spPr>
        <p:style>
          <a:lnRef idx="0"/>
          <a:fillRef idx="0"/>
          <a:effectRef idx="0"/>
          <a:fontRef idx="minor"/>
        </p:style>
        <p:txBody>
          <a:bodyPr lIns="360" rIns="360" tIns="360" bIns="360" anchor="t">
            <a:normAutofit fontScale="25000" lnSpcReduction="19999"/>
          </a:bodyPr>
          <a:p>
            <a:pPr defTabSz="914400">
              <a:lnSpc>
                <a:spcPct val="100000"/>
              </a:lnSpc>
              <a:tabLst>
                <a:tab algn="l" pos="0"/>
              </a:tabLst>
            </a:pPr>
            <a:r>
              <a:rPr b="0" lang="zh-CN" sz="1150" strike="noStrike" u="none">
                <a:solidFill>
                  <a:srgbClr val="243b53"/>
                </a:solidFill>
                <a:effectLst/>
                <a:uFillTx/>
                <a:latin typeface="Yu Gothic"/>
                <a:ea typeface="Yu Gothic"/>
              </a:rPr>
              <a:t>入力・判断・差分・結果を追跡できる形で記録</a:t>
            </a:r>
            <a:endParaRPr b="0" lang="en-US" sz="1150" strike="noStrike" u="none">
              <a:solidFill>
                <a:srgbClr val="000000"/>
              </a:solidFill>
              <a:effectLst/>
              <a:uFillTx/>
              <a:latin typeface="Arial"/>
            </a:endParaRPr>
          </a:p>
        </p:txBody>
      </p:sp>
      <p:sp>
        <p:nvSpPr>
          <p:cNvPr id="244" name="Shape 54"/>
          <p:cNvSpPr/>
          <p:nvPr/>
        </p:nvSpPr>
        <p:spPr>
          <a:xfrm>
            <a:off x="6428160" y="3721680"/>
            <a:ext cx="4708800" cy="1444320"/>
          </a:xfrm>
          <a:prstGeom prst="roundRect">
            <a:avLst>
              <a:gd name="adj" fmla="val 3797"/>
            </a:avLst>
          </a:prstGeom>
          <a:solidFill>
            <a:srgbClr val="f0f5fa"/>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45" name="Text 55"/>
          <p:cNvSpPr/>
          <p:nvPr/>
        </p:nvSpPr>
        <p:spPr>
          <a:xfrm>
            <a:off x="6656760" y="3886200"/>
            <a:ext cx="21027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trike="noStrike" u="none">
                <a:solidFill>
                  <a:srgbClr val="0b1f33"/>
                </a:solidFill>
                <a:effectLst/>
                <a:uFillTx/>
                <a:latin typeface="Yu Gothic"/>
                <a:ea typeface="Yu Gothic"/>
              </a:rPr>
              <a:t>12</a:t>
            </a:r>
            <a:r>
              <a:rPr b="1" lang="zh-CN" sz="1500" strike="noStrike" u="none">
                <a:solidFill>
                  <a:srgbClr val="0b1f33"/>
                </a:solidFill>
                <a:effectLst/>
                <a:uFillTx/>
                <a:latin typeface="Yu Gothic"/>
                <a:ea typeface="Yu Gothic"/>
              </a:rPr>
              <a:t>月 </a:t>
            </a:r>
            <a:r>
              <a:rPr b="1" lang="en-US" sz="1500" strike="noStrike" u="none">
                <a:solidFill>
                  <a:srgbClr val="0b1f33"/>
                </a:solidFill>
                <a:effectLst/>
                <a:uFillTx/>
                <a:latin typeface="Yu Gothic"/>
                <a:ea typeface="Yu Gothic"/>
              </a:rPr>
              <a:t>Gate 1</a:t>
            </a:r>
            <a:r>
              <a:rPr b="1" lang="zh-CN" sz="1500" strike="noStrike" u="none">
                <a:solidFill>
                  <a:srgbClr val="0b1f33"/>
                </a:solidFill>
                <a:effectLst/>
                <a:uFillTx/>
                <a:latin typeface="Yu Gothic"/>
                <a:ea typeface="Yu Gothic"/>
              </a:rPr>
              <a:t>｜進む条件</a:t>
            </a:r>
            <a:endParaRPr b="0" lang="en-US" sz="1500" strike="noStrike" u="none">
              <a:solidFill>
                <a:srgbClr val="000000"/>
              </a:solidFill>
              <a:effectLst/>
              <a:uFillTx/>
              <a:latin typeface="Arial"/>
            </a:endParaRPr>
          </a:p>
        </p:txBody>
      </p:sp>
      <p:sp>
        <p:nvSpPr>
          <p:cNvPr id="246" name="Shape 56"/>
          <p:cNvSpPr/>
          <p:nvPr/>
        </p:nvSpPr>
        <p:spPr>
          <a:xfrm>
            <a:off x="6675120" y="4389120"/>
            <a:ext cx="82080" cy="82080"/>
          </a:xfrm>
          <a:prstGeom prst="ellipse">
            <a:avLst/>
          </a:prstGeom>
          <a:solidFill>
            <a:srgbClr val="0f9d8a"/>
          </a:solidFill>
          <a:ln w="12700">
            <a:solidFill>
              <a:srgbClr val="0f9d8a"/>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247" name="Text 57"/>
          <p:cNvSpPr/>
          <p:nvPr/>
        </p:nvSpPr>
        <p:spPr>
          <a:xfrm>
            <a:off x="6821280" y="4297680"/>
            <a:ext cx="401400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80" strike="noStrike" u="none">
                <a:solidFill>
                  <a:srgbClr val="243b53"/>
                </a:solidFill>
                <a:effectLst/>
                <a:uFillTx/>
                <a:latin typeface="Yu Gothic"/>
                <a:ea typeface="Yu Gothic"/>
              </a:rPr>
              <a:t>AI</a:t>
            </a:r>
            <a:r>
              <a:rPr b="0" lang="zh-CN" sz="980" strike="noStrike" u="none">
                <a:solidFill>
                  <a:srgbClr val="243b53"/>
                </a:solidFill>
                <a:effectLst/>
                <a:uFillTx/>
                <a:latin typeface="Yu Gothic"/>
                <a:ea typeface="Yu Gothic"/>
              </a:rPr>
              <a:t>経路の正味工数・費用から換算した純効果がプラス</a:t>
            </a:r>
            <a:endParaRPr b="0" lang="en-US" sz="980" strike="noStrike" u="none">
              <a:solidFill>
                <a:srgbClr val="000000"/>
              </a:solidFill>
              <a:effectLst/>
              <a:uFillTx/>
              <a:latin typeface="Arial"/>
            </a:endParaRPr>
          </a:p>
        </p:txBody>
      </p:sp>
      <p:sp>
        <p:nvSpPr>
          <p:cNvPr id="248" name="Shape 58"/>
          <p:cNvSpPr/>
          <p:nvPr/>
        </p:nvSpPr>
        <p:spPr>
          <a:xfrm>
            <a:off x="6675120" y="4608720"/>
            <a:ext cx="82080" cy="82080"/>
          </a:xfrm>
          <a:prstGeom prst="ellipse">
            <a:avLst/>
          </a:prstGeom>
          <a:solidFill>
            <a:srgbClr val="0f9d8a"/>
          </a:solidFill>
          <a:ln w="12700">
            <a:solidFill>
              <a:srgbClr val="0f9d8a"/>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249" name="Text 59"/>
          <p:cNvSpPr/>
          <p:nvPr/>
        </p:nvSpPr>
        <p:spPr>
          <a:xfrm>
            <a:off x="6821280" y="4517280"/>
            <a:ext cx="401400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80" strike="noStrike" u="none">
                <a:solidFill>
                  <a:srgbClr val="243b53"/>
                </a:solidFill>
                <a:effectLst/>
                <a:uFillTx/>
                <a:latin typeface="Yu Gothic"/>
                <a:ea typeface="Yu Gothic"/>
              </a:rPr>
              <a:t>AI</a:t>
            </a:r>
            <a:r>
              <a:rPr b="0" lang="zh-CN" sz="980" strike="noStrike" u="none">
                <a:solidFill>
                  <a:srgbClr val="243b53"/>
                </a:solidFill>
                <a:effectLst/>
                <a:uFillTx/>
                <a:latin typeface="Yu Gothic"/>
                <a:ea typeface="Yu Gothic"/>
              </a:rPr>
              <a:t>成果物が人手確定成果物と同等の品質ゲートを通過</a:t>
            </a:r>
            <a:endParaRPr b="0" lang="en-US" sz="980" strike="noStrike" u="none">
              <a:solidFill>
                <a:srgbClr val="000000"/>
              </a:solidFill>
              <a:effectLst/>
              <a:uFillTx/>
              <a:latin typeface="Arial"/>
            </a:endParaRPr>
          </a:p>
        </p:txBody>
      </p:sp>
      <p:sp>
        <p:nvSpPr>
          <p:cNvPr id="250" name="Shape 60"/>
          <p:cNvSpPr/>
          <p:nvPr/>
        </p:nvSpPr>
        <p:spPr>
          <a:xfrm>
            <a:off x="6675120" y="4827960"/>
            <a:ext cx="82080" cy="82080"/>
          </a:xfrm>
          <a:prstGeom prst="ellipse">
            <a:avLst/>
          </a:prstGeom>
          <a:solidFill>
            <a:srgbClr val="1b6fd1"/>
          </a:solidFill>
          <a:ln w="12700">
            <a:solidFill>
              <a:srgbClr val="1b6fd1"/>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251" name="Text 61"/>
          <p:cNvSpPr/>
          <p:nvPr/>
        </p:nvSpPr>
        <p:spPr>
          <a:xfrm>
            <a:off x="6821280" y="4736520"/>
            <a:ext cx="401400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980" strike="noStrike" u="none">
                <a:solidFill>
                  <a:srgbClr val="243b53"/>
                </a:solidFill>
                <a:effectLst/>
                <a:uFillTx/>
                <a:latin typeface="Yu Gothic"/>
                <a:ea typeface="Yu Gothic"/>
              </a:rPr>
              <a:t>複数案件で同じ手順を再現できる</a:t>
            </a:r>
            <a:endParaRPr b="0" lang="en-US" sz="980" strike="noStrike" u="none">
              <a:solidFill>
                <a:srgbClr val="000000"/>
              </a:solidFill>
              <a:effectLst/>
              <a:uFillTx/>
              <a:latin typeface="Arial"/>
            </a:endParaRPr>
          </a:p>
        </p:txBody>
      </p:sp>
      <p:sp>
        <p:nvSpPr>
          <p:cNvPr id="252" name="Shape 62"/>
          <p:cNvSpPr/>
          <p:nvPr/>
        </p:nvSpPr>
        <p:spPr>
          <a:xfrm>
            <a:off x="6675120" y="5047560"/>
            <a:ext cx="82080" cy="82080"/>
          </a:xfrm>
          <a:prstGeom prst="ellipse">
            <a:avLst/>
          </a:prstGeom>
          <a:solidFill>
            <a:srgbClr val="1b6fd1"/>
          </a:solidFill>
          <a:ln w="12700">
            <a:solidFill>
              <a:srgbClr val="1b6fd1"/>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253" name="Text 63"/>
          <p:cNvSpPr/>
          <p:nvPr/>
        </p:nvSpPr>
        <p:spPr>
          <a:xfrm>
            <a:off x="6821280" y="4956120"/>
            <a:ext cx="401400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980" strike="noStrike" u="none">
                <a:solidFill>
                  <a:srgbClr val="243b53"/>
                </a:solidFill>
                <a:effectLst/>
                <a:uFillTx/>
                <a:latin typeface="Yu Gothic"/>
                <a:ea typeface="Yu Gothic"/>
              </a:rPr>
              <a:t>原因分析からハーネス改善へフィードバックできる</a:t>
            </a:r>
            <a:endParaRPr b="0" lang="en-US" sz="980" strike="noStrike" u="none">
              <a:solidFill>
                <a:srgbClr val="000000"/>
              </a:solidFill>
              <a:effectLst/>
              <a:uFillTx/>
              <a:latin typeface="Arial"/>
            </a:endParaRPr>
          </a:p>
        </p:txBody>
      </p:sp>
      <p:sp>
        <p:nvSpPr>
          <p:cNvPr id="254" name="Shape 64"/>
          <p:cNvSpPr/>
          <p:nvPr/>
        </p:nvSpPr>
        <p:spPr>
          <a:xfrm>
            <a:off x="640080" y="5230440"/>
            <a:ext cx="5431320" cy="639720"/>
          </a:xfrm>
          <a:prstGeom prst="roundRect">
            <a:avLst>
              <a:gd name="adj" fmla="val 7143"/>
            </a:avLst>
          </a:prstGeom>
          <a:solidFill>
            <a:srgbClr val="fff4dd"/>
          </a:solidFill>
          <a:ln w="12700">
            <a:solidFill>
              <a:srgbClr val="f3d69e"/>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5" name="Text 65"/>
          <p:cNvSpPr/>
          <p:nvPr/>
        </p:nvSpPr>
        <p:spPr>
          <a:xfrm>
            <a:off x="850320" y="5376600"/>
            <a:ext cx="14169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zh-CN" sz="1150" strike="noStrike" u="none">
                <a:solidFill>
                  <a:srgbClr val="f59e0b"/>
                </a:solidFill>
                <a:effectLst/>
                <a:uFillTx/>
                <a:latin typeface="Yu Gothic"/>
                <a:ea typeface="Yu Gothic"/>
              </a:rPr>
              <a:t>優先ユースケースの選び方</a:t>
            </a:r>
            <a:endParaRPr b="0" lang="en-US" sz="1150" strike="noStrike" u="none">
              <a:solidFill>
                <a:srgbClr val="000000"/>
              </a:solidFill>
              <a:effectLst/>
              <a:uFillTx/>
              <a:latin typeface="Arial"/>
            </a:endParaRPr>
          </a:p>
        </p:txBody>
      </p:sp>
      <p:sp>
        <p:nvSpPr>
          <p:cNvPr id="256" name="Text 66"/>
          <p:cNvSpPr/>
          <p:nvPr/>
        </p:nvSpPr>
        <p:spPr>
          <a:xfrm>
            <a:off x="2212920" y="5330880"/>
            <a:ext cx="3584160" cy="30132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0" lang="zh-CN" sz="1000" strike="noStrike" u="none">
                <a:solidFill>
                  <a:srgbClr val="243b53"/>
                </a:solidFill>
                <a:effectLst/>
                <a:uFillTx/>
                <a:latin typeface="Yu Gothic"/>
                <a:ea typeface="Yu Gothic"/>
              </a:rPr>
              <a:t>「件数が多い </a:t>
            </a:r>
            <a:r>
              <a:rPr b="0" lang="en-US" sz="1000" strike="noStrike" u="none">
                <a:solidFill>
                  <a:srgbClr val="243b53"/>
                </a:solidFill>
                <a:effectLst/>
                <a:uFillTx/>
                <a:latin typeface="Yu Gothic"/>
                <a:ea typeface="Yu Gothic"/>
              </a:rPr>
              <a:t>× </a:t>
            </a:r>
            <a:r>
              <a:rPr b="0" lang="zh-CN" sz="1000" strike="noStrike" u="none">
                <a:solidFill>
                  <a:srgbClr val="243b53"/>
                </a:solidFill>
                <a:effectLst/>
                <a:uFillTx/>
                <a:latin typeface="Yu Gothic"/>
                <a:ea typeface="Yu Gothic"/>
              </a:rPr>
              <a:t>判断根拠が残っている </a:t>
            </a:r>
            <a:r>
              <a:rPr b="0" lang="en-US" sz="1000" strike="noStrike" u="none">
                <a:solidFill>
                  <a:srgbClr val="243b53"/>
                </a:solidFill>
                <a:effectLst/>
                <a:uFillTx/>
                <a:latin typeface="Yu Gothic"/>
                <a:ea typeface="Yu Gothic"/>
              </a:rPr>
              <a:t>× </a:t>
            </a:r>
            <a:r>
              <a:rPr b="0" lang="zh-CN" sz="1000" strike="noStrike" u="none">
                <a:solidFill>
                  <a:srgbClr val="243b53"/>
                </a:solidFill>
                <a:effectLst/>
                <a:uFillTx/>
                <a:latin typeface="Yu Gothic"/>
                <a:ea typeface="Yu Gothic"/>
              </a:rPr>
              <a:t>手戻りが大きい」業務から着手。例：影響調査、設計差分、コード変更、テスト仕様、レビュー。</a:t>
            </a:r>
            <a:endParaRPr b="0" lang="en-US" sz="1000" strike="noStrike" u="none">
              <a:solidFill>
                <a:srgbClr val="000000"/>
              </a:solidFill>
              <a:effectLst/>
              <a:uFillTx/>
              <a:latin typeface="Arial"/>
            </a:endParaRPr>
          </a:p>
        </p:txBody>
      </p:sp>
      <p:sp>
        <p:nvSpPr>
          <p:cNvPr id="257" name="PlaceHolder 1"/>
          <p:cNvSpPr>
            <a:spLocks noGrp="1"/>
          </p:cNvSpPr>
          <p:nvPr>
            <p:ph type="sldNum" idx="8"/>
          </p:nvPr>
        </p:nvSpPr>
        <p:spPr>
          <a:xfrm>
            <a:off x="11777400" y="65563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850" strike="noStrike" u="none">
                <a:solidFill>
                  <a:srgbClr val="75808f"/>
                </a:solidFill>
                <a:effectLst/>
                <a:uFillTx/>
                <a:latin typeface="Yu Gothic"/>
                <a:ea typeface="Yu Gothic"/>
              </a:defRPr>
            </a:lvl1pPr>
          </a:lstStyle>
          <a:p>
            <a:pPr indent="0" defTabSz="914400">
              <a:lnSpc>
                <a:spcPct val="100000"/>
              </a:lnSpc>
              <a:buNone/>
            </a:pPr>
            <a:fld id="{5C82893F-3036-4ED4-B79B-43FB4E3F478A}" type="slidenum">
              <a:rPr b="0" lang="en-US" sz="850" strike="noStrike" u="none">
                <a:solidFill>
                  <a:srgbClr val="75808f"/>
                </a:solidFill>
                <a:effectLst/>
                <a:uFillTx/>
                <a:latin typeface="Yu Gothic"/>
                <a:ea typeface="Yu Gothic"/>
              </a:rPr>
              <a:t>&lt;number&gt;</a:t>
            </a:fld>
            <a:endParaRPr b="0" lang="en-US" sz="85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Text 0"/>
          <p:cNvSpPr/>
          <p:nvPr/>
        </p:nvSpPr>
        <p:spPr>
          <a:xfrm>
            <a:off x="530280" y="301680"/>
            <a:ext cx="11109600" cy="420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50" strike="noStrike" u="none">
                <a:solidFill>
                  <a:srgbClr val="0b1f33"/>
                </a:solidFill>
                <a:effectLst/>
                <a:uFillTx/>
                <a:latin typeface="Yu Gothic"/>
                <a:ea typeface="Yu Gothic"/>
              </a:rPr>
              <a:t>1</a:t>
            </a:r>
            <a:r>
              <a:rPr b="1" lang="zh-CN" sz="2550" strike="noStrike" u="none">
                <a:solidFill>
                  <a:srgbClr val="0b1f33"/>
                </a:solidFill>
                <a:effectLst/>
                <a:uFillTx/>
                <a:latin typeface="Yu Gothic"/>
                <a:ea typeface="Yu Gothic"/>
              </a:rPr>
              <a:t>〜</a:t>
            </a:r>
            <a:r>
              <a:rPr b="1" lang="en-US" sz="2550" strike="noStrike" u="none">
                <a:solidFill>
                  <a:srgbClr val="0b1f33"/>
                </a:solidFill>
                <a:effectLst/>
                <a:uFillTx/>
                <a:latin typeface="Yu Gothic"/>
                <a:ea typeface="Yu Gothic"/>
              </a:rPr>
              <a:t>3</a:t>
            </a:r>
            <a:r>
              <a:rPr b="1" lang="zh-CN" sz="2550" strike="noStrike" u="none">
                <a:solidFill>
                  <a:srgbClr val="0b1f33"/>
                </a:solidFill>
                <a:effectLst/>
                <a:uFillTx/>
                <a:latin typeface="Yu Gothic"/>
                <a:ea typeface="Yu Gothic"/>
              </a:rPr>
              <a:t>月：局所的な成功を「</a:t>
            </a:r>
            <a:r>
              <a:rPr b="1" lang="en-US" sz="2550" strike="noStrike" u="none">
                <a:solidFill>
                  <a:srgbClr val="0b1f33"/>
                </a:solidFill>
                <a:effectLst/>
                <a:uFillTx/>
                <a:latin typeface="Yu Gothic"/>
                <a:ea typeface="Yu Gothic"/>
              </a:rPr>
              <a:t>30%</a:t>
            </a:r>
            <a:r>
              <a:rPr b="1" lang="zh-CN" sz="2550" strike="noStrike" u="none">
                <a:solidFill>
                  <a:srgbClr val="0b1f33"/>
                </a:solidFill>
                <a:effectLst/>
                <a:uFillTx/>
                <a:latin typeface="Yu Gothic"/>
                <a:ea typeface="Yu Gothic"/>
              </a:rPr>
              <a:t>工数削減」へ拡張する</a:t>
            </a:r>
            <a:endParaRPr b="0" lang="en-US" sz="2550" strike="noStrike" u="none">
              <a:solidFill>
                <a:srgbClr val="000000"/>
              </a:solidFill>
              <a:effectLst/>
              <a:uFillTx/>
              <a:latin typeface="Arial"/>
            </a:endParaRPr>
          </a:p>
        </p:txBody>
      </p:sp>
      <p:sp>
        <p:nvSpPr>
          <p:cNvPr id="259" name="Text 1"/>
          <p:cNvSpPr/>
          <p:nvPr/>
        </p:nvSpPr>
        <p:spPr>
          <a:xfrm>
            <a:off x="548640" y="749880"/>
            <a:ext cx="1097244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trike="noStrike" u="none">
                <a:solidFill>
                  <a:srgbClr val="52606d"/>
                </a:solidFill>
                <a:effectLst/>
                <a:uFillTx/>
                <a:latin typeface="Yu Gothic"/>
                <a:ea typeface="Yu Gothic"/>
              </a:rPr>
              <a:t>12</a:t>
            </a:r>
            <a:r>
              <a:rPr b="0" lang="zh-CN" sz="1150" strike="noStrike" u="none">
                <a:solidFill>
                  <a:srgbClr val="52606d"/>
                </a:solidFill>
                <a:effectLst/>
                <a:uFillTx/>
                <a:latin typeface="Yu Gothic"/>
                <a:ea typeface="Yu Gothic"/>
              </a:rPr>
              <a:t>月までに効いた条件を、すべて人手本番開発と並行したシャドー検証のまま対象工程・変更種別・チームへ広げます</a:t>
            </a:r>
            <a:endParaRPr b="0" lang="en-US" sz="1150" strike="noStrike" u="none">
              <a:solidFill>
                <a:srgbClr val="000000"/>
              </a:solidFill>
              <a:effectLst/>
              <a:uFillTx/>
              <a:latin typeface="Arial"/>
            </a:endParaRPr>
          </a:p>
        </p:txBody>
      </p:sp>
      <p:sp>
        <p:nvSpPr>
          <p:cNvPr id="260" name="Shape 2"/>
          <p:cNvSpPr/>
          <p:nvPr/>
        </p:nvSpPr>
        <p:spPr>
          <a:xfrm>
            <a:off x="621720" y="1216080"/>
            <a:ext cx="658080" cy="328680"/>
          </a:xfrm>
          <a:prstGeom prst="roundRect">
            <a:avLst>
              <a:gd name="adj" fmla="val 19444"/>
            </a:avLst>
          </a:prstGeom>
          <a:solidFill>
            <a:srgbClr val="1b6fd1"/>
          </a:solidFill>
          <a:ln w="12700">
            <a:solidFill>
              <a:srgbClr val="1b6fd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61" name="Text 3"/>
          <p:cNvSpPr/>
          <p:nvPr/>
        </p:nvSpPr>
        <p:spPr>
          <a:xfrm>
            <a:off x="667440" y="1252800"/>
            <a:ext cx="56664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ffffff"/>
                </a:solidFill>
                <a:effectLst/>
                <a:uFillTx/>
                <a:latin typeface="Yu Gothic"/>
                <a:ea typeface="Yu Gothic"/>
              </a:rPr>
              <a:t>1</a:t>
            </a:r>
            <a:r>
              <a:rPr b="1" lang="zh-CN" sz="1100" strike="noStrike" u="none">
                <a:solidFill>
                  <a:srgbClr val="ffffff"/>
                </a:solidFill>
                <a:effectLst/>
                <a:uFillTx/>
                <a:latin typeface="Yu Gothic"/>
                <a:ea typeface="Yu Gothic"/>
              </a:rPr>
              <a:t>月</a:t>
            </a:r>
            <a:endParaRPr b="0" lang="en-US" sz="1100" strike="noStrike" u="none">
              <a:solidFill>
                <a:srgbClr val="000000"/>
              </a:solidFill>
              <a:effectLst/>
              <a:uFillTx/>
              <a:latin typeface="Arial"/>
            </a:endParaRPr>
          </a:p>
        </p:txBody>
      </p:sp>
      <p:sp>
        <p:nvSpPr>
          <p:cNvPr id="262" name="Text 4"/>
          <p:cNvSpPr/>
          <p:nvPr/>
        </p:nvSpPr>
        <p:spPr>
          <a:xfrm>
            <a:off x="1426320" y="1197720"/>
            <a:ext cx="123408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zh-CN" sz="1700" strike="noStrike" u="none">
                <a:solidFill>
                  <a:srgbClr val="1b6fd1"/>
                </a:solidFill>
                <a:effectLst/>
                <a:uFillTx/>
                <a:latin typeface="Yu Gothic"/>
                <a:ea typeface="Yu Gothic"/>
              </a:rPr>
              <a:t>標準化</a:t>
            </a:r>
            <a:endParaRPr b="0" lang="en-US" sz="1700" strike="noStrike" u="none">
              <a:solidFill>
                <a:srgbClr val="000000"/>
              </a:solidFill>
              <a:effectLst/>
              <a:uFillTx/>
              <a:latin typeface="Arial"/>
            </a:endParaRPr>
          </a:p>
        </p:txBody>
      </p:sp>
      <p:sp>
        <p:nvSpPr>
          <p:cNvPr id="263" name="Text 5"/>
          <p:cNvSpPr/>
          <p:nvPr/>
        </p:nvSpPr>
        <p:spPr>
          <a:xfrm>
            <a:off x="621720" y="1664280"/>
            <a:ext cx="2971440" cy="420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zh-CN" sz="1150" strike="noStrike" u="none">
                <a:solidFill>
                  <a:srgbClr val="0b1f33"/>
                </a:solidFill>
                <a:effectLst/>
                <a:uFillTx/>
                <a:latin typeface="Yu Gothic"/>
                <a:ea typeface="Yu Gothic"/>
              </a:rPr>
              <a:t>効いたやり方を「誰でも同じ」にする</a:t>
            </a:r>
            <a:endParaRPr b="0" lang="en-US" sz="1150" strike="noStrike" u="none">
              <a:solidFill>
                <a:srgbClr val="000000"/>
              </a:solidFill>
              <a:effectLst/>
              <a:uFillTx/>
              <a:latin typeface="Arial"/>
            </a:endParaRPr>
          </a:p>
        </p:txBody>
      </p:sp>
      <p:sp>
        <p:nvSpPr>
          <p:cNvPr id="264" name="Shape 6"/>
          <p:cNvSpPr/>
          <p:nvPr/>
        </p:nvSpPr>
        <p:spPr>
          <a:xfrm>
            <a:off x="621720" y="2240280"/>
            <a:ext cx="3017160" cy="1874160"/>
          </a:xfrm>
          <a:prstGeom prst="roundRect">
            <a:avLst>
              <a:gd name="adj" fmla="val 2927"/>
            </a:avLst>
          </a:prstGeom>
          <a:solidFill>
            <a:srgbClr val="ffffff"/>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5" name="Shape 7"/>
          <p:cNvSpPr/>
          <p:nvPr/>
        </p:nvSpPr>
        <p:spPr>
          <a:xfrm>
            <a:off x="822960" y="2578680"/>
            <a:ext cx="82080" cy="82080"/>
          </a:xfrm>
          <a:prstGeom prst="ellipse">
            <a:avLst/>
          </a:prstGeom>
          <a:solidFill>
            <a:srgbClr val="1b6fd1"/>
          </a:solidFill>
          <a:ln w="12700">
            <a:solidFill>
              <a:srgbClr val="1b6fd1"/>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266" name="Text 8"/>
          <p:cNvSpPr/>
          <p:nvPr/>
        </p:nvSpPr>
        <p:spPr>
          <a:xfrm>
            <a:off x="969120" y="2487240"/>
            <a:ext cx="245952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00" strike="noStrike" u="none">
                <a:solidFill>
                  <a:srgbClr val="243b53"/>
                </a:solidFill>
                <a:effectLst/>
                <a:uFillTx/>
                <a:latin typeface="Yu Gothic"/>
                <a:ea typeface="Yu Gothic"/>
              </a:rPr>
              <a:t>代表ユースケースを標準手順化</a:t>
            </a:r>
            <a:endParaRPr b="0" lang="en-US" sz="1100" strike="noStrike" u="none">
              <a:solidFill>
                <a:srgbClr val="000000"/>
              </a:solidFill>
              <a:effectLst/>
              <a:uFillTx/>
              <a:latin typeface="Arial"/>
            </a:endParaRPr>
          </a:p>
        </p:txBody>
      </p:sp>
      <p:sp>
        <p:nvSpPr>
          <p:cNvPr id="267" name="Shape 9"/>
          <p:cNvSpPr/>
          <p:nvPr/>
        </p:nvSpPr>
        <p:spPr>
          <a:xfrm>
            <a:off x="822960" y="2926080"/>
            <a:ext cx="82080" cy="82080"/>
          </a:xfrm>
          <a:prstGeom prst="ellipse">
            <a:avLst/>
          </a:prstGeom>
          <a:solidFill>
            <a:srgbClr val="1b6fd1"/>
          </a:solidFill>
          <a:ln w="12700">
            <a:solidFill>
              <a:srgbClr val="1b6fd1"/>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268" name="Text 10"/>
          <p:cNvSpPr/>
          <p:nvPr/>
        </p:nvSpPr>
        <p:spPr>
          <a:xfrm>
            <a:off x="969120" y="2834640"/>
            <a:ext cx="245952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00" strike="noStrike" u="none">
                <a:solidFill>
                  <a:srgbClr val="243b53"/>
                </a:solidFill>
                <a:effectLst/>
                <a:uFillTx/>
                <a:latin typeface="Yu Gothic"/>
                <a:ea typeface="Yu Gothic"/>
              </a:rPr>
              <a:t>入力・出力テンプレート固定</a:t>
            </a:r>
            <a:endParaRPr b="0" lang="en-US" sz="1100" strike="noStrike" u="none">
              <a:solidFill>
                <a:srgbClr val="000000"/>
              </a:solidFill>
              <a:effectLst/>
              <a:uFillTx/>
              <a:latin typeface="Arial"/>
            </a:endParaRPr>
          </a:p>
        </p:txBody>
      </p:sp>
      <p:sp>
        <p:nvSpPr>
          <p:cNvPr id="269" name="Shape 11"/>
          <p:cNvSpPr/>
          <p:nvPr/>
        </p:nvSpPr>
        <p:spPr>
          <a:xfrm>
            <a:off x="822960" y="3273480"/>
            <a:ext cx="82080" cy="82080"/>
          </a:xfrm>
          <a:prstGeom prst="ellipse">
            <a:avLst/>
          </a:prstGeom>
          <a:solidFill>
            <a:srgbClr val="1b6fd1"/>
          </a:solidFill>
          <a:ln w="12700">
            <a:solidFill>
              <a:srgbClr val="1b6fd1"/>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270" name="Text 12"/>
          <p:cNvSpPr/>
          <p:nvPr/>
        </p:nvSpPr>
        <p:spPr>
          <a:xfrm>
            <a:off x="969120" y="3182040"/>
            <a:ext cx="245952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00" strike="noStrike" u="none">
                <a:solidFill>
                  <a:srgbClr val="243b53"/>
                </a:solidFill>
                <a:effectLst/>
                <a:uFillTx/>
                <a:latin typeface="Yu Gothic"/>
                <a:ea typeface="Yu Gothic"/>
              </a:rPr>
              <a:t>品質ゲートを自動</a:t>
            </a:r>
            <a:r>
              <a:rPr b="0" lang="en-US" sz="1100" strike="noStrike" u="none">
                <a:solidFill>
                  <a:srgbClr val="243b53"/>
                </a:solidFill>
                <a:effectLst/>
                <a:uFillTx/>
                <a:latin typeface="Yu Gothic"/>
                <a:ea typeface="Yu Gothic"/>
              </a:rPr>
              <a:t>/</a:t>
            </a:r>
            <a:r>
              <a:rPr b="0" lang="zh-CN" sz="1100" strike="noStrike" u="none">
                <a:solidFill>
                  <a:srgbClr val="243b53"/>
                </a:solidFill>
                <a:effectLst/>
                <a:uFillTx/>
                <a:latin typeface="Yu Gothic"/>
                <a:ea typeface="Yu Gothic"/>
              </a:rPr>
              <a:t>半自動化</a:t>
            </a:r>
            <a:endParaRPr b="0" lang="en-US" sz="1100" strike="noStrike" u="none">
              <a:solidFill>
                <a:srgbClr val="000000"/>
              </a:solidFill>
              <a:effectLst/>
              <a:uFillTx/>
              <a:latin typeface="Arial"/>
            </a:endParaRPr>
          </a:p>
        </p:txBody>
      </p:sp>
      <p:sp>
        <p:nvSpPr>
          <p:cNvPr id="271" name="Shape 13"/>
          <p:cNvSpPr/>
          <p:nvPr/>
        </p:nvSpPr>
        <p:spPr>
          <a:xfrm>
            <a:off x="822960" y="3620880"/>
            <a:ext cx="82080" cy="82080"/>
          </a:xfrm>
          <a:prstGeom prst="ellipse">
            <a:avLst/>
          </a:prstGeom>
          <a:solidFill>
            <a:srgbClr val="1b6fd1"/>
          </a:solidFill>
          <a:ln w="12700">
            <a:solidFill>
              <a:srgbClr val="1b6fd1"/>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272" name="Text 14"/>
          <p:cNvSpPr/>
          <p:nvPr/>
        </p:nvSpPr>
        <p:spPr>
          <a:xfrm>
            <a:off x="969120" y="3529440"/>
            <a:ext cx="245952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00" strike="noStrike" u="none">
                <a:solidFill>
                  <a:srgbClr val="243b53"/>
                </a:solidFill>
                <a:effectLst/>
                <a:uFillTx/>
                <a:latin typeface="Yu Gothic"/>
                <a:ea typeface="Yu Gothic"/>
              </a:rPr>
              <a:t>ばらつき要因を可視化</a:t>
            </a:r>
            <a:endParaRPr b="0" lang="en-US" sz="1100" strike="noStrike" u="none">
              <a:solidFill>
                <a:srgbClr val="000000"/>
              </a:solidFill>
              <a:effectLst/>
              <a:uFillTx/>
              <a:latin typeface="Arial"/>
            </a:endParaRPr>
          </a:p>
        </p:txBody>
      </p:sp>
      <p:sp>
        <p:nvSpPr>
          <p:cNvPr id="273" name="Shape 15"/>
          <p:cNvSpPr/>
          <p:nvPr/>
        </p:nvSpPr>
        <p:spPr>
          <a:xfrm>
            <a:off x="4041720" y="1216080"/>
            <a:ext cx="658080" cy="328680"/>
          </a:xfrm>
          <a:prstGeom prst="roundRect">
            <a:avLst>
              <a:gd name="adj" fmla="val 19444"/>
            </a:avLst>
          </a:prstGeom>
          <a:solidFill>
            <a:srgbClr val="0f9d8a"/>
          </a:solidFill>
          <a:ln w="12700">
            <a:solidFill>
              <a:srgbClr val="0f9d8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74" name="Text 16"/>
          <p:cNvSpPr/>
          <p:nvPr/>
        </p:nvSpPr>
        <p:spPr>
          <a:xfrm>
            <a:off x="4087440" y="1252800"/>
            <a:ext cx="56664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ffffff"/>
                </a:solidFill>
                <a:effectLst/>
                <a:uFillTx/>
                <a:latin typeface="Yu Gothic"/>
                <a:ea typeface="Yu Gothic"/>
              </a:rPr>
              <a:t>2</a:t>
            </a:r>
            <a:r>
              <a:rPr b="1" lang="zh-CN" sz="1100" strike="noStrike" u="none">
                <a:solidFill>
                  <a:srgbClr val="ffffff"/>
                </a:solidFill>
                <a:effectLst/>
                <a:uFillTx/>
                <a:latin typeface="Yu Gothic"/>
                <a:ea typeface="Yu Gothic"/>
              </a:rPr>
              <a:t>月</a:t>
            </a:r>
            <a:endParaRPr b="0" lang="en-US" sz="1100" strike="noStrike" u="none">
              <a:solidFill>
                <a:srgbClr val="000000"/>
              </a:solidFill>
              <a:effectLst/>
              <a:uFillTx/>
              <a:latin typeface="Arial"/>
            </a:endParaRPr>
          </a:p>
        </p:txBody>
      </p:sp>
      <p:sp>
        <p:nvSpPr>
          <p:cNvPr id="275" name="Text 17"/>
          <p:cNvSpPr/>
          <p:nvPr/>
        </p:nvSpPr>
        <p:spPr>
          <a:xfrm>
            <a:off x="4846320" y="1197720"/>
            <a:ext cx="123408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zh-CN" sz="1700" strike="noStrike" u="none">
                <a:solidFill>
                  <a:srgbClr val="0f9d8a"/>
                </a:solidFill>
                <a:effectLst/>
                <a:uFillTx/>
                <a:latin typeface="Yu Gothic"/>
                <a:ea typeface="Yu Gothic"/>
              </a:rPr>
              <a:t>横展開</a:t>
            </a:r>
            <a:endParaRPr b="0" lang="en-US" sz="1700" strike="noStrike" u="none">
              <a:solidFill>
                <a:srgbClr val="000000"/>
              </a:solidFill>
              <a:effectLst/>
              <a:uFillTx/>
              <a:latin typeface="Arial"/>
            </a:endParaRPr>
          </a:p>
        </p:txBody>
      </p:sp>
      <p:sp>
        <p:nvSpPr>
          <p:cNvPr id="276" name="Text 18"/>
          <p:cNvSpPr/>
          <p:nvPr/>
        </p:nvSpPr>
        <p:spPr>
          <a:xfrm>
            <a:off x="4041720" y="1664280"/>
            <a:ext cx="2971440" cy="420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zh-CN" sz="1150" strike="noStrike" u="none">
                <a:solidFill>
                  <a:srgbClr val="0b1f33"/>
                </a:solidFill>
                <a:effectLst/>
                <a:uFillTx/>
                <a:latin typeface="Yu Gothic"/>
                <a:ea typeface="Yu Gothic"/>
              </a:rPr>
              <a:t>主要工程・変更種別へ並行検証を広げる</a:t>
            </a:r>
            <a:endParaRPr b="0" lang="en-US" sz="1150" strike="noStrike" u="none">
              <a:solidFill>
                <a:srgbClr val="000000"/>
              </a:solidFill>
              <a:effectLst/>
              <a:uFillTx/>
              <a:latin typeface="Arial"/>
            </a:endParaRPr>
          </a:p>
        </p:txBody>
      </p:sp>
      <p:sp>
        <p:nvSpPr>
          <p:cNvPr id="277" name="Shape 19"/>
          <p:cNvSpPr/>
          <p:nvPr/>
        </p:nvSpPr>
        <p:spPr>
          <a:xfrm>
            <a:off x="4041720" y="2240280"/>
            <a:ext cx="3017160" cy="1874160"/>
          </a:xfrm>
          <a:prstGeom prst="roundRect">
            <a:avLst>
              <a:gd name="adj" fmla="val 2927"/>
            </a:avLst>
          </a:prstGeom>
          <a:solidFill>
            <a:srgbClr val="ffffff"/>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8" name="Shape 20"/>
          <p:cNvSpPr/>
          <p:nvPr/>
        </p:nvSpPr>
        <p:spPr>
          <a:xfrm>
            <a:off x="4242960" y="2578680"/>
            <a:ext cx="82080" cy="82080"/>
          </a:xfrm>
          <a:prstGeom prst="ellipse">
            <a:avLst/>
          </a:prstGeom>
          <a:solidFill>
            <a:srgbClr val="0f9d8a"/>
          </a:solidFill>
          <a:ln w="12700">
            <a:solidFill>
              <a:srgbClr val="0f9d8a"/>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279" name="Text 21"/>
          <p:cNvSpPr/>
          <p:nvPr/>
        </p:nvSpPr>
        <p:spPr>
          <a:xfrm>
            <a:off x="4389120" y="2487240"/>
            <a:ext cx="245952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00" strike="noStrike" u="none">
                <a:solidFill>
                  <a:srgbClr val="243b53"/>
                </a:solidFill>
                <a:effectLst/>
                <a:uFillTx/>
                <a:latin typeface="Yu Gothic"/>
                <a:ea typeface="Yu Gothic"/>
              </a:rPr>
              <a:t>複数チーム・変更種別を並行検証</a:t>
            </a:r>
            <a:endParaRPr b="0" lang="en-US" sz="1100" strike="noStrike" u="none">
              <a:solidFill>
                <a:srgbClr val="000000"/>
              </a:solidFill>
              <a:effectLst/>
              <a:uFillTx/>
              <a:latin typeface="Arial"/>
            </a:endParaRPr>
          </a:p>
        </p:txBody>
      </p:sp>
      <p:sp>
        <p:nvSpPr>
          <p:cNvPr id="280" name="Shape 22"/>
          <p:cNvSpPr/>
          <p:nvPr/>
        </p:nvSpPr>
        <p:spPr>
          <a:xfrm>
            <a:off x="4242960" y="2926080"/>
            <a:ext cx="82080" cy="82080"/>
          </a:xfrm>
          <a:prstGeom prst="ellipse">
            <a:avLst/>
          </a:prstGeom>
          <a:solidFill>
            <a:srgbClr val="0f9d8a"/>
          </a:solidFill>
          <a:ln w="12700">
            <a:solidFill>
              <a:srgbClr val="0f9d8a"/>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281" name="Text 23"/>
          <p:cNvSpPr/>
          <p:nvPr/>
        </p:nvSpPr>
        <p:spPr>
          <a:xfrm>
            <a:off x="4389120" y="2834640"/>
            <a:ext cx="245952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00" strike="noStrike" u="none">
                <a:solidFill>
                  <a:srgbClr val="243b53"/>
                </a:solidFill>
                <a:effectLst/>
                <a:uFillTx/>
                <a:latin typeface="Yu Gothic"/>
                <a:ea typeface="Yu Gothic"/>
              </a:rPr>
              <a:t>難易度別に期待値を調整</a:t>
            </a:r>
            <a:endParaRPr b="0" lang="en-US" sz="1100" strike="noStrike" u="none">
              <a:solidFill>
                <a:srgbClr val="000000"/>
              </a:solidFill>
              <a:effectLst/>
              <a:uFillTx/>
              <a:latin typeface="Arial"/>
            </a:endParaRPr>
          </a:p>
        </p:txBody>
      </p:sp>
      <p:sp>
        <p:nvSpPr>
          <p:cNvPr id="282" name="Shape 24"/>
          <p:cNvSpPr/>
          <p:nvPr/>
        </p:nvSpPr>
        <p:spPr>
          <a:xfrm>
            <a:off x="4242960" y="3273480"/>
            <a:ext cx="82080" cy="82080"/>
          </a:xfrm>
          <a:prstGeom prst="ellipse">
            <a:avLst/>
          </a:prstGeom>
          <a:solidFill>
            <a:srgbClr val="0f9d8a"/>
          </a:solidFill>
          <a:ln w="12700">
            <a:solidFill>
              <a:srgbClr val="0f9d8a"/>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283" name="Text 25"/>
          <p:cNvSpPr/>
          <p:nvPr/>
        </p:nvSpPr>
        <p:spPr>
          <a:xfrm>
            <a:off x="4389120" y="3182040"/>
            <a:ext cx="245952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00" strike="noStrike" u="none">
                <a:solidFill>
                  <a:srgbClr val="243b53"/>
                </a:solidFill>
                <a:effectLst/>
                <a:uFillTx/>
                <a:latin typeface="Yu Gothic"/>
                <a:ea typeface="Yu Gothic"/>
              </a:rPr>
              <a:t>レビュー・手戻りを重点削減</a:t>
            </a:r>
            <a:endParaRPr b="0" lang="en-US" sz="1100" strike="noStrike" u="none">
              <a:solidFill>
                <a:srgbClr val="000000"/>
              </a:solidFill>
              <a:effectLst/>
              <a:uFillTx/>
              <a:latin typeface="Arial"/>
            </a:endParaRPr>
          </a:p>
        </p:txBody>
      </p:sp>
      <p:sp>
        <p:nvSpPr>
          <p:cNvPr id="284" name="Shape 26"/>
          <p:cNvSpPr/>
          <p:nvPr/>
        </p:nvSpPr>
        <p:spPr>
          <a:xfrm>
            <a:off x="4242960" y="3620880"/>
            <a:ext cx="82080" cy="82080"/>
          </a:xfrm>
          <a:prstGeom prst="ellipse">
            <a:avLst/>
          </a:prstGeom>
          <a:solidFill>
            <a:srgbClr val="0f9d8a"/>
          </a:solidFill>
          <a:ln w="12700">
            <a:solidFill>
              <a:srgbClr val="0f9d8a"/>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285" name="Text 27"/>
          <p:cNvSpPr/>
          <p:nvPr/>
        </p:nvSpPr>
        <p:spPr>
          <a:xfrm>
            <a:off x="4389120" y="3529440"/>
            <a:ext cx="245952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00" strike="noStrike" u="none">
                <a:solidFill>
                  <a:srgbClr val="243b53"/>
                </a:solidFill>
                <a:effectLst/>
                <a:uFillTx/>
                <a:latin typeface="Yu Gothic"/>
                <a:ea typeface="Yu Gothic"/>
              </a:rPr>
              <a:t>回帰試験で劣化を抑止</a:t>
            </a:r>
            <a:endParaRPr b="0" lang="en-US" sz="1100" strike="noStrike" u="none">
              <a:solidFill>
                <a:srgbClr val="000000"/>
              </a:solidFill>
              <a:effectLst/>
              <a:uFillTx/>
              <a:latin typeface="Arial"/>
            </a:endParaRPr>
          </a:p>
        </p:txBody>
      </p:sp>
      <p:sp>
        <p:nvSpPr>
          <p:cNvPr id="286" name="Shape 28"/>
          <p:cNvSpPr/>
          <p:nvPr/>
        </p:nvSpPr>
        <p:spPr>
          <a:xfrm>
            <a:off x="7461360" y="1216080"/>
            <a:ext cx="658080" cy="328680"/>
          </a:xfrm>
          <a:prstGeom prst="roundRect">
            <a:avLst>
              <a:gd name="adj" fmla="val 19444"/>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7" name="Text 29"/>
          <p:cNvSpPr/>
          <p:nvPr/>
        </p:nvSpPr>
        <p:spPr>
          <a:xfrm>
            <a:off x="7507080" y="1252800"/>
            <a:ext cx="56664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ffffff"/>
                </a:solidFill>
                <a:effectLst/>
                <a:uFillTx/>
                <a:latin typeface="Yu Gothic"/>
                <a:ea typeface="Yu Gothic"/>
              </a:rPr>
              <a:t>3</a:t>
            </a:r>
            <a:r>
              <a:rPr b="1" lang="zh-CN" sz="1100" strike="noStrike" u="none">
                <a:solidFill>
                  <a:srgbClr val="ffffff"/>
                </a:solidFill>
                <a:effectLst/>
                <a:uFillTx/>
                <a:latin typeface="Yu Gothic"/>
                <a:ea typeface="Yu Gothic"/>
              </a:rPr>
              <a:t>月</a:t>
            </a:r>
            <a:endParaRPr b="0" lang="en-US" sz="1100" strike="noStrike" u="none">
              <a:solidFill>
                <a:srgbClr val="000000"/>
              </a:solidFill>
              <a:effectLst/>
              <a:uFillTx/>
              <a:latin typeface="Arial"/>
            </a:endParaRPr>
          </a:p>
        </p:txBody>
      </p:sp>
      <p:sp>
        <p:nvSpPr>
          <p:cNvPr id="288" name="Text 30"/>
          <p:cNvSpPr/>
          <p:nvPr/>
        </p:nvSpPr>
        <p:spPr>
          <a:xfrm>
            <a:off x="8266320" y="1197720"/>
            <a:ext cx="123408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zh-CN" sz="1700" strike="noStrike" u="none">
                <a:solidFill>
                  <a:srgbClr val="f59e0b"/>
                </a:solidFill>
                <a:effectLst/>
                <a:uFillTx/>
                <a:latin typeface="Yu Gothic"/>
                <a:ea typeface="Yu Gothic"/>
              </a:rPr>
              <a:t>再現性確立</a:t>
            </a:r>
            <a:endParaRPr b="0" lang="en-US" sz="1700" strike="noStrike" u="none">
              <a:solidFill>
                <a:srgbClr val="000000"/>
              </a:solidFill>
              <a:effectLst/>
              <a:uFillTx/>
              <a:latin typeface="Arial"/>
            </a:endParaRPr>
          </a:p>
        </p:txBody>
      </p:sp>
      <p:sp>
        <p:nvSpPr>
          <p:cNvPr id="289" name="Text 31"/>
          <p:cNvSpPr/>
          <p:nvPr/>
        </p:nvSpPr>
        <p:spPr>
          <a:xfrm>
            <a:off x="7461360" y="1664280"/>
            <a:ext cx="2971440" cy="420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50" strike="noStrike" u="none">
                <a:solidFill>
                  <a:srgbClr val="0b1f33"/>
                </a:solidFill>
                <a:effectLst/>
                <a:uFillTx/>
                <a:latin typeface="Yu Gothic"/>
                <a:ea typeface="Yu Gothic"/>
              </a:rPr>
              <a:t>70%</a:t>
            </a:r>
            <a:r>
              <a:rPr b="1" lang="zh-CN" sz="1150" strike="noStrike" u="none">
                <a:solidFill>
                  <a:srgbClr val="0b1f33"/>
                </a:solidFill>
                <a:effectLst/>
                <a:uFillTx/>
                <a:latin typeface="Yu Gothic"/>
                <a:ea typeface="Yu Gothic"/>
              </a:rPr>
              <a:t>工数で回る状態を継続して証明</a:t>
            </a:r>
            <a:endParaRPr b="0" lang="en-US" sz="1150" strike="noStrike" u="none">
              <a:solidFill>
                <a:srgbClr val="000000"/>
              </a:solidFill>
              <a:effectLst/>
              <a:uFillTx/>
              <a:latin typeface="Arial"/>
            </a:endParaRPr>
          </a:p>
        </p:txBody>
      </p:sp>
      <p:sp>
        <p:nvSpPr>
          <p:cNvPr id="290" name="Shape 32"/>
          <p:cNvSpPr/>
          <p:nvPr/>
        </p:nvSpPr>
        <p:spPr>
          <a:xfrm>
            <a:off x="7461360" y="2240280"/>
            <a:ext cx="3017160" cy="1874160"/>
          </a:xfrm>
          <a:prstGeom prst="roundRect">
            <a:avLst>
              <a:gd name="adj" fmla="val 2927"/>
            </a:avLst>
          </a:prstGeom>
          <a:solidFill>
            <a:srgbClr val="ffffff"/>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1" name="Shape 33"/>
          <p:cNvSpPr/>
          <p:nvPr/>
        </p:nvSpPr>
        <p:spPr>
          <a:xfrm>
            <a:off x="7662600" y="2578680"/>
            <a:ext cx="82080" cy="82080"/>
          </a:xfrm>
          <a:prstGeom prst="ellipse">
            <a:avLst/>
          </a:prstGeom>
          <a:solidFill>
            <a:srgbClr val="f59e0b"/>
          </a:solidFill>
          <a:ln w="12700">
            <a:solidFill>
              <a:srgbClr val="f59e0b"/>
            </a:solidFill>
            <a:round/>
          </a:ln>
        </p:spPr>
        <p:style>
          <a:lnRef idx="0"/>
          <a:fillRef idx="0"/>
          <a:effectRef idx="0"/>
          <a:fontRef idx="minor"/>
        </p:style>
        <p:txBody>
          <a:bodyPr lIns="90000" rIns="90000" tIns="13320" bIns="13320" anchor="t">
            <a:noAutofit/>
          </a:bodyPr>
          <a:p>
            <a:endParaRPr b="0" lang="en-US" sz="1800" strike="noStrike" u="none">
              <a:solidFill>
                <a:srgbClr val="000000"/>
              </a:solidFill>
              <a:effectLst/>
              <a:uFillTx/>
              <a:latin typeface="Arial"/>
            </a:endParaRPr>
          </a:p>
        </p:txBody>
      </p:sp>
      <p:sp>
        <p:nvSpPr>
          <p:cNvPr id="292" name="Text 34"/>
          <p:cNvSpPr/>
          <p:nvPr/>
        </p:nvSpPr>
        <p:spPr>
          <a:xfrm>
            <a:off x="7809120" y="2487240"/>
            <a:ext cx="245952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00" strike="noStrike" u="none">
                <a:solidFill>
                  <a:srgbClr val="243b53"/>
                </a:solidFill>
                <a:effectLst/>
                <a:uFillTx/>
                <a:latin typeface="Yu Gothic"/>
                <a:ea typeface="Yu Gothic"/>
              </a:rPr>
              <a:t>連続評価期間で工数</a:t>
            </a:r>
            <a:r>
              <a:rPr b="0" lang="en-US" sz="1100" strike="noStrike" u="none">
                <a:solidFill>
                  <a:srgbClr val="243b53"/>
                </a:solidFill>
                <a:effectLst/>
                <a:uFillTx/>
                <a:latin typeface="Yu Gothic"/>
                <a:ea typeface="Yu Gothic"/>
              </a:rPr>
              <a:t>70%</a:t>
            </a:r>
            <a:r>
              <a:rPr b="0" lang="zh-CN" sz="1100" strike="noStrike" u="none">
                <a:solidFill>
                  <a:srgbClr val="243b53"/>
                </a:solidFill>
                <a:effectLst/>
                <a:uFillTx/>
                <a:latin typeface="Yu Gothic"/>
                <a:ea typeface="Yu Gothic"/>
              </a:rPr>
              <a:t>以下</a:t>
            </a:r>
            <a:endParaRPr b="0" lang="en-US" sz="1100" strike="noStrike" u="none">
              <a:solidFill>
                <a:srgbClr val="000000"/>
              </a:solidFill>
              <a:effectLst/>
              <a:uFillTx/>
              <a:latin typeface="Arial"/>
            </a:endParaRPr>
          </a:p>
        </p:txBody>
      </p:sp>
      <p:sp>
        <p:nvSpPr>
          <p:cNvPr id="293" name="Shape 35"/>
          <p:cNvSpPr/>
          <p:nvPr/>
        </p:nvSpPr>
        <p:spPr>
          <a:xfrm>
            <a:off x="7662600" y="2926080"/>
            <a:ext cx="82080" cy="82080"/>
          </a:xfrm>
          <a:prstGeom prst="ellipse">
            <a:avLst/>
          </a:prstGeom>
          <a:solidFill>
            <a:srgbClr val="f59e0b"/>
          </a:solidFill>
          <a:ln w="12700">
            <a:solidFill>
              <a:srgbClr val="f59e0b"/>
            </a:solidFill>
            <a:round/>
          </a:ln>
        </p:spPr>
        <p:style>
          <a:lnRef idx="0"/>
          <a:fillRef idx="0"/>
          <a:effectRef idx="0"/>
          <a:fontRef idx="minor"/>
        </p:style>
        <p:txBody>
          <a:bodyPr lIns="90000" rIns="90000" tIns="13320" bIns="13320" anchor="t">
            <a:noAutofit/>
          </a:bodyPr>
          <a:p>
            <a:endParaRPr b="0" lang="en-US" sz="1800" strike="noStrike" u="none">
              <a:solidFill>
                <a:srgbClr val="000000"/>
              </a:solidFill>
              <a:effectLst/>
              <a:uFillTx/>
              <a:latin typeface="Arial"/>
            </a:endParaRPr>
          </a:p>
        </p:txBody>
      </p:sp>
      <p:sp>
        <p:nvSpPr>
          <p:cNvPr id="294" name="Text 36"/>
          <p:cNvSpPr/>
          <p:nvPr/>
        </p:nvSpPr>
        <p:spPr>
          <a:xfrm>
            <a:off x="7809120" y="2834640"/>
            <a:ext cx="245952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00" strike="noStrike" u="none">
                <a:solidFill>
                  <a:srgbClr val="243b53"/>
                </a:solidFill>
                <a:effectLst/>
                <a:uFillTx/>
                <a:latin typeface="Yu Gothic"/>
                <a:ea typeface="Yu Gothic"/>
              </a:rPr>
              <a:t>人手確定成果物と同等品質を確認</a:t>
            </a:r>
            <a:endParaRPr b="0" lang="en-US" sz="1100" strike="noStrike" u="none">
              <a:solidFill>
                <a:srgbClr val="000000"/>
              </a:solidFill>
              <a:effectLst/>
              <a:uFillTx/>
              <a:latin typeface="Arial"/>
            </a:endParaRPr>
          </a:p>
        </p:txBody>
      </p:sp>
      <p:sp>
        <p:nvSpPr>
          <p:cNvPr id="295" name="Shape 37"/>
          <p:cNvSpPr/>
          <p:nvPr/>
        </p:nvSpPr>
        <p:spPr>
          <a:xfrm>
            <a:off x="7662600" y="3273480"/>
            <a:ext cx="82080" cy="82080"/>
          </a:xfrm>
          <a:prstGeom prst="ellipse">
            <a:avLst/>
          </a:prstGeom>
          <a:solidFill>
            <a:srgbClr val="f59e0b"/>
          </a:solidFill>
          <a:ln w="12700">
            <a:solidFill>
              <a:srgbClr val="f59e0b"/>
            </a:solidFill>
            <a:round/>
          </a:ln>
        </p:spPr>
        <p:style>
          <a:lnRef idx="0"/>
          <a:fillRef idx="0"/>
          <a:effectRef idx="0"/>
          <a:fontRef idx="minor"/>
        </p:style>
        <p:txBody>
          <a:bodyPr lIns="90000" rIns="90000" tIns="13320" bIns="13320" anchor="t">
            <a:noAutofit/>
          </a:bodyPr>
          <a:p>
            <a:endParaRPr b="0" lang="en-US" sz="1800" strike="noStrike" u="none">
              <a:solidFill>
                <a:srgbClr val="000000"/>
              </a:solidFill>
              <a:effectLst/>
              <a:uFillTx/>
              <a:latin typeface="Arial"/>
            </a:endParaRPr>
          </a:p>
        </p:txBody>
      </p:sp>
      <p:sp>
        <p:nvSpPr>
          <p:cNvPr id="296" name="Text 38"/>
          <p:cNvSpPr/>
          <p:nvPr/>
        </p:nvSpPr>
        <p:spPr>
          <a:xfrm>
            <a:off x="7809120" y="3182040"/>
            <a:ext cx="245952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00" strike="noStrike" u="none">
                <a:solidFill>
                  <a:srgbClr val="243b53"/>
                </a:solidFill>
                <a:effectLst/>
                <a:uFillTx/>
                <a:latin typeface="Yu Gothic"/>
                <a:ea typeface="Yu Gothic"/>
              </a:rPr>
              <a:t>ピーク負荷・例外系をシャドー検証</a:t>
            </a:r>
            <a:endParaRPr b="0" lang="en-US" sz="1100" strike="noStrike" u="none">
              <a:solidFill>
                <a:srgbClr val="000000"/>
              </a:solidFill>
              <a:effectLst/>
              <a:uFillTx/>
              <a:latin typeface="Arial"/>
            </a:endParaRPr>
          </a:p>
        </p:txBody>
      </p:sp>
      <p:sp>
        <p:nvSpPr>
          <p:cNvPr id="297" name="Shape 39"/>
          <p:cNvSpPr/>
          <p:nvPr/>
        </p:nvSpPr>
        <p:spPr>
          <a:xfrm>
            <a:off x="7662600" y="3620880"/>
            <a:ext cx="82080" cy="82080"/>
          </a:xfrm>
          <a:prstGeom prst="ellipse">
            <a:avLst/>
          </a:prstGeom>
          <a:solidFill>
            <a:srgbClr val="f59e0b"/>
          </a:solidFill>
          <a:ln w="12700">
            <a:solidFill>
              <a:srgbClr val="f59e0b"/>
            </a:solidFill>
            <a:round/>
          </a:ln>
        </p:spPr>
        <p:style>
          <a:lnRef idx="0"/>
          <a:fillRef idx="0"/>
          <a:effectRef idx="0"/>
          <a:fontRef idx="minor"/>
        </p:style>
        <p:txBody>
          <a:bodyPr lIns="90000" rIns="90000" tIns="13320" bIns="13320" anchor="t">
            <a:noAutofit/>
          </a:bodyPr>
          <a:p>
            <a:endParaRPr b="0" lang="en-US" sz="1800" strike="noStrike" u="none">
              <a:solidFill>
                <a:srgbClr val="000000"/>
              </a:solidFill>
              <a:effectLst/>
              <a:uFillTx/>
              <a:latin typeface="Arial"/>
            </a:endParaRPr>
          </a:p>
        </p:txBody>
      </p:sp>
      <p:sp>
        <p:nvSpPr>
          <p:cNvPr id="298" name="Text 40"/>
          <p:cNvSpPr/>
          <p:nvPr/>
        </p:nvSpPr>
        <p:spPr>
          <a:xfrm>
            <a:off x="7809120" y="3529440"/>
            <a:ext cx="245952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243b53"/>
                </a:solidFill>
                <a:effectLst/>
                <a:uFillTx/>
                <a:latin typeface="Yu Gothic"/>
                <a:ea typeface="Yu Gothic"/>
              </a:rPr>
              <a:t>4</a:t>
            </a:r>
            <a:r>
              <a:rPr b="0" lang="zh-CN" sz="1100" strike="noStrike" u="none">
                <a:solidFill>
                  <a:srgbClr val="243b53"/>
                </a:solidFill>
                <a:effectLst/>
                <a:uFillTx/>
                <a:latin typeface="Yu Gothic"/>
                <a:ea typeface="Yu Gothic"/>
              </a:rPr>
              <a:t>月の役割・要員配置を確定</a:t>
            </a:r>
            <a:endParaRPr b="0" lang="en-US" sz="1100" strike="noStrike" u="none">
              <a:solidFill>
                <a:srgbClr val="000000"/>
              </a:solidFill>
              <a:effectLst/>
              <a:uFillTx/>
              <a:latin typeface="Arial"/>
            </a:endParaRPr>
          </a:p>
        </p:txBody>
      </p:sp>
      <p:sp>
        <p:nvSpPr>
          <p:cNvPr id="299" name="Shape 41"/>
          <p:cNvSpPr/>
          <p:nvPr/>
        </p:nvSpPr>
        <p:spPr>
          <a:xfrm>
            <a:off x="3648240" y="3200400"/>
            <a:ext cx="301680" cy="360"/>
          </a:xfrm>
          <a:prstGeom prst="line">
            <a:avLst/>
          </a:prstGeom>
          <a:ln w="25400">
            <a:solidFill>
              <a:srgbClr val="8793a1"/>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00" name="Shape 42"/>
          <p:cNvSpPr/>
          <p:nvPr/>
        </p:nvSpPr>
        <p:spPr>
          <a:xfrm>
            <a:off x="7077240" y="3200400"/>
            <a:ext cx="301680" cy="360"/>
          </a:xfrm>
          <a:prstGeom prst="line">
            <a:avLst/>
          </a:prstGeom>
          <a:ln w="25400">
            <a:solidFill>
              <a:srgbClr val="8793a1"/>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01" name="Shape 43"/>
          <p:cNvSpPr/>
          <p:nvPr/>
        </p:nvSpPr>
        <p:spPr>
          <a:xfrm>
            <a:off x="640080" y="4480560"/>
            <a:ext cx="10734840" cy="1298160"/>
          </a:xfrm>
          <a:prstGeom prst="roundRect">
            <a:avLst>
              <a:gd name="adj" fmla="val 4225"/>
            </a:avLst>
          </a:prstGeom>
          <a:solidFill>
            <a:srgbClr val="eef3f8"/>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02" name="Text 44"/>
          <p:cNvSpPr/>
          <p:nvPr/>
        </p:nvSpPr>
        <p:spPr>
          <a:xfrm>
            <a:off x="896040" y="4663440"/>
            <a:ext cx="3657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trike="noStrike" u="none">
                <a:solidFill>
                  <a:srgbClr val="0b1f33"/>
                </a:solidFill>
                <a:effectLst/>
                <a:uFillTx/>
                <a:latin typeface="Yu Gothic"/>
                <a:ea typeface="Yu Gothic"/>
              </a:rPr>
              <a:t>3</a:t>
            </a:r>
            <a:r>
              <a:rPr b="1" lang="zh-CN" sz="1600" strike="noStrike" u="none">
                <a:solidFill>
                  <a:srgbClr val="0b1f33"/>
                </a:solidFill>
                <a:effectLst/>
                <a:uFillTx/>
                <a:latin typeface="Yu Gothic"/>
                <a:ea typeface="Yu Gothic"/>
              </a:rPr>
              <a:t>月 </a:t>
            </a:r>
            <a:r>
              <a:rPr b="1" lang="en-US" sz="1600" strike="noStrike" u="none">
                <a:solidFill>
                  <a:srgbClr val="0b1f33"/>
                </a:solidFill>
                <a:effectLst/>
                <a:uFillTx/>
                <a:latin typeface="Yu Gothic"/>
                <a:ea typeface="Yu Gothic"/>
              </a:rPr>
              <a:t>Gate 2</a:t>
            </a:r>
            <a:r>
              <a:rPr b="1" lang="zh-CN" sz="1600" strike="noStrike" u="none">
                <a:solidFill>
                  <a:srgbClr val="0b1f33"/>
                </a:solidFill>
                <a:effectLst/>
                <a:uFillTx/>
                <a:latin typeface="Yu Gothic"/>
                <a:ea typeface="Yu Gothic"/>
              </a:rPr>
              <a:t>｜本番移行・</a:t>
            </a:r>
            <a:r>
              <a:rPr b="1" lang="en-US" sz="1600" strike="noStrike" u="none">
                <a:solidFill>
                  <a:srgbClr val="0b1f33"/>
                </a:solidFill>
                <a:effectLst/>
                <a:uFillTx/>
                <a:latin typeface="Yu Gothic"/>
                <a:ea typeface="Yu Gothic"/>
              </a:rPr>
              <a:t>4</a:t>
            </a:r>
            <a:r>
              <a:rPr b="1" lang="zh-CN" sz="1600" strike="noStrike" u="none">
                <a:solidFill>
                  <a:srgbClr val="0b1f33"/>
                </a:solidFill>
                <a:effectLst/>
                <a:uFillTx/>
                <a:latin typeface="Yu Gothic"/>
                <a:ea typeface="Yu Gothic"/>
              </a:rPr>
              <a:t>月体制変更へ進む条件</a:t>
            </a:r>
            <a:endParaRPr b="0" lang="en-US" sz="1600" strike="noStrike" u="none">
              <a:solidFill>
                <a:srgbClr val="000000"/>
              </a:solidFill>
              <a:effectLst/>
              <a:uFillTx/>
              <a:latin typeface="Arial"/>
            </a:endParaRPr>
          </a:p>
        </p:txBody>
      </p:sp>
      <p:sp>
        <p:nvSpPr>
          <p:cNvPr id="303" name="Shape 45"/>
          <p:cNvSpPr/>
          <p:nvPr/>
        </p:nvSpPr>
        <p:spPr>
          <a:xfrm>
            <a:off x="896040" y="5139000"/>
            <a:ext cx="676440" cy="328680"/>
          </a:xfrm>
          <a:prstGeom prst="roundRect">
            <a:avLst>
              <a:gd name="adj" fmla="val 19444"/>
            </a:avLst>
          </a:prstGeom>
          <a:solidFill>
            <a:srgbClr val="1b6fd1"/>
          </a:solidFill>
          <a:ln w="12700">
            <a:solidFill>
              <a:srgbClr val="1b6fd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04" name="Text 46"/>
          <p:cNvSpPr/>
          <p:nvPr/>
        </p:nvSpPr>
        <p:spPr>
          <a:xfrm>
            <a:off x="941760" y="5175360"/>
            <a:ext cx="5850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zh-CN" sz="950" strike="noStrike" u="none">
                <a:solidFill>
                  <a:srgbClr val="ffffff"/>
                </a:solidFill>
                <a:effectLst/>
                <a:uFillTx/>
                <a:latin typeface="Yu Gothic"/>
                <a:ea typeface="Yu Gothic"/>
              </a:rPr>
              <a:t>工数</a:t>
            </a:r>
            <a:endParaRPr b="0" lang="en-US" sz="950" strike="noStrike" u="none">
              <a:solidFill>
                <a:srgbClr val="000000"/>
              </a:solidFill>
              <a:effectLst/>
              <a:uFillTx/>
              <a:latin typeface="Arial"/>
            </a:endParaRPr>
          </a:p>
        </p:txBody>
      </p:sp>
      <p:sp>
        <p:nvSpPr>
          <p:cNvPr id="305" name="Text 47"/>
          <p:cNvSpPr/>
          <p:nvPr/>
        </p:nvSpPr>
        <p:spPr>
          <a:xfrm>
            <a:off x="1645920" y="5083920"/>
            <a:ext cx="169128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939" strike="noStrike" u="none">
                <a:solidFill>
                  <a:srgbClr val="243b53"/>
                </a:solidFill>
                <a:effectLst/>
                <a:uFillTx/>
                <a:latin typeface="Yu Gothic"/>
                <a:ea typeface="Yu Gothic"/>
              </a:rPr>
              <a:t>同一成果量の正味工数が基準の</a:t>
            </a:r>
            <a:r>
              <a:rPr b="0" lang="en-US" sz="939" strike="noStrike" u="none">
                <a:solidFill>
                  <a:srgbClr val="243b53"/>
                </a:solidFill>
                <a:effectLst/>
                <a:uFillTx/>
                <a:latin typeface="Yu Gothic"/>
                <a:ea typeface="Yu Gothic"/>
              </a:rPr>
              <a:t>70%</a:t>
            </a:r>
            <a:r>
              <a:rPr b="0" lang="zh-CN" sz="939" strike="noStrike" u="none">
                <a:solidFill>
                  <a:srgbClr val="243b53"/>
                </a:solidFill>
                <a:effectLst/>
                <a:uFillTx/>
                <a:latin typeface="Yu Gothic"/>
                <a:ea typeface="Yu Gothic"/>
              </a:rPr>
              <a:t>以下</a:t>
            </a:r>
            <a:endParaRPr b="0" lang="en-US" sz="939" strike="noStrike" u="none">
              <a:solidFill>
                <a:srgbClr val="000000"/>
              </a:solidFill>
              <a:effectLst/>
              <a:uFillTx/>
              <a:latin typeface="Arial"/>
            </a:endParaRPr>
          </a:p>
        </p:txBody>
      </p:sp>
      <p:sp>
        <p:nvSpPr>
          <p:cNvPr id="306" name="Shape 48"/>
          <p:cNvSpPr/>
          <p:nvPr/>
        </p:nvSpPr>
        <p:spPr>
          <a:xfrm>
            <a:off x="3474720" y="5139000"/>
            <a:ext cx="676440" cy="328680"/>
          </a:xfrm>
          <a:prstGeom prst="roundRect">
            <a:avLst>
              <a:gd name="adj" fmla="val 19444"/>
            </a:avLst>
          </a:prstGeom>
          <a:solidFill>
            <a:srgbClr val="0f9d8a"/>
          </a:solidFill>
          <a:ln w="12700">
            <a:solidFill>
              <a:srgbClr val="0f9d8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07" name="Text 49"/>
          <p:cNvSpPr/>
          <p:nvPr/>
        </p:nvSpPr>
        <p:spPr>
          <a:xfrm>
            <a:off x="3520440" y="5175360"/>
            <a:ext cx="5850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zh-CN" sz="950" strike="noStrike" u="none">
                <a:solidFill>
                  <a:srgbClr val="ffffff"/>
                </a:solidFill>
                <a:effectLst/>
                <a:uFillTx/>
                <a:latin typeface="Yu Gothic"/>
                <a:ea typeface="Yu Gothic"/>
              </a:rPr>
              <a:t>品質</a:t>
            </a:r>
            <a:endParaRPr b="0" lang="en-US" sz="950" strike="noStrike" u="none">
              <a:solidFill>
                <a:srgbClr val="000000"/>
              </a:solidFill>
              <a:effectLst/>
              <a:uFillTx/>
              <a:latin typeface="Arial"/>
            </a:endParaRPr>
          </a:p>
        </p:txBody>
      </p:sp>
      <p:sp>
        <p:nvSpPr>
          <p:cNvPr id="308" name="Text 50"/>
          <p:cNvSpPr/>
          <p:nvPr/>
        </p:nvSpPr>
        <p:spPr>
          <a:xfrm>
            <a:off x="4224600" y="5083920"/>
            <a:ext cx="169128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39" strike="noStrike" u="none">
                <a:solidFill>
                  <a:srgbClr val="243b53"/>
                </a:solidFill>
                <a:effectLst/>
                <a:uFillTx/>
                <a:latin typeface="Yu Gothic"/>
                <a:ea typeface="Yu Gothic"/>
              </a:rPr>
              <a:t>AI</a:t>
            </a:r>
            <a:r>
              <a:rPr b="0" lang="zh-CN" sz="939" strike="noStrike" u="none">
                <a:solidFill>
                  <a:srgbClr val="243b53"/>
                </a:solidFill>
                <a:effectLst/>
                <a:uFillTx/>
                <a:latin typeface="Yu Gothic"/>
                <a:ea typeface="Yu Gothic"/>
              </a:rPr>
              <a:t>成果物の要修正・影響漏れ・試験不足が基準内</a:t>
            </a:r>
            <a:endParaRPr b="0" lang="en-US" sz="939" strike="noStrike" u="none">
              <a:solidFill>
                <a:srgbClr val="000000"/>
              </a:solidFill>
              <a:effectLst/>
              <a:uFillTx/>
              <a:latin typeface="Arial"/>
            </a:endParaRPr>
          </a:p>
        </p:txBody>
      </p:sp>
      <p:sp>
        <p:nvSpPr>
          <p:cNvPr id="309" name="Shape 51"/>
          <p:cNvSpPr/>
          <p:nvPr/>
        </p:nvSpPr>
        <p:spPr>
          <a:xfrm>
            <a:off x="6053400" y="5139000"/>
            <a:ext cx="676440" cy="328680"/>
          </a:xfrm>
          <a:prstGeom prst="roundRect">
            <a:avLst>
              <a:gd name="adj" fmla="val 19444"/>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10" name="Text 52"/>
          <p:cNvSpPr/>
          <p:nvPr/>
        </p:nvSpPr>
        <p:spPr>
          <a:xfrm>
            <a:off x="6099120" y="5175360"/>
            <a:ext cx="5850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zh-CN" sz="950" strike="noStrike" u="none">
                <a:solidFill>
                  <a:srgbClr val="ffffff"/>
                </a:solidFill>
                <a:effectLst/>
                <a:uFillTx/>
                <a:latin typeface="Yu Gothic"/>
                <a:ea typeface="Yu Gothic"/>
              </a:rPr>
              <a:t>再現性</a:t>
            </a:r>
            <a:endParaRPr b="0" lang="en-US" sz="950" strike="noStrike" u="none">
              <a:solidFill>
                <a:srgbClr val="000000"/>
              </a:solidFill>
              <a:effectLst/>
              <a:uFillTx/>
              <a:latin typeface="Arial"/>
            </a:endParaRPr>
          </a:p>
        </p:txBody>
      </p:sp>
      <p:sp>
        <p:nvSpPr>
          <p:cNvPr id="311" name="Text 53"/>
          <p:cNvSpPr/>
          <p:nvPr/>
        </p:nvSpPr>
        <p:spPr>
          <a:xfrm>
            <a:off x="6803280" y="5083920"/>
            <a:ext cx="169128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939" strike="noStrike" u="none">
                <a:solidFill>
                  <a:srgbClr val="243b53"/>
                </a:solidFill>
                <a:effectLst/>
                <a:uFillTx/>
                <a:latin typeface="Yu Gothic"/>
                <a:ea typeface="Yu Gothic"/>
              </a:rPr>
              <a:t>複数の変更種別・担当者で同等効果を再現</a:t>
            </a:r>
            <a:endParaRPr b="0" lang="en-US" sz="939" strike="noStrike" u="none">
              <a:solidFill>
                <a:srgbClr val="000000"/>
              </a:solidFill>
              <a:effectLst/>
              <a:uFillTx/>
              <a:latin typeface="Arial"/>
            </a:endParaRPr>
          </a:p>
        </p:txBody>
      </p:sp>
      <p:sp>
        <p:nvSpPr>
          <p:cNvPr id="312" name="Shape 54"/>
          <p:cNvSpPr/>
          <p:nvPr/>
        </p:nvSpPr>
        <p:spPr>
          <a:xfrm>
            <a:off x="8632080" y="5139000"/>
            <a:ext cx="676440" cy="328680"/>
          </a:xfrm>
          <a:prstGeom prst="roundRect">
            <a:avLst>
              <a:gd name="adj" fmla="val 19444"/>
            </a:avLst>
          </a:prstGeom>
          <a:solidFill>
            <a:srgbClr val="0b1f33"/>
          </a:solidFill>
          <a:ln w="12700">
            <a:solidFill>
              <a:srgbClr val="0b1f33"/>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13" name="Text 55"/>
          <p:cNvSpPr/>
          <p:nvPr/>
        </p:nvSpPr>
        <p:spPr>
          <a:xfrm>
            <a:off x="8677800" y="5175360"/>
            <a:ext cx="5850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zh-CN" sz="950" strike="noStrike" u="none">
                <a:solidFill>
                  <a:srgbClr val="ffffff"/>
                </a:solidFill>
                <a:effectLst/>
                <a:uFillTx/>
                <a:latin typeface="Yu Gothic"/>
                <a:ea typeface="Yu Gothic"/>
              </a:rPr>
              <a:t>運用性</a:t>
            </a:r>
            <a:endParaRPr b="0" lang="en-US" sz="950" strike="noStrike" u="none">
              <a:solidFill>
                <a:srgbClr val="000000"/>
              </a:solidFill>
              <a:effectLst/>
              <a:uFillTx/>
              <a:latin typeface="Arial"/>
            </a:endParaRPr>
          </a:p>
        </p:txBody>
      </p:sp>
      <p:sp>
        <p:nvSpPr>
          <p:cNvPr id="314" name="Text 56"/>
          <p:cNvSpPr/>
          <p:nvPr/>
        </p:nvSpPr>
        <p:spPr>
          <a:xfrm>
            <a:off x="9381600" y="5083920"/>
            <a:ext cx="169128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939" strike="noStrike" u="none">
                <a:solidFill>
                  <a:srgbClr val="243b53"/>
                </a:solidFill>
                <a:effectLst/>
                <a:uFillTx/>
                <a:latin typeface="Yu Gothic"/>
                <a:ea typeface="Yu Gothic"/>
              </a:rPr>
              <a:t>本番移行後の例外処理・人手復帰が手順化済み</a:t>
            </a:r>
            <a:endParaRPr b="0" lang="en-US" sz="939" strike="noStrike" u="none">
              <a:solidFill>
                <a:srgbClr val="000000"/>
              </a:solidFill>
              <a:effectLst/>
              <a:uFillTx/>
              <a:latin typeface="Arial"/>
            </a:endParaRPr>
          </a:p>
        </p:txBody>
      </p:sp>
      <p:sp>
        <p:nvSpPr>
          <p:cNvPr id="315" name="PlaceHolder 1"/>
          <p:cNvSpPr>
            <a:spLocks noGrp="1"/>
          </p:cNvSpPr>
          <p:nvPr>
            <p:ph type="sldNum" idx="9"/>
          </p:nvPr>
        </p:nvSpPr>
        <p:spPr>
          <a:xfrm>
            <a:off x="11777400" y="65563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850" strike="noStrike" u="none">
                <a:solidFill>
                  <a:srgbClr val="75808f"/>
                </a:solidFill>
                <a:effectLst/>
                <a:uFillTx/>
                <a:latin typeface="Yu Gothic"/>
                <a:ea typeface="Yu Gothic"/>
              </a:defRPr>
            </a:lvl1pPr>
          </a:lstStyle>
          <a:p>
            <a:pPr indent="0" defTabSz="914400">
              <a:lnSpc>
                <a:spcPct val="100000"/>
              </a:lnSpc>
              <a:buNone/>
            </a:pPr>
            <a:fld id="{391A8248-1B7F-49A4-A607-5D4D38CB912B}" type="slidenum">
              <a:rPr b="0" lang="en-US" sz="850" strike="noStrike" u="none">
                <a:solidFill>
                  <a:srgbClr val="75808f"/>
                </a:solidFill>
                <a:effectLst/>
                <a:uFillTx/>
                <a:latin typeface="Yu Gothic"/>
                <a:ea typeface="Yu Gothic"/>
              </a:rPr>
              <a:t>&lt;number&gt;</a:t>
            </a:fld>
            <a:endParaRPr b="0" lang="en-US" sz="85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Text 0"/>
          <p:cNvSpPr/>
          <p:nvPr/>
        </p:nvSpPr>
        <p:spPr>
          <a:xfrm>
            <a:off x="530280" y="301680"/>
            <a:ext cx="11109600" cy="420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50" strike="noStrike" u="none">
                <a:solidFill>
                  <a:srgbClr val="0b1f33"/>
                </a:solidFill>
                <a:effectLst/>
                <a:uFillTx/>
                <a:latin typeface="Yu Gothic"/>
                <a:ea typeface="Yu Gothic"/>
              </a:rPr>
              <a:t>4</a:t>
            </a:r>
            <a:r>
              <a:rPr b="1" lang="zh-CN" sz="2550" strike="noStrike" u="none">
                <a:solidFill>
                  <a:srgbClr val="0b1f33"/>
                </a:solidFill>
                <a:effectLst/>
                <a:uFillTx/>
                <a:latin typeface="Yu Gothic"/>
                <a:ea typeface="Yu Gothic"/>
              </a:rPr>
              <a:t>月：</a:t>
            </a:r>
            <a:r>
              <a:rPr b="1" lang="en-US" sz="2550" strike="noStrike" u="none">
                <a:solidFill>
                  <a:srgbClr val="0b1f33"/>
                </a:solidFill>
                <a:effectLst/>
                <a:uFillTx/>
                <a:latin typeface="Yu Gothic"/>
                <a:ea typeface="Yu Gothic"/>
              </a:rPr>
              <a:t>Gate</a:t>
            </a:r>
            <a:r>
              <a:rPr b="1" lang="zh-CN" sz="2550" strike="noStrike" u="none">
                <a:solidFill>
                  <a:srgbClr val="0b1f33"/>
                </a:solidFill>
                <a:effectLst/>
                <a:uFillTx/>
                <a:latin typeface="Yu Gothic"/>
                <a:ea typeface="Yu Gothic"/>
              </a:rPr>
              <a:t>通過後に初めて本番へ移行し、効果を体制へ反映</a:t>
            </a:r>
            <a:endParaRPr b="0" lang="en-US" sz="2550" strike="noStrike" u="none">
              <a:solidFill>
                <a:srgbClr val="000000"/>
              </a:solidFill>
              <a:effectLst/>
              <a:uFillTx/>
              <a:latin typeface="Arial"/>
            </a:endParaRPr>
          </a:p>
        </p:txBody>
      </p:sp>
      <p:sp>
        <p:nvSpPr>
          <p:cNvPr id="317" name="Text 1"/>
          <p:cNvSpPr/>
          <p:nvPr/>
        </p:nvSpPr>
        <p:spPr>
          <a:xfrm>
            <a:off x="548640" y="749880"/>
            <a:ext cx="1097244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trike="noStrike" u="none">
                <a:solidFill>
                  <a:srgbClr val="52606d"/>
                </a:solidFill>
                <a:effectLst/>
                <a:uFillTx/>
                <a:latin typeface="Yu Gothic"/>
                <a:ea typeface="Yu Gothic"/>
              </a:rPr>
              <a:t>3</a:t>
            </a:r>
            <a:r>
              <a:rPr b="0" lang="zh-CN" sz="1150" strike="noStrike" u="none">
                <a:solidFill>
                  <a:srgbClr val="52606d"/>
                </a:solidFill>
                <a:effectLst/>
                <a:uFillTx/>
                <a:latin typeface="Yu Gothic"/>
                <a:ea typeface="Yu Gothic"/>
              </a:rPr>
              <a:t>月までのシャドー検証で</a:t>
            </a:r>
            <a:r>
              <a:rPr b="0" lang="en-US" sz="1150" strike="noStrike" u="none">
                <a:solidFill>
                  <a:srgbClr val="52606d"/>
                </a:solidFill>
                <a:effectLst/>
                <a:uFillTx/>
                <a:latin typeface="Yu Gothic"/>
                <a:ea typeface="Yu Gothic"/>
              </a:rPr>
              <a:t>30%</a:t>
            </a:r>
            <a:r>
              <a:rPr b="0" lang="zh-CN" sz="1150" strike="noStrike" u="none">
                <a:solidFill>
                  <a:srgbClr val="52606d"/>
                </a:solidFill>
                <a:effectLst/>
                <a:uFillTx/>
                <a:latin typeface="Yu Gothic"/>
                <a:ea typeface="Yu Gothic"/>
              </a:rPr>
              <a:t>工数削減と同等品質を再現できた場合のみ、本番移行と「必要要員</a:t>
            </a:r>
            <a:r>
              <a:rPr b="0" lang="en-US" sz="1150" strike="noStrike" u="none">
                <a:solidFill>
                  <a:srgbClr val="52606d"/>
                </a:solidFill>
                <a:effectLst/>
                <a:uFillTx/>
                <a:latin typeface="Yu Gothic"/>
                <a:ea typeface="Yu Gothic"/>
              </a:rPr>
              <a:t>70%</a:t>
            </a:r>
            <a:r>
              <a:rPr b="0" lang="zh-CN" sz="1150" strike="noStrike" u="none">
                <a:solidFill>
                  <a:srgbClr val="52606d"/>
                </a:solidFill>
                <a:effectLst/>
                <a:uFillTx/>
                <a:latin typeface="Yu Gothic"/>
                <a:ea typeface="Yu Gothic"/>
              </a:rPr>
              <a:t>」の体制変更へ進みます</a:t>
            </a:r>
            <a:endParaRPr b="0" lang="en-US" sz="1150" strike="noStrike" u="none">
              <a:solidFill>
                <a:srgbClr val="000000"/>
              </a:solidFill>
              <a:effectLst/>
              <a:uFillTx/>
              <a:latin typeface="Arial"/>
            </a:endParaRPr>
          </a:p>
        </p:txBody>
      </p:sp>
      <p:sp>
        <p:nvSpPr>
          <p:cNvPr id="318" name="Shape 2"/>
          <p:cNvSpPr/>
          <p:nvPr/>
        </p:nvSpPr>
        <p:spPr>
          <a:xfrm>
            <a:off x="658440" y="1243440"/>
            <a:ext cx="10844280" cy="1005480"/>
          </a:xfrm>
          <a:prstGeom prst="roundRect">
            <a:avLst>
              <a:gd name="adj" fmla="val 5455"/>
            </a:avLst>
          </a:prstGeom>
          <a:solidFill>
            <a:srgbClr val="0b1f33"/>
          </a:solidFill>
          <a:ln w="12700">
            <a:solidFill>
              <a:srgbClr val="0b1f33"/>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19" name="Text 3"/>
          <p:cNvSpPr/>
          <p:nvPr/>
        </p:nvSpPr>
        <p:spPr>
          <a:xfrm>
            <a:off x="896040" y="1444680"/>
            <a:ext cx="16912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zh-CN" sz="1500" strike="noStrike" u="none">
                <a:solidFill>
                  <a:srgbClr val="ffffff"/>
                </a:solidFill>
                <a:effectLst/>
                <a:uFillTx/>
                <a:latin typeface="Yu Gothic"/>
                <a:ea typeface="Yu Gothic"/>
              </a:rPr>
              <a:t>体制設計の考え方</a:t>
            </a:r>
            <a:endParaRPr b="0" lang="en-US" sz="1500" strike="noStrike" u="none">
              <a:solidFill>
                <a:srgbClr val="000000"/>
              </a:solidFill>
              <a:effectLst/>
              <a:uFillTx/>
              <a:latin typeface="Arial"/>
            </a:endParaRPr>
          </a:p>
        </p:txBody>
      </p:sp>
      <p:sp>
        <p:nvSpPr>
          <p:cNvPr id="320" name="Text 4"/>
          <p:cNvSpPr/>
          <p:nvPr/>
        </p:nvSpPr>
        <p:spPr>
          <a:xfrm>
            <a:off x="2487240" y="1426320"/>
            <a:ext cx="8549280" cy="328680"/>
          </a:xfrm>
          <a:prstGeom prst="rect">
            <a:avLst/>
          </a:prstGeom>
          <a:noFill/>
          <a:ln w="0">
            <a:noFill/>
          </a:ln>
        </p:spPr>
        <p:style>
          <a:lnRef idx="0"/>
          <a:fillRef idx="0"/>
          <a:effectRef idx="0"/>
          <a:fontRef idx="minor"/>
        </p:style>
        <p:txBody>
          <a:bodyPr lIns="0" rIns="0" tIns="0" bIns="0" anchor="ctr">
            <a:normAutofit fontScale="77500" lnSpcReduction="19999"/>
          </a:bodyPr>
          <a:p>
            <a:pPr algn="ctr" defTabSz="914400">
              <a:lnSpc>
                <a:spcPct val="100000"/>
              </a:lnSpc>
              <a:tabLst>
                <a:tab algn="l" pos="0"/>
              </a:tabLst>
            </a:pPr>
            <a:r>
              <a:rPr b="1" lang="zh-CN" sz="1800" strike="noStrike" u="none">
                <a:solidFill>
                  <a:srgbClr val="eaf2ff"/>
                </a:solidFill>
                <a:effectLst/>
                <a:uFillTx/>
                <a:latin typeface="Yu Gothic"/>
                <a:ea typeface="Yu Gothic"/>
              </a:rPr>
              <a:t>基準 </a:t>
            </a:r>
            <a:r>
              <a:rPr b="1" lang="en-US" sz="1800" strike="noStrike" u="none">
                <a:solidFill>
                  <a:srgbClr val="eaf2ff"/>
                </a:solidFill>
                <a:effectLst/>
                <a:uFillTx/>
                <a:latin typeface="Yu Gothic"/>
                <a:ea typeface="Yu Gothic"/>
              </a:rPr>
              <a:t>workload 100  ×  </a:t>
            </a:r>
            <a:r>
              <a:rPr b="1" lang="zh-CN" sz="1800" strike="noStrike" u="none">
                <a:solidFill>
                  <a:srgbClr val="eaf2ff"/>
                </a:solidFill>
                <a:effectLst/>
                <a:uFillTx/>
                <a:latin typeface="Yu Gothic"/>
                <a:ea typeface="Yu Gothic"/>
              </a:rPr>
              <a:t>必要工数 </a:t>
            </a:r>
            <a:r>
              <a:rPr b="1" lang="en-US" sz="1800" strike="noStrike" u="none">
                <a:solidFill>
                  <a:srgbClr val="eaf2ff"/>
                </a:solidFill>
                <a:effectLst/>
                <a:uFillTx/>
                <a:latin typeface="Yu Gothic"/>
                <a:ea typeface="Yu Gothic"/>
              </a:rPr>
              <a:t>70%  </a:t>
            </a:r>
            <a:r>
              <a:rPr b="1" lang="zh-CN" sz="1800" strike="noStrike" u="none">
                <a:solidFill>
                  <a:srgbClr val="eaf2ff"/>
                </a:solidFill>
                <a:effectLst/>
                <a:uFillTx/>
                <a:latin typeface="Yu Gothic"/>
                <a:ea typeface="Yu Gothic"/>
              </a:rPr>
              <a:t>＝  必要要員 </a:t>
            </a:r>
            <a:r>
              <a:rPr b="1" lang="en-US" sz="1800" strike="noStrike" u="none">
                <a:solidFill>
                  <a:srgbClr val="eaf2ff"/>
                </a:solidFill>
                <a:effectLst/>
                <a:uFillTx/>
                <a:latin typeface="Yu Gothic"/>
                <a:ea typeface="Yu Gothic"/>
              </a:rPr>
              <a:t>70%  </a:t>
            </a:r>
            <a:r>
              <a:rPr b="1" lang="zh-CN" sz="1800" strike="noStrike" u="none">
                <a:solidFill>
                  <a:srgbClr val="eaf2ff"/>
                </a:solidFill>
                <a:effectLst/>
                <a:uFillTx/>
                <a:latin typeface="Yu Gothic"/>
                <a:ea typeface="Yu Gothic"/>
              </a:rPr>
              <a:t>（同一スコープ・同等以上品質が前提）</a:t>
            </a:r>
            <a:endParaRPr b="0" lang="en-US" sz="1800" strike="noStrike" u="none">
              <a:solidFill>
                <a:srgbClr val="000000"/>
              </a:solidFill>
              <a:effectLst/>
              <a:uFillTx/>
              <a:latin typeface="Arial"/>
            </a:endParaRPr>
          </a:p>
        </p:txBody>
      </p:sp>
      <p:sp>
        <p:nvSpPr>
          <p:cNvPr id="321" name="Shape 5"/>
          <p:cNvSpPr/>
          <p:nvPr/>
        </p:nvSpPr>
        <p:spPr>
          <a:xfrm>
            <a:off x="658440" y="2560320"/>
            <a:ext cx="3428640" cy="2194200"/>
          </a:xfrm>
          <a:prstGeom prst="roundRect">
            <a:avLst>
              <a:gd name="adj" fmla="val 2917"/>
            </a:avLst>
          </a:prstGeom>
          <a:solidFill>
            <a:srgbClr val="f2fbf9"/>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22" name="Shape 6"/>
          <p:cNvSpPr/>
          <p:nvPr/>
        </p:nvSpPr>
        <p:spPr>
          <a:xfrm>
            <a:off x="658440" y="2560320"/>
            <a:ext cx="63720" cy="2194200"/>
          </a:xfrm>
          <a:prstGeom prst="rect">
            <a:avLst/>
          </a:prstGeom>
          <a:solidFill>
            <a:srgbClr val="0f9d8a"/>
          </a:solidFill>
          <a:ln w="12700">
            <a:solidFill>
              <a:srgbClr val="0f9d8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23" name="Text 7"/>
          <p:cNvSpPr/>
          <p:nvPr/>
        </p:nvSpPr>
        <p:spPr>
          <a:xfrm>
            <a:off x="822960" y="2706480"/>
            <a:ext cx="310860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zh-CN" sz="1500" strike="noStrike" u="none">
                <a:solidFill>
                  <a:srgbClr val="0b1f33"/>
                </a:solidFill>
                <a:effectLst/>
                <a:uFillTx/>
                <a:latin typeface="Yu Gothic"/>
                <a:ea typeface="Yu Gothic"/>
              </a:rPr>
              <a:t>人が残す役割</a:t>
            </a:r>
            <a:endParaRPr b="0" lang="en-US" sz="1500" strike="noStrike" u="none">
              <a:solidFill>
                <a:srgbClr val="000000"/>
              </a:solidFill>
              <a:effectLst/>
              <a:uFillTx/>
              <a:latin typeface="Arial"/>
            </a:endParaRPr>
          </a:p>
        </p:txBody>
      </p:sp>
      <p:sp>
        <p:nvSpPr>
          <p:cNvPr id="324" name="Shape 8"/>
          <p:cNvSpPr/>
          <p:nvPr/>
        </p:nvSpPr>
        <p:spPr>
          <a:xfrm>
            <a:off x="896040" y="3154680"/>
            <a:ext cx="82080" cy="82080"/>
          </a:xfrm>
          <a:prstGeom prst="ellipse">
            <a:avLst/>
          </a:prstGeom>
          <a:solidFill>
            <a:srgbClr val="0f9d8a"/>
          </a:solidFill>
          <a:ln w="12700">
            <a:solidFill>
              <a:srgbClr val="0f9d8a"/>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325" name="Text 9"/>
          <p:cNvSpPr/>
          <p:nvPr/>
        </p:nvSpPr>
        <p:spPr>
          <a:xfrm>
            <a:off x="1042560" y="3063240"/>
            <a:ext cx="259668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30" strike="noStrike" u="none">
                <a:solidFill>
                  <a:srgbClr val="243b53"/>
                </a:solidFill>
                <a:effectLst/>
                <a:uFillTx/>
                <a:latin typeface="Yu Gothic"/>
                <a:ea typeface="Yu Gothic"/>
              </a:rPr>
              <a:t>要件・業務判断</a:t>
            </a:r>
            <a:endParaRPr b="0" lang="en-US" sz="1130" strike="noStrike" u="none">
              <a:solidFill>
                <a:srgbClr val="000000"/>
              </a:solidFill>
              <a:effectLst/>
              <a:uFillTx/>
              <a:latin typeface="Arial"/>
            </a:endParaRPr>
          </a:p>
        </p:txBody>
      </p:sp>
      <p:sp>
        <p:nvSpPr>
          <p:cNvPr id="326" name="Shape 10"/>
          <p:cNvSpPr/>
          <p:nvPr/>
        </p:nvSpPr>
        <p:spPr>
          <a:xfrm>
            <a:off x="896040" y="3511440"/>
            <a:ext cx="82080" cy="82080"/>
          </a:xfrm>
          <a:prstGeom prst="ellipse">
            <a:avLst/>
          </a:prstGeom>
          <a:solidFill>
            <a:srgbClr val="0f9d8a"/>
          </a:solidFill>
          <a:ln w="12700">
            <a:solidFill>
              <a:srgbClr val="0f9d8a"/>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327" name="Text 11"/>
          <p:cNvSpPr/>
          <p:nvPr/>
        </p:nvSpPr>
        <p:spPr>
          <a:xfrm>
            <a:off x="1042560" y="3420000"/>
            <a:ext cx="259668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30" strike="noStrike" u="none">
                <a:solidFill>
                  <a:srgbClr val="243b53"/>
                </a:solidFill>
                <a:effectLst/>
                <a:uFillTx/>
                <a:latin typeface="Yu Gothic"/>
                <a:ea typeface="Yu Gothic"/>
              </a:rPr>
              <a:t>高リスク変更の最終承認</a:t>
            </a:r>
            <a:endParaRPr b="0" lang="en-US" sz="1130" strike="noStrike" u="none">
              <a:solidFill>
                <a:srgbClr val="000000"/>
              </a:solidFill>
              <a:effectLst/>
              <a:uFillTx/>
              <a:latin typeface="Arial"/>
            </a:endParaRPr>
          </a:p>
        </p:txBody>
      </p:sp>
      <p:sp>
        <p:nvSpPr>
          <p:cNvPr id="328" name="Shape 12"/>
          <p:cNvSpPr/>
          <p:nvPr/>
        </p:nvSpPr>
        <p:spPr>
          <a:xfrm>
            <a:off x="896040" y="3867840"/>
            <a:ext cx="82080" cy="82080"/>
          </a:xfrm>
          <a:prstGeom prst="ellipse">
            <a:avLst/>
          </a:prstGeom>
          <a:solidFill>
            <a:srgbClr val="0f9d8a"/>
          </a:solidFill>
          <a:ln w="12700">
            <a:solidFill>
              <a:srgbClr val="0f9d8a"/>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329" name="Text 13"/>
          <p:cNvSpPr/>
          <p:nvPr/>
        </p:nvSpPr>
        <p:spPr>
          <a:xfrm>
            <a:off x="1042560" y="3776400"/>
            <a:ext cx="259668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30" strike="noStrike" u="none">
                <a:solidFill>
                  <a:srgbClr val="243b53"/>
                </a:solidFill>
                <a:effectLst/>
                <a:uFillTx/>
                <a:latin typeface="Yu Gothic"/>
                <a:ea typeface="Yu Gothic"/>
              </a:rPr>
              <a:t>例外・障害時の判断</a:t>
            </a:r>
            <a:endParaRPr b="0" lang="en-US" sz="1130" strike="noStrike" u="none">
              <a:solidFill>
                <a:srgbClr val="000000"/>
              </a:solidFill>
              <a:effectLst/>
              <a:uFillTx/>
              <a:latin typeface="Arial"/>
            </a:endParaRPr>
          </a:p>
        </p:txBody>
      </p:sp>
      <p:sp>
        <p:nvSpPr>
          <p:cNvPr id="330" name="Shape 14"/>
          <p:cNvSpPr/>
          <p:nvPr/>
        </p:nvSpPr>
        <p:spPr>
          <a:xfrm>
            <a:off x="896040" y="4224600"/>
            <a:ext cx="82080" cy="82080"/>
          </a:xfrm>
          <a:prstGeom prst="ellipse">
            <a:avLst/>
          </a:prstGeom>
          <a:solidFill>
            <a:srgbClr val="0f9d8a"/>
          </a:solidFill>
          <a:ln w="12700">
            <a:solidFill>
              <a:srgbClr val="0f9d8a"/>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331" name="Text 15"/>
          <p:cNvSpPr/>
          <p:nvPr/>
        </p:nvSpPr>
        <p:spPr>
          <a:xfrm>
            <a:off x="1042560" y="4133160"/>
            <a:ext cx="259668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30" strike="noStrike" u="none">
                <a:solidFill>
                  <a:srgbClr val="243b53"/>
                </a:solidFill>
                <a:effectLst/>
                <a:uFillTx/>
                <a:latin typeface="Yu Gothic"/>
                <a:ea typeface="Yu Gothic"/>
              </a:rPr>
              <a:t>品質・セキュリティ責任</a:t>
            </a:r>
            <a:endParaRPr b="0" lang="en-US" sz="1130" strike="noStrike" u="none">
              <a:solidFill>
                <a:srgbClr val="000000"/>
              </a:solidFill>
              <a:effectLst/>
              <a:uFillTx/>
              <a:latin typeface="Arial"/>
            </a:endParaRPr>
          </a:p>
        </p:txBody>
      </p:sp>
      <p:sp>
        <p:nvSpPr>
          <p:cNvPr id="332" name="Shape 16"/>
          <p:cNvSpPr/>
          <p:nvPr/>
        </p:nvSpPr>
        <p:spPr>
          <a:xfrm>
            <a:off x="4370760" y="2560320"/>
            <a:ext cx="3428640" cy="2194200"/>
          </a:xfrm>
          <a:prstGeom prst="roundRect">
            <a:avLst>
              <a:gd name="adj" fmla="val 2917"/>
            </a:avLst>
          </a:prstGeom>
          <a:solidFill>
            <a:srgbClr val="f4f8fd"/>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33" name="Shape 17"/>
          <p:cNvSpPr/>
          <p:nvPr/>
        </p:nvSpPr>
        <p:spPr>
          <a:xfrm>
            <a:off x="4370760" y="2560320"/>
            <a:ext cx="63720" cy="2194200"/>
          </a:xfrm>
          <a:prstGeom prst="rect">
            <a:avLst/>
          </a:prstGeom>
          <a:solidFill>
            <a:srgbClr val="1b6fd1"/>
          </a:solidFill>
          <a:ln w="12700">
            <a:solidFill>
              <a:srgbClr val="1b6fd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34" name="Text 18"/>
          <p:cNvSpPr/>
          <p:nvPr/>
        </p:nvSpPr>
        <p:spPr>
          <a:xfrm>
            <a:off x="4535280" y="2706480"/>
            <a:ext cx="310860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0b1f33"/>
                </a:solidFill>
                <a:effectLst/>
                <a:uFillTx/>
                <a:latin typeface="Yu Gothic"/>
                <a:ea typeface="Yu Gothic"/>
              </a:rPr>
              <a:t>AI</a:t>
            </a:r>
            <a:r>
              <a:rPr b="1" lang="zh-CN" sz="1500" strike="noStrike" u="none">
                <a:solidFill>
                  <a:srgbClr val="0b1f33"/>
                </a:solidFill>
                <a:effectLst/>
                <a:uFillTx/>
                <a:latin typeface="Yu Gothic"/>
                <a:ea typeface="Yu Gothic"/>
              </a:rPr>
              <a:t>優先へ移す作業</a:t>
            </a:r>
            <a:endParaRPr b="0" lang="en-US" sz="1500" strike="noStrike" u="none">
              <a:solidFill>
                <a:srgbClr val="000000"/>
              </a:solidFill>
              <a:effectLst/>
              <a:uFillTx/>
              <a:latin typeface="Arial"/>
            </a:endParaRPr>
          </a:p>
        </p:txBody>
      </p:sp>
      <p:sp>
        <p:nvSpPr>
          <p:cNvPr id="335" name="Shape 19"/>
          <p:cNvSpPr/>
          <p:nvPr/>
        </p:nvSpPr>
        <p:spPr>
          <a:xfrm>
            <a:off x="4617720" y="3154680"/>
            <a:ext cx="82080" cy="82080"/>
          </a:xfrm>
          <a:prstGeom prst="ellipse">
            <a:avLst/>
          </a:prstGeom>
          <a:solidFill>
            <a:srgbClr val="1b6fd1"/>
          </a:solidFill>
          <a:ln w="12700">
            <a:solidFill>
              <a:srgbClr val="1b6fd1"/>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336" name="Text 20"/>
          <p:cNvSpPr/>
          <p:nvPr/>
        </p:nvSpPr>
        <p:spPr>
          <a:xfrm>
            <a:off x="4763880" y="3063240"/>
            <a:ext cx="259668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30" strike="noStrike" u="none">
                <a:solidFill>
                  <a:srgbClr val="243b53"/>
                </a:solidFill>
                <a:effectLst/>
                <a:uFillTx/>
                <a:latin typeface="Yu Gothic"/>
                <a:ea typeface="Yu Gothic"/>
              </a:rPr>
              <a:t>影響調査・差分抽出</a:t>
            </a:r>
            <a:endParaRPr b="0" lang="en-US" sz="1130" strike="noStrike" u="none">
              <a:solidFill>
                <a:srgbClr val="000000"/>
              </a:solidFill>
              <a:effectLst/>
              <a:uFillTx/>
              <a:latin typeface="Arial"/>
            </a:endParaRPr>
          </a:p>
        </p:txBody>
      </p:sp>
      <p:sp>
        <p:nvSpPr>
          <p:cNvPr id="337" name="Shape 21"/>
          <p:cNvSpPr/>
          <p:nvPr/>
        </p:nvSpPr>
        <p:spPr>
          <a:xfrm>
            <a:off x="4617720" y="3511440"/>
            <a:ext cx="82080" cy="82080"/>
          </a:xfrm>
          <a:prstGeom prst="ellipse">
            <a:avLst/>
          </a:prstGeom>
          <a:solidFill>
            <a:srgbClr val="1b6fd1"/>
          </a:solidFill>
          <a:ln w="12700">
            <a:solidFill>
              <a:srgbClr val="1b6fd1"/>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338" name="Text 22"/>
          <p:cNvSpPr/>
          <p:nvPr/>
        </p:nvSpPr>
        <p:spPr>
          <a:xfrm>
            <a:off x="4763880" y="3420000"/>
            <a:ext cx="259668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30" strike="noStrike" u="none">
                <a:solidFill>
                  <a:srgbClr val="243b53"/>
                </a:solidFill>
                <a:effectLst/>
                <a:uFillTx/>
                <a:latin typeface="Yu Gothic"/>
                <a:ea typeface="Yu Gothic"/>
              </a:rPr>
              <a:t>定型設計・実装補助</a:t>
            </a:r>
            <a:endParaRPr b="0" lang="en-US" sz="1130" strike="noStrike" u="none">
              <a:solidFill>
                <a:srgbClr val="000000"/>
              </a:solidFill>
              <a:effectLst/>
              <a:uFillTx/>
              <a:latin typeface="Arial"/>
            </a:endParaRPr>
          </a:p>
        </p:txBody>
      </p:sp>
      <p:sp>
        <p:nvSpPr>
          <p:cNvPr id="339" name="Shape 23"/>
          <p:cNvSpPr/>
          <p:nvPr/>
        </p:nvSpPr>
        <p:spPr>
          <a:xfrm>
            <a:off x="4617720" y="3867840"/>
            <a:ext cx="82080" cy="82080"/>
          </a:xfrm>
          <a:prstGeom prst="ellipse">
            <a:avLst/>
          </a:prstGeom>
          <a:solidFill>
            <a:srgbClr val="1b6fd1"/>
          </a:solidFill>
          <a:ln w="12700">
            <a:solidFill>
              <a:srgbClr val="1b6fd1"/>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340" name="Text 24"/>
          <p:cNvSpPr/>
          <p:nvPr/>
        </p:nvSpPr>
        <p:spPr>
          <a:xfrm>
            <a:off x="4763880" y="3776400"/>
            <a:ext cx="259668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30" strike="noStrike" u="none">
                <a:solidFill>
                  <a:srgbClr val="243b53"/>
                </a:solidFill>
                <a:effectLst/>
                <a:uFillTx/>
                <a:latin typeface="Yu Gothic"/>
                <a:ea typeface="Yu Gothic"/>
              </a:rPr>
              <a:t>テスト仕様・ケース生成</a:t>
            </a:r>
            <a:endParaRPr b="0" lang="en-US" sz="1130" strike="noStrike" u="none">
              <a:solidFill>
                <a:srgbClr val="000000"/>
              </a:solidFill>
              <a:effectLst/>
              <a:uFillTx/>
              <a:latin typeface="Arial"/>
            </a:endParaRPr>
          </a:p>
        </p:txBody>
      </p:sp>
      <p:sp>
        <p:nvSpPr>
          <p:cNvPr id="341" name="Shape 25"/>
          <p:cNvSpPr/>
          <p:nvPr/>
        </p:nvSpPr>
        <p:spPr>
          <a:xfrm>
            <a:off x="4617720" y="4224600"/>
            <a:ext cx="82080" cy="82080"/>
          </a:xfrm>
          <a:prstGeom prst="ellipse">
            <a:avLst/>
          </a:prstGeom>
          <a:solidFill>
            <a:srgbClr val="1b6fd1"/>
          </a:solidFill>
          <a:ln w="12700">
            <a:solidFill>
              <a:srgbClr val="1b6fd1"/>
            </a:solidFill>
            <a:round/>
          </a:ln>
        </p:spPr>
        <p:style>
          <a:lnRef idx="0"/>
          <a:fillRef idx="0"/>
          <a:effectRef idx="0"/>
          <a:fontRef idx="minor"/>
        </p:style>
        <p:txBody>
          <a:bodyPr lIns="90000" rIns="90000" tIns="13320" bIns="13320" anchor="t">
            <a:noAutofit/>
          </a:bodyPr>
          <a:p>
            <a:endParaRPr b="0" lang="en-US" sz="1800" strike="noStrike" u="none">
              <a:solidFill>
                <a:srgbClr val="ffffff"/>
              </a:solidFill>
              <a:effectLst/>
              <a:uFillTx/>
              <a:latin typeface="Arial"/>
            </a:endParaRPr>
          </a:p>
        </p:txBody>
      </p:sp>
      <p:sp>
        <p:nvSpPr>
          <p:cNvPr id="342" name="Text 26"/>
          <p:cNvSpPr/>
          <p:nvPr/>
        </p:nvSpPr>
        <p:spPr>
          <a:xfrm>
            <a:off x="4763880" y="4133160"/>
            <a:ext cx="259668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30" strike="noStrike" u="none">
                <a:solidFill>
                  <a:srgbClr val="243b53"/>
                </a:solidFill>
                <a:effectLst/>
                <a:uFillTx/>
                <a:latin typeface="Yu Gothic"/>
                <a:ea typeface="Yu Gothic"/>
              </a:rPr>
              <a:t>一次レビュー・整合性検査</a:t>
            </a:r>
            <a:endParaRPr b="0" lang="en-US" sz="1130" strike="noStrike" u="none">
              <a:solidFill>
                <a:srgbClr val="000000"/>
              </a:solidFill>
              <a:effectLst/>
              <a:uFillTx/>
              <a:latin typeface="Arial"/>
            </a:endParaRPr>
          </a:p>
        </p:txBody>
      </p:sp>
      <p:sp>
        <p:nvSpPr>
          <p:cNvPr id="343" name="Shape 27"/>
          <p:cNvSpPr/>
          <p:nvPr/>
        </p:nvSpPr>
        <p:spPr>
          <a:xfrm>
            <a:off x="8083440" y="2560320"/>
            <a:ext cx="3401280" cy="2194200"/>
          </a:xfrm>
          <a:prstGeom prst="roundRect">
            <a:avLst>
              <a:gd name="adj" fmla="val 2917"/>
            </a:avLst>
          </a:prstGeom>
          <a:solidFill>
            <a:srgbClr val="fff9ed"/>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44" name="Shape 28"/>
          <p:cNvSpPr/>
          <p:nvPr/>
        </p:nvSpPr>
        <p:spPr>
          <a:xfrm>
            <a:off x="8083440" y="2560320"/>
            <a:ext cx="63720" cy="219420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45" name="Text 29"/>
          <p:cNvSpPr/>
          <p:nvPr/>
        </p:nvSpPr>
        <p:spPr>
          <a:xfrm>
            <a:off x="8247960" y="2706480"/>
            <a:ext cx="308124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zh-CN" sz="1500" strike="noStrike" u="none">
                <a:solidFill>
                  <a:srgbClr val="0b1f33"/>
                </a:solidFill>
                <a:effectLst/>
                <a:uFillTx/>
                <a:latin typeface="Yu Gothic"/>
                <a:ea typeface="Yu Gothic"/>
              </a:rPr>
              <a:t>移行後の安全装置</a:t>
            </a:r>
            <a:endParaRPr b="0" lang="en-US" sz="1500" strike="noStrike" u="none">
              <a:solidFill>
                <a:srgbClr val="000000"/>
              </a:solidFill>
              <a:effectLst/>
              <a:uFillTx/>
              <a:latin typeface="Arial"/>
            </a:endParaRPr>
          </a:p>
        </p:txBody>
      </p:sp>
      <p:sp>
        <p:nvSpPr>
          <p:cNvPr id="346" name="Shape 30"/>
          <p:cNvSpPr/>
          <p:nvPr/>
        </p:nvSpPr>
        <p:spPr>
          <a:xfrm>
            <a:off x="8321040" y="3154680"/>
            <a:ext cx="82080" cy="82080"/>
          </a:xfrm>
          <a:prstGeom prst="ellipse">
            <a:avLst/>
          </a:prstGeom>
          <a:solidFill>
            <a:srgbClr val="f59e0b"/>
          </a:solidFill>
          <a:ln w="12700">
            <a:solidFill>
              <a:srgbClr val="f59e0b"/>
            </a:solidFill>
            <a:round/>
          </a:ln>
        </p:spPr>
        <p:style>
          <a:lnRef idx="0"/>
          <a:fillRef idx="0"/>
          <a:effectRef idx="0"/>
          <a:fontRef idx="minor"/>
        </p:style>
        <p:txBody>
          <a:bodyPr lIns="90000" rIns="90000" tIns="13320" bIns="13320" anchor="t">
            <a:noAutofit/>
          </a:bodyPr>
          <a:p>
            <a:endParaRPr b="0" lang="en-US" sz="1800" strike="noStrike" u="none">
              <a:solidFill>
                <a:srgbClr val="000000"/>
              </a:solidFill>
              <a:effectLst/>
              <a:uFillTx/>
              <a:latin typeface="Arial"/>
            </a:endParaRPr>
          </a:p>
        </p:txBody>
      </p:sp>
      <p:sp>
        <p:nvSpPr>
          <p:cNvPr id="347" name="Text 31"/>
          <p:cNvSpPr/>
          <p:nvPr/>
        </p:nvSpPr>
        <p:spPr>
          <a:xfrm>
            <a:off x="8467200" y="3063240"/>
            <a:ext cx="2596680" cy="31068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0" lang="en-US" sz="1100" strike="noStrike" u="none">
                <a:solidFill>
                  <a:srgbClr val="243b53"/>
                </a:solidFill>
                <a:effectLst/>
                <a:uFillTx/>
                <a:latin typeface="Yu Gothic"/>
                <a:ea typeface="Yu Gothic"/>
              </a:rPr>
              <a:t>Gate</a:t>
            </a:r>
            <a:r>
              <a:rPr b="0" lang="zh-CN" sz="1100" strike="noStrike" u="none">
                <a:solidFill>
                  <a:srgbClr val="243b53"/>
                </a:solidFill>
                <a:effectLst/>
                <a:uFillTx/>
                <a:latin typeface="Yu Gothic"/>
                <a:ea typeface="Yu Gothic"/>
              </a:rPr>
              <a:t>不通過なら本番移行・人員削減を実施しない</a:t>
            </a:r>
            <a:endParaRPr b="0" lang="en-US" sz="1100" strike="noStrike" u="none">
              <a:solidFill>
                <a:srgbClr val="000000"/>
              </a:solidFill>
              <a:effectLst/>
              <a:uFillTx/>
              <a:latin typeface="Arial"/>
            </a:endParaRPr>
          </a:p>
        </p:txBody>
      </p:sp>
      <p:sp>
        <p:nvSpPr>
          <p:cNvPr id="348" name="Shape 32"/>
          <p:cNvSpPr/>
          <p:nvPr/>
        </p:nvSpPr>
        <p:spPr>
          <a:xfrm>
            <a:off x="8321040" y="3511440"/>
            <a:ext cx="82080" cy="82080"/>
          </a:xfrm>
          <a:prstGeom prst="ellipse">
            <a:avLst/>
          </a:prstGeom>
          <a:solidFill>
            <a:srgbClr val="f59e0b"/>
          </a:solidFill>
          <a:ln w="12700">
            <a:solidFill>
              <a:srgbClr val="f59e0b"/>
            </a:solidFill>
            <a:round/>
          </a:ln>
        </p:spPr>
        <p:style>
          <a:lnRef idx="0"/>
          <a:fillRef idx="0"/>
          <a:effectRef idx="0"/>
          <a:fontRef idx="minor"/>
        </p:style>
        <p:txBody>
          <a:bodyPr lIns="90000" rIns="90000" tIns="13320" bIns="13320" anchor="t">
            <a:noAutofit/>
          </a:bodyPr>
          <a:p>
            <a:endParaRPr b="0" lang="en-US" sz="1800" strike="noStrike" u="none">
              <a:solidFill>
                <a:srgbClr val="000000"/>
              </a:solidFill>
              <a:effectLst/>
              <a:uFillTx/>
              <a:latin typeface="Arial"/>
            </a:endParaRPr>
          </a:p>
        </p:txBody>
      </p:sp>
      <p:sp>
        <p:nvSpPr>
          <p:cNvPr id="349" name="Text 33"/>
          <p:cNvSpPr/>
          <p:nvPr/>
        </p:nvSpPr>
        <p:spPr>
          <a:xfrm>
            <a:off x="8467200" y="3420000"/>
            <a:ext cx="259668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00" strike="noStrike" u="none">
                <a:solidFill>
                  <a:srgbClr val="243b53"/>
                </a:solidFill>
                <a:effectLst/>
                <a:uFillTx/>
                <a:latin typeface="Yu Gothic"/>
                <a:ea typeface="Yu Gothic"/>
              </a:rPr>
              <a:t>品質</a:t>
            </a:r>
            <a:r>
              <a:rPr b="0" lang="en-US" sz="1100" strike="noStrike" u="none">
                <a:solidFill>
                  <a:srgbClr val="243b53"/>
                </a:solidFill>
                <a:effectLst/>
                <a:uFillTx/>
                <a:latin typeface="Yu Gothic"/>
                <a:ea typeface="Yu Gothic"/>
              </a:rPr>
              <a:t>KPI</a:t>
            </a:r>
            <a:r>
              <a:rPr b="0" lang="zh-CN" sz="1100" strike="noStrike" u="none">
                <a:solidFill>
                  <a:srgbClr val="243b53"/>
                </a:solidFill>
                <a:effectLst/>
                <a:uFillTx/>
                <a:latin typeface="Yu Gothic"/>
                <a:ea typeface="Yu Gothic"/>
              </a:rPr>
              <a:t>・滞留・残業・欠陥を毎週監視</a:t>
            </a:r>
            <a:endParaRPr b="0" lang="en-US" sz="1100" strike="noStrike" u="none">
              <a:solidFill>
                <a:srgbClr val="000000"/>
              </a:solidFill>
              <a:effectLst/>
              <a:uFillTx/>
              <a:latin typeface="Arial"/>
            </a:endParaRPr>
          </a:p>
        </p:txBody>
      </p:sp>
      <p:sp>
        <p:nvSpPr>
          <p:cNvPr id="350" name="Shape 34"/>
          <p:cNvSpPr/>
          <p:nvPr/>
        </p:nvSpPr>
        <p:spPr>
          <a:xfrm>
            <a:off x="8321040" y="3867840"/>
            <a:ext cx="82080" cy="82080"/>
          </a:xfrm>
          <a:prstGeom prst="ellipse">
            <a:avLst/>
          </a:prstGeom>
          <a:solidFill>
            <a:srgbClr val="f59e0b"/>
          </a:solidFill>
          <a:ln w="12700">
            <a:solidFill>
              <a:srgbClr val="f59e0b"/>
            </a:solidFill>
            <a:round/>
          </a:ln>
        </p:spPr>
        <p:style>
          <a:lnRef idx="0"/>
          <a:fillRef idx="0"/>
          <a:effectRef idx="0"/>
          <a:fontRef idx="minor"/>
        </p:style>
        <p:txBody>
          <a:bodyPr lIns="90000" rIns="90000" tIns="13320" bIns="13320" anchor="t">
            <a:noAutofit/>
          </a:bodyPr>
          <a:p>
            <a:endParaRPr b="0" lang="en-US" sz="1800" strike="noStrike" u="none">
              <a:solidFill>
                <a:srgbClr val="000000"/>
              </a:solidFill>
              <a:effectLst/>
              <a:uFillTx/>
              <a:latin typeface="Arial"/>
            </a:endParaRPr>
          </a:p>
        </p:txBody>
      </p:sp>
      <p:sp>
        <p:nvSpPr>
          <p:cNvPr id="351" name="Text 35"/>
          <p:cNvSpPr/>
          <p:nvPr/>
        </p:nvSpPr>
        <p:spPr>
          <a:xfrm>
            <a:off x="8467200" y="3776400"/>
            <a:ext cx="259668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00" strike="noStrike" u="none">
                <a:solidFill>
                  <a:srgbClr val="243b53"/>
                </a:solidFill>
                <a:effectLst/>
                <a:uFillTx/>
                <a:latin typeface="Yu Gothic"/>
                <a:ea typeface="Yu Gothic"/>
              </a:rPr>
              <a:t>基準逸脱時は一時的に人手へ復帰</a:t>
            </a:r>
            <a:endParaRPr b="0" lang="en-US" sz="1100" strike="noStrike" u="none">
              <a:solidFill>
                <a:srgbClr val="000000"/>
              </a:solidFill>
              <a:effectLst/>
              <a:uFillTx/>
              <a:latin typeface="Arial"/>
            </a:endParaRPr>
          </a:p>
        </p:txBody>
      </p:sp>
      <p:sp>
        <p:nvSpPr>
          <p:cNvPr id="352" name="Shape 36"/>
          <p:cNvSpPr/>
          <p:nvPr/>
        </p:nvSpPr>
        <p:spPr>
          <a:xfrm>
            <a:off x="8321040" y="4224600"/>
            <a:ext cx="82080" cy="82080"/>
          </a:xfrm>
          <a:prstGeom prst="ellipse">
            <a:avLst/>
          </a:prstGeom>
          <a:solidFill>
            <a:srgbClr val="f59e0b"/>
          </a:solidFill>
          <a:ln w="12700">
            <a:solidFill>
              <a:srgbClr val="f59e0b"/>
            </a:solidFill>
            <a:round/>
          </a:ln>
        </p:spPr>
        <p:style>
          <a:lnRef idx="0"/>
          <a:fillRef idx="0"/>
          <a:effectRef idx="0"/>
          <a:fontRef idx="minor"/>
        </p:style>
        <p:txBody>
          <a:bodyPr lIns="90000" rIns="90000" tIns="13320" bIns="13320" anchor="t">
            <a:noAutofit/>
          </a:bodyPr>
          <a:p>
            <a:endParaRPr b="0" lang="en-US" sz="1800" strike="noStrike" u="none">
              <a:solidFill>
                <a:srgbClr val="000000"/>
              </a:solidFill>
              <a:effectLst/>
              <a:uFillTx/>
              <a:latin typeface="Arial"/>
            </a:endParaRPr>
          </a:p>
        </p:txBody>
      </p:sp>
      <p:sp>
        <p:nvSpPr>
          <p:cNvPr id="353" name="Text 37"/>
          <p:cNvSpPr/>
          <p:nvPr/>
        </p:nvSpPr>
        <p:spPr>
          <a:xfrm>
            <a:off x="8467200" y="4133160"/>
            <a:ext cx="259668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00" strike="noStrike" u="none">
                <a:solidFill>
                  <a:srgbClr val="243b53"/>
                </a:solidFill>
                <a:effectLst/>
                <a:uFillTx/>
                <a:latin typeface="Yu Gothic"/>
                <a:ea typeface="Yu Gothic"/>
              </a:rPr>
              <a:t>ハーネス変更は回帰試験後に本番反映</a:t>
            </a:r>
            <a:endParaRPr b="0" lang="en-US" sz="1100" strike="noStrike" u="none">
              <a:solidFill>
                <a:srgbClr val="000000"/>
              </a:solidFill>
              <a:effectLst/>
              <a:uFillTx/>
              <a:latin typeface="Arial"/>
            </a:endParaRPr>
          </a:p>
        </p:txBody>
      </p:sp>
      <p:sp>
        <p:nvSpPr>
          <p:cNvPr id="354" name="Text 38"/>
          <p:cNvSpPr/>
          <p:nvPr/>
        </p:nvSpPr>
        <p:spPr>
          <a:xfrm>
            <a:off x="685800" y="5010840"/>
            <a:ext cx="15998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zh-CN" sz="1500" strike="noStrike" u="none">
                <a:solidFill>
                  <a:srgbClr val="0b1f33"/>
                </a:solidFill>
                <a:effectLst/>
                <a:uFillTx/>
                <a:latin typeface="Yu Gothic"/>
                <a:ea typeface="Yu Gothic"/>
              </a:rPr>
              <a:t>体制移行の順序</a:t>
            </a:r>
            <a:endParaRPr b="0" lang="en-US" sz="1500" strike="noStrike" u="none">
              <a:solidFill>
                <a:srgbClr val="000000"/>
              </a:solidFill>
              <a:effectLst/>
              <a:uFillTx/>
              <a:latin typeface="Arial"/>
            </a:endParaRPr>
          </a:p>
        </p:txBody>
      </p:sp>
      <p:sp>
        <p:nvSpPr>
          <p:cNvPr id="355" name="Shape 39"/>
          <p:cNvSpPr/>
          <p:nvPr/>
        </p:nvSpPr>
        <p:spPr>
          <a:xfrm>
            <a:off x="713160" y="5394960"/>
            <a:ext cx="383760" cy="383760"/>
          </a:xfrm>
          <a:prstGeom prst="ellipse">
            <a:avLst/>
          </a:prstGeom>
          <a:solidFill>
            <a:srgbClr val="1b6fd1"/>
          </a:solidFill>
          <a:ln w="12700">
            <a:solidFill>
              <a:srgbClr val="1b6fd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56" name="Text 40"/>
          <p:cNvSpPr/>
          <p:nvPr/>
        </p:nvSpPr>
        <p:spPr>
          <a:xfrm>
            <a:off x="813960" y="5472720"/>
            <a:ext cx="182520" cy="136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ffffff"/>
                </a:solidFill>
                <a:effectLst/>
                <a:uFillTx/>
                <a:latin typeface="Yu Gothic"/>
                <a:ea typeface="Yu Gothic"/>
              </a:rPr>
              <a:t>1</a:t>
            </a:r>
            <a:endParaRPr b="0" lang="en-US" sz="1000" strike="noStrike" u="none">
              <a:solidFill>
                <a:srgbClr val="000000"/>
              </a:solidFill>
              <a:effectLst/>
              <a:uFillTx/>
              <a:latin typeface="Arial"/>
            </a:endParaRPr>
          </a:p>
        </p:txBody>
      </p:sp>
      <p:sp>
        <p:nvSpPr>
          <p:cNvPr id="357" name="Text 41"/>
          <p:cNvSpPr/>
          <p:nvPr/>
        </p:nvSpPr>
        <p:spPr>
          <a:xfrm>
            <a:off x="1216080" y="5403960"/>
            <a:ext cx="205704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40" strike="noStrike" u="none">
                <a:solidFill>
                  <a:srgbClr val="243b53"/>
                </a:solidFill>
                <a:effectLst/>
                <a:uFillTx/>
                <a:latin typeface="Yu Gothic"/>
                <a:ea typeface="Yu Gothic"/>
              </a:rPr>
              <a:t>3</a:t>
            </a:r>
            <a:r>
              <a:rPr b="0" lang="zh-CN" sz="1040" strike="noStrike" u="none">
                <a:solidFill>
                  <a:srgbClr val="243b53"/>
                </a:solidFill>
                <a:effectLst/>
                <a:uFillTx/>
                <a:latin typeface="Yu Gothic"/>
                <a:ea typeface="Yu Gothic"/>
              </a:rPr>
              <a:t>月実績で役割別負荷を再計算</a:t>
            </a:r>
            <a:endParaRPr b="0" lang="en-US" sz="1040" strike="noStrike" u="none">
              <a:solidFill>
                <a:srgbClr val="000000"/>
              </a:solidFill>
              <a:effectLst/>
              <a:uFillTx/>
              <a:latin typeface="Arial"/>
            </a:endParaRPr>
          </a:p>
        </p:txBody>
      </p:sp>
      <p:sp>
        <p:nvSpPr>
          <p:cNvPr id="358" name="Shape 42"/>
          <p:cNvSpPr/>
          <p:nvPr/>
        </p:nvSpPr>
        <p:spPr>
          <a:xfrm>
            <a:off x="3227760" y="5577840"/>
            <a:ext cx="201240" cy="360"/>
          </a:xfrm>
          <a:prstGeom prst="line">
            <a:avLst/>
          </a:prstGeom>
          <a:ln w="20320">
            <a:solidFill>
              <a:srgbClr val="8793a1"/>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59" name="Shape 43"/>
          <p:cNvSpPr/>
          <p:nvPr/>
        </p:nvSpPr>
        <p:spPr>
          <a:xfrm>
            <a:off x="3483720" y="5394960"/>
            <a:ext cx="383760" cy="383760"/>
          </a:xfrm>
          <a:prstGeom prst="ellipse">
            <a:avLst/>
          </a:prstGeom>
          <a:solidFill>
            <a:srgbClr val="0f9d8a"/>
          </a:solidFill>
          <a:ln w="12700">
            <a:solidFill>
              <a:srgbClr val="0f9d8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60" name="Text 44"/>
          <p:cNvSpPr/>
          <p:nvPr/>
        </p:nvSpPr>
        <p:spPr>
          <a:xfrm>
            <a:off x="3584520" y="5472720"/>
            <a:ext cx="182520" cy="136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ffffff"/>
                </a:solidFill>
                <a:effectLst/>
                <a:uFillTx/>
                <a:latin typeface="Yu Gothic"/>
                <a:ea typeface="Yu Gothic"/>
              </a:rPr>
              <a:t>2</a:t>
            </a:r>
            <a:endParaRPr b="0" lang="en-US" sz="1000" strike="noStrike" u="none">
              <a:solidFill>
                <a:srgbClr val="000000"/>
              </a:solidFill>
              <a:effectLst/>
              <a:uFillTx/>
              <a:latin typeface="Arial"/>
            </a:endParaRPr>
          </a:p>
        </p:txBody>
      </p:sp>
      <p:sp>
        <p:nvSpPr>
          <p:cNvPr id="361" name="Text 45"/>
          <p:cNvSpPr/>
          <p:nvPr/>
        </p:nvSpPr>
        <p:spPr>
          <a:xfrm>
            <a:off x="3986640" y="5403960"/>
            <a:ext cx="205704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40" strike="noStrike" u="none">
                <a:solidFill>
                  <a:srgbClr val="243b53"/>
                </a:solidFill>
                <a:effectLst/>
                <a:uFillTx/>
                <a:latin typeface="Yu Gothic"/>
                <a:ea typeface="Yu Gothic"/>
              </a:rPr>
              <a:t>Gate</a:t>
            </a:r>
            <a:r>
              <a:rPr b="0" lang="zh-CN" sz="1040" strike="noStrike" u="none">
                <a:solidFill>
                  <a:srgbClr val="243b53"/>
                </a:solidFill>
                <a:effectLst/>
                <a:uFillTx/>
                <a:latin typeface="Yu Gothic"/>
                <a:ea typeface="Yu Gothic"/>
              </a:rPr>
              <a:t>通過後、</a:t>
            </a:r>
            <a:r>
              <a:rPr b="0" lang="en-US" sz="1040" strike="noStrike" u="none">
                <a:solidFill>
                  <a:srgbClr val="243b53"/>
                </a:solidFill>
                <a:effectLst/>
                <a:uFillTx/>
                <a:latin typeface="Yu Gothic"/>
                <a:ea typeface="Yu Gothic"/>
              </a:rPr>
              <a:t>4</a:t>
            </a:r>
            <a:r>
              <a:rPr b="0" lang="zh-CN" sz="1040" strike="noStrike" u="none">
                <a:solidFill>
                  <a:srgbClr val="243b53"/>
                </a:solidFill>
                <a:effectLst/>
                <a:uFillTx/>
                <a:latin typeface="Yu Gothic"/>
                <a:ea typeface="Yu Gothic"/>
              </a:rPr>
              <a:t>月から必要要員</a:t>
            </a:r>
            <a:r>
              <a:rPr b="0" lang="en-US" sz="1040" strike="noStrike" u="none">
                <a:solidFill>
                  <a:srgbClr val="243b53"/>
                </a:solidFill>
                <a:effectLst/>
                <a:uFillTx/>
                <a:latin typeface="Yu Gothic"/>
                <a:ea typeface="Yu Gothic"/>
              </a:rPr>
              <a:t>70%</a:t>
            </a:r>
            <a:r>
              <a:rPr b="0" lang="zh-CN" sz="1040" strike="noStrike" u="none">
                <a:solidFill>
                  <a:srgbClr val="243b53"/>
                </a:solidFill>
                <a:effectLst/>
                <a:uFillTx/>
                <a:latin typeface="Yu Gothic"/>
                <a:ea typeface="Yu Gothic"/>
              </a:rPr>
              <a:t>を目標に配置変更</a:t>
            </a:r>
            <a:endParaRPr b="0" lang="en-US" sz="1040" strike="noStrike" u="none">
              <a:solidFill>
                <a:srgbClr val="000000"/>
              </a:solidFill>
              <a:effectLst/>
              <a:uFillTx/>
              <a:latin typeface="Arial"/>
            </a:endParaRPr>
          </a:p>
        </p:txBody>
      </p:sp>
      <p:sp>
        <p:nvSpPr>
          <p:cNvPr id="362" name="Shape 46"/>
          <p:cNvSpPr/>
          <p:nvPr/>
        </p:nvSpPr>
        <p:spPr>
          <a:xfrm>
            <a:off x="5998320" y="5577840"/>
            <a:ext cx="201240" cy="360"/>
          </a:xfrm>
          <a:prstGeom prst="line">
            <a:avLst/>
          </a:prstGeom>
          <a:ln w="20320">
            <a:solidFill>
              <a:srgbClr val="8793a1"/>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63" name="Shape 47"/>
          <p:cNvSpPr/>
          <p:nvPr/>
        </p:nvSpPr>
        <p:spPr>
          <a:xfrm>
            <a:off x="6254640" y="5394960"/>
            <a:ext cx="383760" cy="383760"/>
          </a:xfrm>
          <a:prstGeom prst="ellipse">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64" name="Text 48"/>
          <p:cNvSpPr/>
          <p:nvPr/>
        </p:nvSpPr>
        <p:spPr>
          <a:xfrm>
            <a:off x="6355080" y="5472720"/>
            <a:ext cx="182520" cy="136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ffffff"/>
                </a:solidFill>
                <a:effectLst/>
                <a:uFillTx/>
                <a:latin typeface="Yu Gothic"/>
                <a:ea typeface="Yu Gothic"/>
              </a:rPr>
              <a:t>3</a:t>
            </a:r>
            <a:endParaRPr b="0" lang="en-US" sz="1000" strike="noStrike" u="none">
              <a:solidFill>
                <a:srgbClr val="000000"/>
              </a:solidFill>
              <a:effectLst/>
              <a:uFillTx/>
              <a:latin typeface="Arial"/>
            </a:endParaRPr>
          </a:p>
        </p:txBody>
      </p:sp>
      <p:sp>
        <p:nvSpPr>
          <p:cNvPr id="365" name="Text 49"/>
          <p:cNvSpPr/>
          <p:nvPr/>
        </p:nvSpPr>
        <p:spPr>
          <a:xfrm>
            <a:off x="6757560" y="5403960"/>
            <a:ext cx="205704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040" strike="noStrike" u="none">
                <a:solidFill>
                  <a:srgbClr val="243b53"/>
                </a:solidFill>
                <a:effectLst/>
                <a:uFillTx/>
                <a:latin typeface="Yu Gothic"/>
                <a:ea typeface="Yu Gothic"/>
              </a:rPr>
              <a:t>毎週</a:t>
            </a:r>
            <a:r>
              <a:rPr b="0" lang="en-US" sz="1040" strike="noStrike" u="none">
                <a:solidFill>
                  <a:srgbClr val="243b53"/>
                </a:solidFill>
                <a:effectLst/>
                <a:uFillTx/>
                <a:latin typeface="Yu Gothic"/>
                <a:ea typeface="Yu Gothic"/>
              </a:rPr>
              <a:t>KPI</a:t>
            </a:r>
            <a:r>
              <a:rPr b="0" lang="zh-CN" sz="1040" strike="noStrike" u="none">
                <a:solidFill>
                  <a:srgbClr val="243b53"/>
                </a:solidFill>
                <a:effectLst/>
                <a:uFillTx/>
                <a:latin typeface="Yu Gothic"/>
                <a:ea typeface="Yu Gothic"/>
              </a:rPr>
              <a:t>監視し、逸脱時は即時是正</a:t>
            </a:r>
            <a:endParaRPr b="0" lang="en-US" sz="1040" strike="noStrike" u="none">
              <a:solidFill>
                <a:srgbClr val="000000"/>
              </a:solidFill>
              <a:effectLst/>
              <a:uFillTx/>
              <a:latin typeface="Arial"/>
            </a:endParaRPr>
          </a:p>
        </p:txBody>
      </p:sp>
      <p:sp>
        <p:nvSpPr>
          <p:cNvPr id="366" name="Shape 50"/>
          <p:cNvSpPr/>
          <p:nvPr/>
        </p:nvSpPr>
        <p:spPr>
          <a:xfrm>
            <a:off x="8768880" y="5577840"/>
            <a:ext cx="201240" cy="360"/>
          </a:xfrm>
          <a:prstGeom prst="line">
            <a:avLst/>
          </a:prstGeom>
          <a:ln w="20320">
            <a:solidFill>
              <a:srgbClr val="8793a1"/>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67" name="Shape 51"/>
          <p:cNvSpPr/>
          <p:nvPr/>
        </p:nvSpPr>
        <p:spPr>
          <a:xfrm>
            <a:off x="9025200" y="5394960"/>
            <a:ext cx="383760" cy="383760"/>
          </a:xfrm>
          <a:prstGeom prst="ellipse">
            <a:avLst/>
          </a:prstGeom>
          <a:solidFill>
            <a:srgbClr val="0b1f33"/>
          </a:solidFill>
          <a:ln w="12700">
            <a:solidFill>
              <a:srgbClr val="0b1f33"/>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68" name="Text 52"/>
          <p:cNvSpPr/>
          <p:nvPr/>
        </p:nvSpPr>
        <p:spPr>
          <a:xfrm>
            <a:off x="9125640" y="5472720"/>
            <a:ext cx="182520" cy="136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ffffff"/>
                </a:solidFill>
                <a:effectLst/>
                <a:uFillTx/>
                <a:latin typeface="Yu Gothic"/>
                <a:ea typeface="Yu Gothic"/>
              </a:rPr>
              <a:t>4</a:t>
            </a:r>
            <a:endParaRPr b="0" lang="en-US" sz="1000" strike="noStrike" u="none">
              <a:solidFill>
                <a:srgbClr val="000000"/>
              </a:solidFill>
              <a:effectLst/>
              <a:uFillTx/>
              <a:latin typeface="Arial"/>
            </a:endParaRPr>
          </a:p>
        </p:txBody>
      </p:sp>
      <p:sp>
        <p:nvSpPr>
          <p:cNvPr id="369" name="Text 53"/>
          <p:cNvSpPr/>
          <p:nvPr/>
        </p:nvSpPr>
        <p:spPr>
          <a:xfrm>
            <a:off x="9528120" y="5403960"/>
            <a:ext cx="205704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040" strike="noStrike" u="none">
                <a:solidFill>
                  <a:srgbClr val="243b53"/>
                </a:solidFill>
                <a:effectLst/>
                <a:uFillTx/>
                <a:latin typeface="Yu Gothic"/>
                <a:ea typeface="Yu Gothic"/>
              </a:rPr>
              <a:t>安定後に標準体制として定着</a:t>
            </a:r>
            <a:endParaRPr b="0" lang="en-US" sz="1040" strike="noStrike" u="none">
              <a:solidFill>
                <a:srgbClr val="000000"/>
              </a:solidFill>
              <a:effectLst/>
              <a:uFillTx/>
              <a:latin typeface="Arial"/>
            </a:endParaRPr>
          </a:p>
        </p:txBody>
      </p:sp>
      <p:sp>
        <p:nvSpPr>
          <p:cNvPr id="370" name="PlaceHolder 1"/>
          <p:cNvSpPr>
            <a:spLocks noGrp="1"/>
          </p:cNvSpPr>
          <p:nvPr>
            <p:ph type="sldNum" idx="10"/>
          </p:nvPr>
        </p:nvSpPr>
        <p:spPr>
          <a:xfrm>
            <a:off x="11777400" y="65563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850" strike="noStrike" u="none">
                <a:solidFill>
                  <a:srgbClr val="75808f"/>
                </a:solidFill>
                <a:effectLst/>
                <a:uFillTx/>
                <a:latin typeface="Yu Gothic"/>
                <a:ea typeface="Yu Gothic"/>
              </a:defRPr>
            </a:lvl1pPr>
          </a:lstStyle>
          <a:p>
            <a:pPr indent="0" defTabSz="914400">
              <a:lnSpc>
                <a:spcPct val="100000"/>
              </a:lnSpc>
              <a:buNone/>
            </a:pPr>
            <a:fld id="{A3BF5723-E97D-485F-B12E-F3C6C5F1A8DD}" type="slidenum">
              <a:rPr b="0" lang="en-US" sz="850" strike="noStrike" u="none">
                <a:solidFill>
                  <a:srgbClr val="75808f"/>
                </a:solidFill>
                <a:effectLst/>
                <a:uFillTx/>
                <a:latin typeface="Yu Gothic"/>
                <a:ea typeface="Yu Gothic"/>
              </a:rPr>
              <a:t>&lt;number&gt;</a:t>
            </a:fld>
            <a:endParaRPr b="0" lang="en-US" sz="85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Text 0"/>
          <p:cNvSpPr/>
          <p:nvPr/>
        </p:nvSpPr>
        <p:spPr>
          <a:xfrm>
            <a:off x="530280" y="301680"/>
            <a:ext cx="11109600" cy="420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zh-CN" sz="2550" strike="noStrike" u="none">
                <a:solidFill>
                  <a:srgbClr val="0b1f33"/>
                </a:solidFill>
                <a:effectLst/>
                <a:uFillTx/>
                <a:latin typeface="Yu Gothic"/>
                <a:ea typeface="Yu Gothic"/>
              </a:rPr>
              <a:t>検証と改善：人手本番開発＋</a:t>
            </a:r>
            <a:r>
              <a:rPr b="1" lang="en-US" sz="2550" strike="noStrike" u="none">
                <a:solidFill>
                  <a:srgbClr val="0b1f33"/>
                </a:solidFill>
                <a:effectLst/>
                <a:uFillTx/>
                <a:latin typeface="Yu Gothic"/>
                <a:ea typeface="Yu Gothic"/>
              </a:rPr>
              <a:t>AI</a:t>
            </a:r>
            <a:r>
              <a:rPr b="1" lang="zh-CN" sz="2550" strike="noStrike" u="none">
                <a:solidFill>
                  <a:srgbClr val="0b1f33"/>
                </a:solidFill>
                <a:effectLst/>
                <a:uFillTx/>
                <a:latin typeface="Yu Gothic"/>
                <a:ea typeface="Yu Gothic"/>
              </a:rPr>
              <a:t>シャドー検証を毎週比較する</a:t>
            </a:r>
            <a:endParaRPr b="0" lang="en-US" sz="2550" strike="noStrike" u="none">
              <a:solidFill>
                <a:srgbClr val="000000"/>
              </a:solidFill>
              <a:effectLst/>
              <a:uFillTx/>
              <a:latin typeface="Arial"/>
            </a:endParaRPr>
          </a:p>
        </p:txBody>
      </p:sp>
      <p:sp>
        <p:nvSpPr>
          <p:cNvPr id="372" name="Text 1"/>
          <p:cNvSpPr/>
          <p:nvPr/>
        </p:nvSpPr>
        <p:spPr>
          <a:xfrm>
            <a:off x="548640" y="749880"/>
            <a:ext cx="1097244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50" strike="noStrike" u="none">
                <a:solidFill>
                  <a:srgbClr val="52606d"/>
                </a:solidFill>
                <a:effectLst/>
                <a:uFillTx/>
                <a:latin typeface="Yu Gothic"/>
                <a:ea typeface="Yu Gothic"/>
              </a:rPr>
              <a:t>本番成果物は人手で作成。</a:t>
            </a:r>
            <a:r>
              <a:rPr b="0" lang="en-US" sz="1150" strike="noStrike" u="none">
                <a:solidFill>
                  <a:srgbClr val="52606d"/>
                </a:solidFill>
                <a:effectLst/>
                <a:uFillTx/>
                <a:latin typeface="Yu Gothic"/>
                <a:ea typeface="Yu Gothic"/>
              </a:rPr>
              <a:t>AI</a:t>
            </a:r>
            <a:r>
              <a:rPr b="0" lang="zh-CN" sz="1150" strike="noStrike" u="none">
                <a:solidFill>
                  <a:srgbClr val="52606d"/>
                </a:solidFill>
                <a:effectLst/>
                <a:uFillTx/>
                <a:latin typeface="Yu Gothic"/>
                <a:ea typeface="Yu Gothic"/>
              </a:rPr>
              <a:t>は隔離環境で同じ案件を再実行し、計測 → 比較 → 原因分析 → ハーネス改善を繰り返します</a:t>
            </a:r>
            <a:endParaRPr b="0" lang="en-US" sz="1150" strike="noStrike" u="none">
              <a:solidFill>
                <a:srgbClr val="000000"/>
              </a:solidFill>
              <a:effectLst/>
              <a:uFillTx/>
              <a:latin typeface="Arial"/>
            </a:endParaRPr>
          </a:p>
        </p:txBody>
      </p:sp>
      <p:sp>
        <p:nvSpPr>
          <p:cNvPr id="373" name="Shape 2"/>
          <p:cNvSpPr/>
          <p:nvPr/>
        </p:nvSpPr>
        <p:spPr>
          <a:xfrm>
            <a:off x="5422320" y="786240"/>
            <a:ext cx="1316520" cy="621360"/>
          </a:xfrm>
          <a:prstGeom prst="ellipse">
            <a:avLst/>
          </a:prstGeom>
          <a:solidFill>
            <a:srgbClr val="1b6fd1"/>
          </a:solidFill>
          <a:ln w="12700">
            <a:solidFill>
              <a:srgbClr val="1b6fd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74" name="Text 3"/>
          <p:cNvSpPr/>
          <p:nvPr/>
        </p:nvSpPr>
        <p:spPr>
          <a:xfrm>
            <a:off x="5495400" y="951120"/>
            <a:ext cx="117000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39" strike="noStrike" u="none">
                <a:solidFill>
                  <a:srgbClr val="ffffff"/>
                </a:solidFill>
                <a:effectLst/>
                <a:uFillTx/>
                <a:latin typeface="Yu Gothic"/>
                <a:ea typeface="Yu Gothic"/>
              </a:rPr>
              <a:t>1. </a:t>
            </a:r>
            <a:r>
              <a:rPr b="1" lang="zh-CN" sz="939" strike="noStrike" u="none">
                <a:solidFill>
                  <a:srgbClr val="ffffff"/>
                </a:solidFill>
                <a:effectLst/>
                <a:uFillTx/>
                <a:latin typeface="Yu Gothic"/>
                <a:ea typeface="Yu Gothic"/>
              </a:rPr>
              <a:t>対象案件を選ぶ</a:t>
            </a:r>
            <a:endParaRPr b="0" lang="en-US" sz="939" strike="noStrike" u="none">
              <a:solidFill>
                <a:srgbClr val="000000"/>
              </a:solidFill>
              <a:effectLst/>
              <a:uFillTx/>
              <a:latin typeface="Arial"/>
            </a:endParaRPr>
          </a:p>
        </p:txBody>
      </p:sp>
      <p:sp>
        <p:nvSpPr>
          <p:cNvPr id="375" name="Shape 4"/>
          <p:cNvSpPr/>
          <p:nvPr/>
        </p:nvSpPr>
        <p:spPr>
          <a:xfrm>
            <a:off x="7283520" y="1860840"/>
            <a:ext cx="1316520" cy="621360"/>
          </a:xfrm>
          <a:prstGeom prst="ellipse">
            <a:avLst/>
          </a:prstGeom>
          <a:solidFill>
            <a:srgbClr val="3b82f6"/>
          </a:solidFill>
          <a:ln w="12700">
            <a:solidFill>
              <a:srgbClr val="3b82f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76" name="Text 5"/>
          <p:cNvSpPr/>
          <p:nvPr/>
        </p:nvSpPr>
        <p:spPr>
          <a:xfrm>
            <a:off x="7356600" y="2025360"/>
            <a:ext cx="117000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39" strike="noStrike" u="none">
                <a:solidFill>
                  <a:srgbClr val="ffffff"/>
                </a:solidFill>
                <a:effectLst/>
                <a:uFillTx/>
                <a:latin typeface="Yu Gothic"/>
                <a:ea typeface="Yu Gothic"/>
              </a:rPr>
              <a:t>2. </a:t>
            </a:r>
            <a:r>
              <a:rPr b="1" lang="zh-CN" sz="939" strike="noStrike" u="none">
                <a:solidFill>
                  <a:srgbClr val="ffffff"/>
                </a:solidFill>
                <a:effectLst/>
                <a:uFillTx/>
                <a:latin typeface="Yu Gothic"/>
                <a:ea typeface="Yu Gothic"/>
              </a:rPr>
              <a:t>人手で本番開発</a:t>
            </a:r>
            <a:endParaRPr b="0" lang="en-US" sz="939" strike="noStrike" u="none">
              <a:solidFill>
                <a:srgbClr val="000000"/>
              </a:solidFill>
              <a:effectLst/>
              <a:uFillTx/>
              <a:latin typeface="Arial"/>
            </a:endParaRPr>
          </a:p>
        </p:txBody>
      </p:sp>
      <p:sp>
        <p:nvSpPr>
          <p:cNvPr id="377" name="Shape 6"/>
          <p:cNvSpPr/>
          <p:nvPr/>
        </p:nvSpPr>
        <p:spPr>
          <a:xfrm>
            <a:off x="7283520" y="4009680"/>
            <a:ext cx="1316520" cy="621360"/>
          </a:xfrm>
          <a:prstGeom prst="ellipse">
            <a:avLst/>
          </a:prstGeom>
          <a:solidFill>
            <a:srgbClr val="0f9d8a"/>
          </a:solidFill>
          <a:ln w="12700">
            <a:solidFill>
              <a:srgbClr val="0f9d8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78" name="Text 7"/>
          <p:cNvSpPr/>
          <p:nvPr/>
        </p:nvSpPr>
        <p:spPr>
          <a:xfrm>
            <a:off x="7356600" y="4174200"/>
            <a:ext cx="117000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39" strike="noStrike" u="none">
                <a:solidFill>
                  <a:srgbClr val="ffffff"/>
                </a:solidFill>
                <a:effectLst/>
                <a:uFillTx/>
                <a:latin typeface="Yu Gothic"/>
                <a:ea typeface="Yu Gothic"/>
              </a:rPr>
              <a:t>3. AI</a:t>
            </a:r>
            <a:r>
              <a:rPr b="1" lang="zh-CN" sz="939" strike="noStrike" u="none">
                <a:solidFill>
                  <a:srgbClr val="ffffff"/>
                </a:solidFill>
                <a:effectLst/>
                <a:uFillTx/>
                <a:latin typeface="Yu Gothic"/>
                <a:ea typeface="Yu Gothic"/>
              </a:rPr>
              <a:t>をシャドー実行</a:t>
            </a:r>
            <a:endParaRPr b="0" lang="en-US" sz="939" strike="noStrike" u="none">
              <a:solidFill>
                <a:srgbClr val="000000"/>
              </a:solidFill>
              <a:effectLst/>
              <a:uFillTx/>
              <a:latin typeface="Arial"/>
            </a:endParaRPr>
          </a:p>
        </p:txBody>
      </p:sp>
      <p:sp>
        <p:nvSpPr>
          <p:cNvPr id="379" name="Shape 8"/>
          <p:cNvSpPr/>
          <p:nvPr/>
        </p:nvSpPr>
        <p:spPr>
          <a:xfrm>
            <a:off x="5422320" y="5083920"/>
            <a:ext cx="1316520" cy="621360"/>
          </a:xfrm>
          <a:prstGeom prst="ellipse">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80" name="Text 9"/>
          <p:cNvSpPr/>
          <p:nvPr/>
        </p:nvSpPr>
        <p:spPr>
          <a:xfrm>
            <a:off x="5495400" y="5248800"/>
            <a:ext cx="117000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39" strike="noStrike" u="none">
                <a:solidFill>
                  <a:srgbClr val="ffffff"/>
                </a:solidFill>
                <a:effectLst/>
                <a:uFillTx/>
                <a:latin typeface="Yu Gothic"/>
                <a:ea typeface="Yu Gothic"/>
              </a:rPr>
              <a:t>4. </a:t>
            </a:r>
            <a:r>
              <a:rPr b="1" lang="zh-CN" sz="939" strike="noStrike" u="none">
                <a:solidFill>
                  <a:srgbClr val="ffffff"/>
                </a:solidFill>
                <a:effectLst/>
                <a:uFillTx/>
                <a:latin typeface="Yu Gothic"/>
                <a:ea typeface="Yu Gothic"/>
              </a:rPr>
              <a:t>同一品質ゲート</a:t>
            </a:r>
            <a:endParaRPr b="0" lang="en-US" sz="939" strike="noStrike" u="none">
              <a:solidFill>
                <a:srgbClr val="000000"/>
              </a:solidFill>
              <a:effectLst/>
              <a:uFillTx/>
              <a:latin typeface="Arial"/>
            </a:endParaRPr>
          </a:p>
        </p:txBody>
      </p:sp>
      <p:sp>
        <p:nvSpPr>
          <p:cNvPr id="381" name="Shape 10"/>
          <p:cNvSpPr/>
          <p:nvPr/>
        </p:nvSpPr>
        <p:spPr>
          <a:xfrm>
            <a:off x="3561480" y="4009680"/>
            <a:ext cx="1316520" cy="621360"/>
          </a:xfrm>
          <a:prstGeom prst="ellipse">
            <a:avLst/>
          </a:prstGeom>
          <a:solidFill>
            <a:srgbClr val="d64545"/>
          </a:solidFill>
          <a:ln w="12700">
            <a:solidFill>
              <a:srgbClr val="d6454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82" name="Text 11"/>
          <p:cNvSpPr/>
          <p:nvPr/>
        </p:nvSpPr>
        <p:spPr>
          <a:xfrm>
            <a:off x="3634560" y="4174200"/>
            <a:ext cx="117000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39" strike="noStrike" u="none">
                <a:solidFill>
                  <a:srgbClr val="ffffff"/>
                </a:solidFill>
                <a:effectLst/>
                <a:uFillTx/>
                <a:latin typeface="Yu Gothic"/>
                <a:ea typeface="Yu Gothic"/>
              </a:rPr>
              <a:t>5. </a:t>
            </a:r>
            <a:r>
              <a:rPr b="1" lang="zh-CN" sz="939" strike="noStrike" u="none">
                <a:solidFill>
                  <a:srgbClr val="ffffff"/>
                </a:solidFill>
                <a:effectLst/>
                <a:uFillTx/>
                <a:latin typeface="Yu Gothic"/>
                <a:ea typeface="Yu Gothic"/>
              </a:rPr>
              <a:t>工数・品質比較</a:t>
            </a:r>
            <a:endParaRPr b="0" lang="en-US" sz="939" strike="noStrike" u="none">
              <a:solidFill>
                <a:srgbClr val="000000"/>
              </a:solidFill>
              <a:effectLst/>
              <a:uFillTx/>
              <a:latin typeface="Arial"/>
            </a:endParaRPr>
          </a:p>
        </p:txBody>
      </p:sp>
      <p:sp>
        <p:nvSpPr>
          <p:cNvPr id="383" name="Shape 12"/>
          <p:cNvSpPr/>
          <p:nvPr/>
        </p:nvSpPr>
        <p:spPr>
          <a:xfrm>
            <a:off x="3561480" y="1860840"/>
            <a:ext cx="1316520" cy="621360"/>
          </a:xfrm>
          <a:prstGeom prst="ellipse">
            <a:avLst/>
          </a:prstGeom>
          <a:solidFill>
            <a:srgbClr val="0b1f33"/>
          </a:solidFill>
          <a:ln w="12700">
            <a:solidFill>
              <a:srgbClr val="0b1f33"/>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84" name="Text 13"/>
          <p:cNvSpPr/>
          <p:nvPr/>
        </p:nvSpPr>
        <p:spPr>
          <a:xfrm>
            <a:off x="3634560" y="2025360"/>
            <a:ext cx="117000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39" strike="noStrike" u="none">
                <a:solidFill>
                  <a:srgbClr val="ffffff"/>
                </a:solidFill>
                <a:effectLst/>
                <a:uFillTx/>
                <a:latin typeface="Yu Gothic"/>
                <a:ea typeface="Yu Gothic"/>
              </a:rPr>
              <a:t>6. </a:t>
            </a:r>
            <a:r>
              <a:rPr b="1" lang="zh-CN" sz="939" strike="noStrike" u="none">
                <a:solidFill>
                  <a:srgbClr val="ffffff"/>
                </a:solidFill>
                <a:effectLst/>
                <a:uFillTx/>
                <a:latin typeface="Yu Gothic"/>
                <a:ea typeface="Yu Gothic"/>
              </a:rPr>
              <a:t>原因分析・改善</a:t>
            </a:r>
            <a:endParaRPr b="0" lang="en-US" sz="939" strike="noStrike" u="none">
              <a:solidFill>
                <a:srgbClr val="000000"/>
              </a:solidFill>
              <a:effectLst/>
              <a:uFillTx/>
              <a:latin typeface="Arial"/>
            </a:endParaRPr>
          </a:p>
        </p:txBody>
      </p:sp>
      <p:sp>
        <p:nvSpPr>
          <p:cNvPr id="385" name="Shape 14"/>
          <p:cNvSpPr/>
          <p:nvPr/>
        </p:nvSpPr>
        <p:spPr>
          <a:xfrm>
            <a:off x="6080760" y="1097280"/>
            <a:ext cx="1860840" cy="1074240"/>
          </a:xfrm>
          <a:prstGeom prst="line">
            <a:avLst/>
          </a:prstGeom>
          <a:ln w="19050">
            <a:solidFill>
              <a:srgbClr val="9aa8b5"/>
            </a:solidFill>
            <a:round/>
            <a:tailEnd len="med" type="triangle" w="me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386" name="Shape 15"/>
          <p:cNvSpPr/>
          <p:nvPr/>
        </p:nvSpPr>
        <p:spPr>
          <a:xfrm>
            <a:off x="7941600" y="2171520"/>
            <a:ext cx="360" cy="2148840"/>
          </a:xfrm>
          <a:prstGeom prst="line">
            <a:avLst/>
          </a:prstGeom>
          <a:ln w="19050">
            <a:solidFill>
              <a:srgbClr val="9aa8b5"/>
            </a:solidFill>
            <a:round/>
            <a:tailEnd len="med" type="triangle" w="me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387" name="Shape 16"/>
          <p:cNvSpPr/>
          <p:nvPr/>
        </p:nvSpPr>
        <p:spPr>
          <a:xfrm flipH="1">
            <a:off x="6080760" y="4320360"/>
            <a:ext cx="1860840" cy="1074600"/>
          </a:xfrm>
          <a:prstGeom prst="line">
            <a:avLst/>
          </a:prstGeom>
          <a:ln w="19050">
            <a:solidFill>
              <a:srgbClr val="9aa8b5"/>
            </a:solidFill>
            <a:round/>
            <a:tailEnd len="med" type="triangle" w="me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388" name="Shape 17"/>
          <p:cNvSpPr/>
          <p:nvPr/>
        </p:nvSpPr>
        <p:spPr>
          <a:xfrm flipH="1" flipV="1">
            <a:off x="4219560" y="4320360"/>
            <a:ext cx="1861200" cy="1074600"/>
          </a:xfrm>
          <a:prstGeom prst="line">
            <a:avLst/>
          </a:prstGeom>
          <a:ln w="19050">
            <a:solidFill>
              <a:srgbClr val="9aa8b5"/>
            </a:solidFill>
            <a:round/>
            <a:tailEnd len="med" type="triangle" w="me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389" name="Shape 18"/>
          <p:cNvSpPr/>
          <p:nvPr/>
        </p:nvSpPr>
        <p:spPr>
          <a:xfrm flipV="1">
            <a:off x="4219560" y="2171520"/>
            <a:ext cx="360" cy="2148840"/>
          </a:xfrm>
          <a:prstGeom prst="line">
            <a:avLst/>
          </a:prstGeom>
          <a:ln w="19050">
            <a:solidFill>
              <a:srgbClr val="9aa8b5"/>
            </a:solidFill>
            <a:round/>
            <a:tailEnd len="med" type="triangle" w="me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390" name="Shape 19"/>
          <p:cNvSpPr/>
          <p:nvPr/>
        </p:nvSpPr>
        <p:spPr>
          <a:xfrm flipV="1">
            <a:off x="4219560" y="1097280"/>
            <a:ext cx="1861200" cy="1074240"/>
          </a:xfrm>
          <a:prstGeom prst="line">
            <a:avLst/>
          </a:prstGeom>
          <a:ln w="19050">
            <a:solidFill>
              <a:srgbClr val="9aa8b5"/>
            </a:solidFill>
            <a:round/>
            <a:tailEnd len="med" type="triangle" w="me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391" name="Shape 20"/>
          <p:cNvSpPr/>
          <p:nvPr/>
        </p:nvSpPr>
        <p:spPr>
          <a:xfrm>
            <a:off x="5148000" y="2624400"/>
            <a:ext cx="1865160" cy="1243080"/>
          </a:xfrm>
          <a:prstGeom prst="ellipse">
            <a:avLst/>
          </a:prstGeom>
          <a:solidFill>
            <a:srgbClr val="eef3f8"/>
          </a:solidFill>
          <a:ln w="15240">
            <a:solidFill>
              <a:srgbClr val="ccd6e0"/>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92" name="Text 21"/>
          <p:cNvSpPr/>
          <p:nvPr/>
        </p:nvSpPr>
        <p:spPr>
          <a:xfrm>
            <a:off x="5385960" y="3063240"/>
            <a:ext cx="1389600" cy="237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zh-CN" sz="1400" strike="noStrike" u="none">
                <a:solidFill>
                  <a:srgbClr val="0b1f33"/>
                </a:solidFill>
                <a:effectLst/>
                <a:uFillTx/>
                <a:latin typeface="Yu Gothic"/>
                <a:ea typeface="Yu Gothic"/>
              </a:rPr>
              <a:t>週次改善サイクル</a:t>
            </a:r>
            <a:endParaRPr b="0" lang="en-US" sz="1400" strike="noStrike" u="none">
              <a:solidFill>
                <a:srgbClr val="000000"/>
              </a:solidFill>
              <a:effectLst/>
              <a:uFillTx/>
              <a:latin typeface="Arial"/>
            </a:endParaRPr>
          </a:p>
        </p:txBody>
      </p:sp>
      <p:sp>
        <p:nvSpPr>
          <p:cNvPr id="393" name="Text 22"/>
          <p:cNvSpPr/>
          <p:nvPr/>
        </p:nvSpPr>
        <p:spPr>
          <a:xfrm>
            <a:off x="5385960" y="3355920"/>
            <a:ext cx="1389600" cy="310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52606d"/>
                </a:solidFill>
                <a:effectLst/>
                <a:uFillTx/>
                <a:latin typeface="Yu Gothic"/>
                <a:ea typeface="Yu Gothic"/>
              </a:rPr>
              <a:t>AI</a:t>
            </a:r>
            <a:r>
              <a:rPr b="0" lang="zh-CN" sz="950" strike="noStrike" u="none">
                <a:solidFill>
                  <a:srgbClr val="52606d"/>
                </a:solidFill>
                <a:effectLst/>
                <a:uFillTx/>
                <a:latin typeface="Yu Gothic"/>
                <a:ea typeface="Yu Gothic"/>
              </a:rPr>
              <a:t>改善は次のシャドー検証へ反映</a:t>
            </a:r>
            <a:endParaRPr b="0" lang="en-US" sz="950" strike="noStrike" u="none">
              <a:solidFill>
                <a:srgbClr val="000000"/>
              </a:solidFill>
              <a:effectLst/>
              <a:uFillTx/>
              <a:latin typeface="Arial"/>
            </a:endParaRPr>
          </a:p>
        </p:txBody>
      </p:sp>
      <p:sp>
        <p:nvSpPr>
          <p:cNvPr id="394" name="Shape 23"/>
          <p:cNvSpPr/>
          <p:nvPr/>
        </p:nvSpPr>
        <p:spPr>
          <a:xfrm>
            <a:off x="621720" y="1325880"/>
            <a:ext cx="2907360" cy="1627200"/>
          </a:xfrm>
          <a:prstGeom prst="roundRect">
            <a:avLst>
              <a:gd name="adj" fmla="val 3933"/>
            </a:avLst>
          </a:prstGeom>
          <a:solidFill>
            <a:srgbClr val="f4f8fd"/>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95" name="Shape 24"/>
          <p:cNvSpPr/>
          <p:nvPr/>
        </p:nvSpPr>
        <p:spPr>
          <a:xfrm>
            <a:off x="621720" y="1325880"/>
            <a:ext cx="63720" cy="1627200"/>
          </a:xfrm>
          <a:prstGeom prst="rect">
            <a:avLst/>
          </a:prstGeom>
          <a:solidFill>
            <a:srgbClr val="1b6fd1"/>
          </a:solidFill>
          <a:ln w="12700">
            <a:solidFill>
              <a:srgbClr val="1b6fd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96" name="Text 25"/>
          <p:cNvSpPr/>
          <p:nvPr/>
        </p:nvSpPr>
        <p:spPr>
          <a:xfrm>
            <a:off x="786240" y="1472040"/>
            <a:ext cx="258732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zh-CN" sz="1500" strike="noStrike" u="none">
                <a:solidFill>
                  <a:srgbClr val="0b1f33"/>
                </a:solidFill>
                <a:effectLst/>
                <a:uFillTx/>
                <a:latin typeface="Yu Gothic"/>
                <a:ea typeface="Yu Gothic"/>
              </a:rPr>
              <a:t>人手開発トラック｜本番</a:t>
            </a:r>
            <a:endParaRPr b="0" lang="en-US" sz="1500" strike="noStrike" u="none">
              <a:solidFill>
                <a:srgbClr val="000000"/>
              </a:solidFill>
              <a:effectLst/>
              <a:uFillTx/>
              <a:latin typeface="Arial"/>
            </a:endParaRPr>
          </a:p>
        </p:txBody>
      </p:sp>
      <p:sp>
        <p:nvSpPr>
          <p:cNvPr id="397" name="Text 26"/>
          <p:cNvSpPr/>
          <p:nvPr/>
        </p:nvSpPr>
        <p:spPr>
          <a:xfrm>
            <a:off x="786240" y="1865520"/>
            <a:ext cx="2587320" cy="94140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zh-CN" sz="1150" strike="noStrike" u="none">
                <a:solidFill>
                  <a:srgbClr val="243b53"/>
                </a:solidFill>
                <a:effectLst/>
                <a:uFillTx/>
                <a:latin typeface="Yu Gothic"/>
                <a:ea typeface="Yu Gothic"/>
              </a:rPr>
              <a:t>納期・品質を守る通常の人手開発を継続し、</a:t>
            </a:r>
            <a:r>
              <a:rPr b="0" lang="en-US" sz="1150" strike="noStrike" u="none">
                <a:solidFill>
                  <a:srgbClr val="243b53"/>
                </a:solidFill>
                <a:effectLst/>
                <a:uFillTx/>
                <a:latin typeface="Yu Gothic"/>
                <a:ea typeface="Yu Gothic"/>
              </a:rPr>
              <a:t>AI</a:t>
            </a:r>
            <a:r>
              <a:rPr b="0" lang="zh-CN" sz="1150" strike="noStrike" u="none">
                <a:solidFill>
                  <a:srgbClr val="243b53"/>
                </a:solidFill>
                <a:effectLst/>
                <a:uFillTx/>
                <a:latin typeface="Yu Gothic"/>
                <a:ea typeface="Yu Gothic"/>
              </a:rPr>
              <a:t>側の結果や変更は本番成果物へ混ぜません。</a:t>
            </a:r>
            <a:endParaRPr b="0" lang="en-US" sz="1150" strike="noStrike" u="none">
              <a:solidFill>
                <a:srgbClr val="000000"/>
              </a:solidFill>
              <a:effectLst/>
              <a:uFillTx/>
              <a:latin typeface="Arial"/>
            </a:endParaRPr>
          </a:p>
        </p:txBody>
      </p:sp>
      <p:sp>
        <p:nvSpPr>
          <p:cNvPr id="398" name="Shape 27"/>
          <p:cNvSpPr/>
          <p:nvPr/>
        </p:nvSpPr>
        <p:spPr>
          <a:xfrm>
            <a:off x="621720" y="4370760"/>
            <a:ext cx="2907360" cy="1298160"/>
          </a:xfrm>
          <a:prstGeom prst="roundRect">
            <a:avLst>
              <a:gd name="adj" fmla="val 4930"/>
            </a:avLst>
          </a:prstGeom>
          <a:solidFill>
            <a:srgbClr val="f2fbf9"/>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99" name="Shape 28"/>
          <p:cNvSpPr/>
          <p:nvPr/>
        </p:nvSpPr>
        <p:spPr>
          <a:xfrm>
            <a:off x="621720" y="4370760"/>
            <a:ext cx="63720" cy="1298160"/>
          </a:xfrm>
          <a:prstGeom prst="rect">
            <a:avLst/>
          </a:prstGeom>
          <a:solidFill>
            <a:srgbClr val="0f9d8a"/>
          </a:solidFill>
          <a:ln w="12700">
            <a:solidFill>
              <a:srgbClr val="0f9d8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00" name="Text 29"/>
          <p:cNvSpPr/>
          <p:nvPr/>
        </p:nvSpPr>
        <p:spPr>
          <a:xfrm>
            <a:off x="786240" y="4517280"/>
            <a:ext cx="258732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0b1f33"/>
                </a:solidFill>
                <a:effectLst/>
                <a:uFillTx/>
                <a:latin typeface="Yu Gothic"/>
                <a:ea typeface="Yu Gothic"/>
              </a:rPr>
              <a:t>AI</a:t>
            </a:r>
            <a:r>
              <a:rPr b="1" lang="zh-CN" sz="1500" strike="noStrike" u="none">
                <a:solidFill>
                  <a:srgbClr val="0b1f33"/>
                </a:solidFill>
                <a:effectLst/>
                <a:uFillTx/>
                <a:latin typeface="Yu Gothic"/>
                <a:ea typeface="Yu Gothic"/>
              </a:rPr>
              <a:t>検証トラック｜非本番</a:t>
            </a:r>
            <a:endParaRPr b="0" lang="en-US" sz="1500" strike="noStrike" u="none">
              <a:solidFill>
                <a:srgbClr val="000000"/>
              </a:solidFill>
              <a:effectLst/>
              <a:uFillTx/>
              <a:latin typeface="Arial"/>
            </a:endParaRPr>
          </a:p>
        </p:txBody>
      </p:sp>
      <p:sp>
        <p:nvSpPr>
          <p:cNvPr id="401" name="Text 30"/>
          <p:cNvSpPr/>
          <p:nvPr/>
        </p:nvSpPr>
        <p:spPr>
          <a:xfrm>
            <a:off x="786240" y="4910400"/>
            <a:ext cx="2587320" cy="61236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zh-CN" sz="1150" strike="noStrike" u="none">
                <a:solidFill>
                  <a:srgbClr val="243b53"/>
                </a:solidFill>
                <a:effectLst/>
                <a:uFillTx/>
                <a:latin typeface="Yu Gothic"/>
                <a:ea typeface="Yu Gothic"/>
              </a:rPr>
              <a:t>同じ案件を隔離環境で</a:t>
            </a:r>
            <a:r>
              <a:rPr b="0" lang="en-US" sz="1150" strike="noStrike" u="none">
                <a:solidFill>
                  <a:srgbClr val="243b53"/>
                </a:solidFill>
                <a:effectLst/>
                <a:uFillTx/>
                <a:latin typeface="Yu Gothic"/>
                <a:ea typeface="Yu Gothic"/>
              </a:rPr>
              <a:t>AI</a:t>
            </a:r>
            <a:r>
              <a:rPr b="0" lang="zh-CN" sz="1150" strike="noStrike" u="none">
                <a:solidFill>
                  <a:srgbClr val="243b53"/>
                </a:solidFill>
                <a:effectLst/>
                <a:uFillTx/>
                <a:latin typeface="Yu Gothic"/>
                <a:ea typeface="Yu Gothic"/>
              </a:rPr>
              <a:t>が並行実行。失敗・手戻りの原因を分解し、ハーネスを改修します。</a:t>
            </a:r>
            <a:endParaRPr b="0" lang="en-US" sz="1150" strike="noStrike" u="none">
              <a:solidFill>
                <a:srgbClr val="000000"/>
              </a:solidFill>
              <a:effectLst/>
              <a:uFillTx/>
              <a:latin typeface="Arial"/>
            </a:endParaRPr>
          </a:p>
        </p:txBody>
      </p:sp>
      <p:sp>
        <p:nvSpPr>
          <p:cNvPr id="402" name="Shape 31"/>
          <p:cNvSpPr/>
          <p:nvPr/>
        </p:nvSpPr>
        <p:spPr>
          <a:xfrm>
            <a:off x="8641080" y="1325880"/>
            <a:ext cx="2907360" cy="1627200"/>
          </a:xfrm>
          <a:prstGeom prst="roundRect">
            <a:avLst>
              <a:gd name="adj" fmla="val 3933"/>
            </a:avLst>
          </a:prstGeom>
          <a:solidFill>
            <a:srgbClr val="fff9ed"/>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03" name="Shape 32"/>
          <p:cNvSpPr/>
          <p:nvPr/>
        </p:nvSpPr>
        <p:spPr>
          <a:xfrm>
            <a:off x="8641080" y="1325880"/>
            <a:ext cx="63720" cy="162720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04" name="Text 33"/>
          <p:cNvSpPr/>
          <p:nvPr/>
        </p:nvSpPr>
        <p:spPr>
          <a:xfrm>
            <a:off x="8805600" y="1472040"/>
            <a:ext cx="258732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zh-CN" sz="1500" strike="noStrike" u="none">
                <a:solidFill>
                  <a:srgbClr val="0b1f33"/>
                </a:solidFill>
                <a:effectLst/>
                <a:uFillTx/>
                <a:latin typeface="Yu Gothic"/>
                <a:ea typeface="Yu Gothic"/>
              </a:rPr>
              <a:t>比較の原則</a:t>
            </a:r>
            <a:endParaRPr b="0" lang="en-US" sz="1500" strike="noStrike" u="none">
              <a:solidFill>
                <a:srgbClr val="000000"/>
              </a:solidFill>
              <a:effectLst/>
              <a:uFillTx/>
              <a:latin typeface="Arial"/>
            </a:endParaRPr>
          </a:p>
        </p:txBody>
      </p:sp>
      <p:sp>
        <p:nvSpPr>
          <p:cNvPr id="405" name="Text 34"/>
          <p:cNvSpPr/>
          <p:nvPr/>
        </p:nvSpPr>
        <p:spPr>
          <a:xfrm>
            <a:off x="8805600" y="1865520"/>
            <a:ext cx="2587320" cy="94140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zh-CN" sz="1150" strike="noStrike" u="none">
                <a:solidFill>
                  <a:srgbClr val="243b53"/>
                </a:solidFill>
                <a:effectLst/>
                <a:uFillTx/>
                <a:latin typeface="Yu Gothic"/>
                <a:ea typeface="Yu Gothic"/>
              </a:rPr>
              <a:t>同一種別・近い難易度で比較し、案件差・担当者差を記録。平均値だけでなく分布と例外を見ます。</a:t>
            </a:r>
            <a:endParaRPr b="0" lang="en-US" sz="1150" strike="noStrike" u="none">
              <a:solidFill>
                <a:srgbClr val="000000"/>
              </a:solidFill>
              <a:effectLst/>
              <a:uFillTx/>
              <a:latin typeface="Arial"/>
            </a:endParaRPr>
          </a:p>
        </p:txBody>
      </p:sp>
      <p:sp>
        <p:nvSpPr>
          <p:cNvPr id="406" name="Shape 35"/>
          <p:cNvSpPr/>
          <p:nvPr/>
        </p:nvSpPr>
        <p:spPr>
          <a:xfrm>
            <a:off x="8641080" y="4370760"/>
            <a:ext cx="2907360" cy="1298160"/>
          </a:xfrm>
          <a:prstGeom prst="roundRect">
            <a:avLst>
              <a:gd name="adj" fmla="val 4930"/>
            </a:avLst>
          </a:prstGeom>
          <a:solidFill>
            <a:srgbClr val="f0f3f7"/>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07" name="Shape 36"/>
          <p:cNvSpPr/>
          <p:nvPr/>
        </p:nvSpPr>
        <p:spPr>
          <a:xfrm>
            <a:off x="8641080" y="4370760"/>
            <a:ext cx="63720" cy="1298160"/>
          </a:xfrm>
          <a:prstGeom prst="rect">
            <a:avLst/>
          </a:prstGeom>
          <a:solidFill>
            <a:srgbClr val="0b1f33"/>
          </a:solidFill>
          <a:ln w="12700">
            <a:solidFill>
              <a:srgbClr val="0b1f33"/>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08" name="Text 37"/>
          <p:cNvSpPr/>
          <p:nvPr/>
        </p:nvSpPr>
        <p:spPr>
          <a:xfrm>
            <a:off x="8805600" y="4517280"/>
            <a:ext cx="258732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zh-CN" sz="1500" strike="noStrike" u="none">
                <a:solidFill>
                  <a:srgbClr val="0b1f33"/>
                </a:solidFill>
                <a:effectLst/>
                <a:uFillTx/>
                <a:latin typeface="Yu Gothic"/>
                <a:ea typeface="Yu Gothic"/>
              </a:rPr>
              <a:t>変更の原則</a:t>
            </a:r>
            <a:endParaRPr b="0" lang="en-US" sz="1500" strike="noStrike" u="none">
              <a:solidFill>
                <a:srgbClr val="000000"/>
              </a:solidFill>
              <a:effectLst/>
              <a:uFillTx/>
              <a:latin typeface="Arial"/>
            </a:endParaRPr>
          </a:p>
        </p:txBody>
      </p:sp>
      <p:sp>
        <p:nvSpPr>
          <p:cNvPr id="409" name="Text 38"/>
          <p:cNvSpPr/>
          <p:nvPr/>
        </p:nvSpPr>
        <p:spPr>
          <a:xfrm>
            <a:off x="8805600" y="4910400"/>
            <a:ext cx="2587320" cy="61236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zh-CN" sz="1150" strike="noStrike" u="none">
                <a:solidFill>
                  <a:srgbClr val="243b53"/>
                </a:solidFill>
                <a:effectLst/>
                <a:uFillTx/>
                <a:latin typeface="Yu Gothic"/>
                <a:ea typeface="Yu Gothic"/>
              </a:rPr>
              <a:t>改善は次回のシャドー検証へだけ反映。</a:t>
            </a:r>
            <a:r>
              <a:rPr b="0" lang="en-US" sz="1150" strike="noStrike" u="none">
                <a:solidFill>
                  <a:srgbClr val="243b53"/>
                </a:solidFill>
                <a:effectLst/>
                <a:uFillTx/>
                <a:latin typeface="Yu Gothic"/>
                <a:ea typeface="Yu Gothic"/>
              </a:rPr>
              <a:t>3</a:t>
            </a:r>
            <a:r>
              <a:rPr b="0" lang="zh-CN" sz="1150" strike="noStrike" u="none">
                <a:solidFill>
                  <a:srgbClr val="243b53"/>
                </a:solidFill>
                <a:effectLst/>
                <a:uFillTx/>
                <a:latin typeface="Yu Gothic"/>
                <a:ea typeface="Yu Gothic"/>
              </a:rPr>
              <a:t>月</a:t>
            </a:r>
            <a:r>
              <a:rPr b="0" lang="en-US" sz="1150" strike="noStrike" u="none">
                <a:solidFill>
                  <a:srgbClr val="243b53"/>
                </a:solidFill>
                <a:effectLst/>
                <a:uFillTx/>
                <a:latin typeface="Yu Gothic"/>
                <a:ea typeface="Yu Gothic"/>
              </a:rPr>
              <a:t>Gate 2</a:t>
            </a:r>
            <a:r>
              <a:rPr b="0" lang="zh-CN" sz="1150" strike="noStrike" u="none">
                <a:solidFill>
                  <a:srgbClr val="243b53"/>
                </a:solidFill>
                <a:effectLst/>
                <a:uFillTx/>
                <a:latin typeface="Yu Gothic"/>
                <a:ea typeface="Yu Gothic"/>
              </a:rPr>
              <a:t>までは本番成果物へ反映しません。</a:t>
            </a:r>
            <a:endParaRPr b="0" lang="en-US" sz="1150" strike="noStrike" u="none">
              <a:solidFill>
                <a:srgbClr val="000000"/>
              </a:solidFill>
              <a:effectLst/>
              <a:uFillTx/>
              <a:latin typeface="Arial"/>
            </a:endParaRPr>
          </a:p>
        </p:txBody>
      </p:sp>
      <p:sp>
        <p:nvSpPr>
          <p:cNvPr id="410" name="PlaceHolder 1"/>
          <p:cNvSpPr>
            <a:spLocks noGrp="1"/>
          </p:cNvSpPr>
          <p:nvPr>
            <p:ph type="sldNum" idx="11"/>
          </p:nvPr>
        </p:nvSpPr>
        <p:spPr>
          <a:xfrm>
            <a:off x="11777400" y="65563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850" strike="noStrike" u="none">
                <a:solidFill>
                  <a:srgbClr val="75808f"/>
                </a:solidFill>
                <a:effectLst/>
                <a:uFillTx/>
                <a:latin typeface="Yu Gothic"/>
                <a:ea typeface="Yu Gothic"/>
              </a:defRPr>
            </a:lvl1pPr>
          </a:lstStyle>
          <a:p>
            <a:pPr indent="0" defTabSz="914400">
              <a:lnSpc>
                <a:spcPct val="100000"/>
              </a:lnSpc>
              <a:buNone/>
            </a:pPr>
            <a:fld id="{B5D446D7-9EA6-4046-94CB-D0B4CF855BE2}" type="slidenum">
              <a:rPr b="0" lang="en-US" sz="850" strike="noStrike" u="none">
                <a:solidFill>
                  <a:srgbClr val="75808f"/>
                </a:solidFill>
                <a:effectLst/>
                <a:uFillTx/>
                <a:latin typeface="Yu Gothic"/>
                <a:ea typeface="Yu Gothic"/>
              </a:rPr>
              <a:t>&lt;number&gt;</a:t>
            </a:fld>
            <a:endParaRPr b="0" lang="en-US" sz="85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Text 0"/>
          <p:cNvSpPr/>
          <p:nvPr/>
        </p:nvSpPr>
        <p:spPr>
          <a:xfrm>
            <a:off x="530280" y="301680"/>
            <a:ext cx="11109600" cy="420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zh-CN" sz="2550" strike="noStrike" u="none">
                <a:solidFill>
                  <a:srgbClr val="0b1f33"/>
                </a:solidFill>
                <a:effectLst/>
                <a:uFillTx/>
                <a:latin typeface="Yu Gothic"/>
                <a:ea typeface="Yu Gothic"/>
              </a:rPr>
              <a:t>検証観点：効果だけでなく「継続して任せられるか」を確認する</a:t>
            </a:r>
            <a:endParaRPr b="0" lang="en-US" sz="2550" strike="noStrike" u="none">
              <a:solidFill>
                <a:srgbClr val="000000"/>
              </a:solidFill>
              <a:effectLst/>
              <a:uFillTx/>
              <a:latin typeface="Arial"/>
            </a:endParaRPr>
          </a:p>
        </p:txBody>
      </p:sp>
      <p:sp>
        <p:nvSpPr>
          <p:cNvPr id="412" name="Text 1"/>
          <p:cNvSpPr/>
          <p:nvPr/>
        </p:nvSpPr>
        <p:spPr>
          <a:xfrm>
            <a:off x="548640" y="749880"/>
            <a:ext cx="1097244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trike="noStrike" u="none">
                <a:solidFill>
                  <a:srgbClr val="52606d"/>
                </a:solidFill>
                <a:effectLst/>
                <a:uFillTx/>
                <a:latin typeface="Yu Gothic"/>
                <a:ea typeface="Yu Gothic"/>
              </a:rPr>
              <a:t>AI</a:t>
            </a:r>
            <a:r>
              <a:rPr b="0" lang="zh-CN" sz="1150" strike="noStrike" u="none">
                <a:solidFill>
                  <a:srgbClr val="52606d"/>
                </a:solidFill>
                <a:effectLst/>
                <a:uFillTx/>
                <a:latin typeface="Yu Gothic"/>
                <a:ea typeface="Yu Gothic"/>
              </a:rPr>
              <a:t>成果物は非本番のまま、人手確定成果物を基準に定量効果・品質・本番移行準備を評価します</a:t>
            </a:r>
            <a:endParaRPr b="0" lang="en-US" sz="1150" strike="noStrike" u="none">
              <a:solidFill>
                <a:srgbClr val="000000"/>
              </a:solidFill>
              <a:effectLst/>
              <a:uFillTx/>
              <a:latin typeface="Arial"/>
            </a:endParaRPr>
          </a:p>
        </p:txBody>
      </p:sp>
      <p:sp>
        <p:nvSpPr>
          <p:cNvPr id="413" name="Shape 2"/>
          <p:cNvSpPr/>
          <p:nvPr/>
        </p:nvSpPr>
        <p:spPr>
          <a:xfrm>
            <a:off x="612720" y="1325880"/>
            <a:ext cx="3547440" cy="4498560"/>
          </a:xfrm>
          <a:prstGeom prst="roundRect">
            <a:avLst>
              <a:gd name="adj" fmla="val 1546"/>
            </a:avLst>
          </a:prstGeom>
          <a:solidFill>
            <a:srgbClr val="ffffff"/>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14" name="Shape 3"/>
          <p:cNvSpPr/>
          <p:nvPr/>
        </p:nvSpPr>
        <p:spPr>
          <a:xfrm>
            <a:off x="612720" y="1325880"/>
            <a:ext cx="3547440" cy="639720"/>
          </a:xfrm>
          <a:prstGeom prst="roundRect">
            <a:avLst>
              <a:gd name="adj" fmla="val 8571"/>
            </a:avLst>
          </a:prstGeom>
          <a:solidFill>
            <a:srgbClr val="1b6fd1"/>
          </a:solidFill>
          <a:ln w="12700">
            <a:solidFill>
              <a:srgbClr val="1b6fd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15" name="Text 4"/>
          <p:cNvSpPr/>
          <p:nvPr/>
        </p:nvSpPr>
        <p:spPr>
          <a:xfrm>
            <a:off x="777240" y="1481400"/>
            <a:ext cx="109692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ffffff"/>
                </a:solidFill>
                <a:effectLst/>
                <a:uFillTx/>
                <a:latin typeface="Yu Gothic"/>
                <a:ea typeface="Yu Gothic"/>
              </a:rPr>
              <a:t>A. </a:t>
            </a:r>
            <a:r>
              <a:rPr b="1" lang="zh-CN" sz="1700" strike="noStrike" u="none">
                <a:solidFill>
                  <a:srgbClr val="ffffff"/>
                </a:solidFill>
                <a:effectLst/>
                <a:uFillTx/>
                <a:latin typeface="Yu Gothic"/>
                <a:ea typeface="Yu Gothic"/>
              </a:rPr>
              <a:t>効果</a:t>
            </a:r>
            <a:endParaRPr b="0" lang="en-US" sz="1700" strike="noStrike" u="none">
              <a:solidFill>
                <a:srgbClr val="000000"/>
              </a:solidFill>
              <a:effectLst/>
              <a:uFillTx/>
              <a:latin typeface="Arial"/>
            </a:endParaRPr>
          </a:p>
        </p:txBody>
      </p:sp>
      <p:sp>
        <p:nvSpPr>
          <p:cNvPr id="416" name="Text 5"/>
          <p:cNvSpPr/>
          <p:nvPr/>
        </p:nvSpPr>
        <p:spPr>
          <a:xfrm>
            <a:off x="813960" y="2148840"/>
            <a:ext cx="314532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zh-CN" sz="1150" strike="noStrike" u="none">
                <a:solidFill>
                  <a:srgbClr val="0b1f33"/>
                </a:solidFill>
                <a:effectLst/>
                <a:uFillTx/>
                <a:latin typeface="Yu Gothic"/>
                <a:ea typeface="Yu Gothic"/>
              </a:rPr>
              <a:t>投資対効果が出るか</a:t>
            </a:r>
            <a:endParaRPr b="0" lang="en-US" sz="1150" strike="noStrike" u="none">
              <a:solidFill>
                <a:srgbClr val="000000"/>
              </a:solidFill>
              <a:effectLst/>
              <a:uFillTx/>
              <a:latin typeface="Arial"/>
            </a:endParaRPr>
          </a:p>
        </p:txBody>
      </p:sp>
      <p:sp>
        <p:nvSpPr>
          <p:cNvPr id="417" name="Shape 6"/>
          <p:cNvSpPr/>
          <p:nvPr/>
        </p:nvSpPr>
        <p:spPr>
          <a:xfrm>
            <a:off x="813960" y="2788920"/>
            <a:ext cx="712800" cy="328680"/>
          </a:xfrm>
          <a:prstGeom prst="roundRect">
            <a:avLst>
              <a:gd name="adj" fmla="val 19444"/>
            </a:avLst>
          </a:prstGeom>
          <a:solidFill>
            <a:srgbClr val="1b6fd1"/>
          </a:solidFill>
          <a:ln w="12700">
            <a:solidFill>
              <a:srgbClr val="1b6fd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18" name="Text 7"/>
          <p:cNvSpPr/>
          <p:nvPr/>
        </p:nvSpPr>
        <p:spPr>
          <a:xfrm>
            <a:off x="859680" y="2825640"/>
            <a:ext cx="6213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zh-CN" sz="950" strike="noStrike" u="none">
                <a:solidFill>
                  <a:srgbClr val="ffffff"/>
                </a:solidFill>
                <a:effectLst/>
                <a:uFillTx/>
                <a:latin typeface="Yu Gothic"/>
                <a:ea typeface="Yu Gothic"/>
              </a:rPr>
              <a:t>工数</a:t>
            </a:r>
            <a:endParaRPr b="0" lang="en-US" sz="950" strike="noStrike" u="none">
              <a:solidFill>
                <a:srgbClr val="000000"/>
              </a:solidFill>
              <a:effectLst/>
              <a:uFillTx/>
              <a:latin typeface="Arial"/>
            </a:endParaRPr>
          </a:p>
        </p:txBody>
      </p:sp>
      <p:sp>
        <p:nvSpPr>
          <p:cNvPr id="419" name="Text 8"/>
          <p:cNvSpPr/>
          <p:nvPr/>
        </p:nvSpPr>
        <p:spPr>
          <a:xfrm>
            <a:off x="1636920" y="2807280"/>
            <a:ext cx="231300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030" strike="noStrike" u="none">
                <a:solidFill>
                  <a:srgbClr val="243b53"/>
                </a:solidFill>
                <a:effectLst/>
                <a:uFillTx/>
                <a:latin typeface="Yu Gothic"/>
                <a:ea typeface="Yu Gothic"/>
              </a:rPr>
              <a:t>正味工数・レビュー・手戻り</a:t>
            </a:r>
            <a:endParaRPr b="0" lang="en-US" sz="1030" strike="noStrike" u="none">
              <a:solidFill>
                <a:srgbClr val="000000"/>
              </a:solidFill>
              <a:effectLst/>
              <a:uFillTx/>
              <a:latin typeface="Arial"/>
            </a:endParaRPr>
          </a:p>
        </p:txBody>
      </p:sp>
      <p:sp>
        <p:nvSpPr>
          <p:cNvPr id="420" name="Shape 9"/>
          <p:cNvSpPr/>
          <p:nvPr/>
        </p:nvSpPr>
        <p:spPr>
          <a:xfrm>
            <a:off x="813960" y="3502080"/>
            <a:ext cx="712800" cy="328680"/>
          </a:xfrm>
          <a:prstGeom prst="roundRect">
            <a:avLst>
              <a:gd name="adj" fmla="val 19444"/>
            </a:avLst>
          </a:prstGeom>
          <a:solidFill>
            <a:srgbClr val="1b6fd1"/>
          </a:solidFill>
          <a:ln w="12700">
            <a:solidFill>
              <a:srgbClr val="1b6fd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21" name="Text 10"/>
          <p:cNvSpPr/>
          <p:nvPr/>
        </p:nvSpPr>
        <p:spPr>
          <a:xfrm>
            <a:off x="859680" y="3538800"/>
            <a:ext cx="6213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zh-CN" sz="950" strike="noStrike" u="none">
                <a:solidFill>
                  <a:srgbClr val="ffffff"/>
                </a:solidFill>
                <a:effectLst/>
                <a:uFillTx/>
                <a:latin typeface="Yu Gothic"/>
                <a:ea typeface="Yu Gothic"/>
              </a:rPr>
              <a:t>金額</a:t>
            </a:r>
            <a:endParaRPr b="0" lang="en-US" sz="950" strike="noStrike" u="none">
              <a:solidFill>
                <a:srgbClr val="000000"/>
              </a:solidFill>
              <a:effectLst/>
              <a:uFillTx/>
              <a:latin typeface="Arial"/>
            </a:endParaRPr>
          </a:p>
        </p:txBody>
      </p:sp>
      <p:sp>
        <p:nvSpPr>
          <p:cNvPr id="422" name="Text 11"/>
          <p:cNvSpPr/>
          <p:nvPr/>
        </p:nvSpPr>
        <p:spPr>
          <a:xfrm>
            <a:off x="1636920" y="3520440"/>
            <a:ext cx="231300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030" strike="noStrike" u="none">
                <a:solidFill>
                  <a:srgbClr val="243b53"/>
                </a:solidFill>
                <a:effectLst/>
                <a:uFillTx/>
                <a:latin typeface="Yu Gothic"/>
                <a:ea typeface="Yu Gothic"/>
              </a:rPr>
              <a:t>削減人時</a:t>
            </a:r>
            <a:r>
              <a:rPr b="0" lang="en-US" sz="1030" strike="noStrike" u="none">
                <a:solidFill>
                  <a:srgbClr val="243b53"/>
                </a:solidFill>
                <a:effectLst/>
                <a:uFillTx/>
                <a:latin typeface="Yu Gothic"/>
                <a:ea typeface="Yu Gothic"/>
              </a:rPr>
              <a:t>×</a:t>
            </a:r>
            <a:r>
              <a:rPr b="0" lang="zh-CN" sz="1030" strike="noStrike" u="none">
                <a:solidFill>
                  <a:srgbClr val="243b53"/>
                </a:solidFill>
                <a:effectLst/>
                <a:uFillTx/>
                <a:latin typeface="Yu Gothic"/>
                <a:ea typeface="Yu Gothic"/>
              </a:rPr>
              <a:t>単価−</a:t>
            </a:r>
            <a:r>
              <a:rPr b="0" lang="en-US" sz="1030" strike="noStrike" u="none">
                <a:solidFill>
                  <a:srgbClr val="243b53"/>
                </a:solidFill>
                <a:effectLst/>
                <a:uFillTx/>
                <a:latin typeface="Yu Gothic"/>
                <a:ea typeface="Yu Gothic"/>
              </a:rPr>
              <a:t>AI/</a:t>
            </a:r>
            <a:r>
              <a:rPr b="0" lang="zh-CN" sz="1030" strike="noStrike" u="none">
                <a:solidFill>
                  <a:srgbClr val="243b53"/>
                </a:solidFill>
                <a:effectLst/>
                <a:uFillTx/>
                <a:latin typeface="Yu Gothic"/>
                <a:ea typeface="Yu Gothic"/>
              </a:rPr>
              <a:t>運用費</a:t>
            </a:r>
            <a:endParaRPr b="0" lang="en-US" sz="1030" strike="noStrike" u="none">
              <a:solidFill>
                <a:srgbClr val="000000"/>
              </a:solidFill>
              <a:effectLst/>
              <a:uFillTx/>
              <a:latin typeface="Arial"/>
            </a:endParaRPr>
          </a:p>
        </p:txBody>
      </p:sp>
      <p:sp>
        <p:nvSpPr>
          <p:cNvPr id="423" name="Shape 12"/>
          <p:cNvSpPr/>
          <p:nvPr/>
        </p:nvSpPr>
        <p:spPr>
          <a:xfrm>
            <a:off x="813960" y="4215240"/>
            <a:ext cx="712800" cy="328680"/>
          </a:xfrm>
          <a:prstGeom prst="roundRect">
            <a:avLst>
              <a:gd name="adj" fmla="val 19444"/>
            </a:avLst>
          </a:prstGeom>
          <a:solidFill>
            <a:srgbClr val="1b6fd1"/>
          </a:solidFill>
          <a:ln w="12700">
            <a:solidFill>
              <a:srgbClr val="1b6fd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24" name="Text 13"/>
          <p:cNvSpPr/>
          <p:nvPr/>
        </p:nvSpPr>
        <p:spPr>
          <a:xfrm>
            <a:off x="859680" y="4251960"/>
            <a:ext cx="6213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zh-CN" sz="950" strike="noStrike" u="none">
                <a:solidFill>
                  <a:srgbClr val="ffffff"/>
                </a:solidFill>
                <a:effectLst/>
                <a:uFillTx/>
                <a:latin typeface="Yu Gothic"/>
                <a:ea typeface="Yu Gothic"/>
              </a:rPr>
              <a:t>速度</a:t>
            </a:r>
            <a:endParaRPr b="0" lang="en-US" sz="950" strike="noStrike" u="none">
              <a:solidFill>
                <a:srgbClr val="000000"/>
              </a:solidFill>
              <a:effectLst/>
              <a:uFillTx/>
              <a:latin typeface="Arial"/>
            </a:endParaRPr>
          </a:p>
        </p:txBody>
      </p:sp>
      <p:sp>
        <p:nvSpPr>
          <p:cNvPr id="425" name="Text 14"/>
          <p:cNvSpPr/>
          <p:nvPr/>
        </p:nvSpPr>
        <p:spPr>
          <a:xfrm>
            <a:off x="1636920" y="4233600"/>
            <a:ext cx="231300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030" strike="noStrike" u="none">
                <a:solidFill>
                  <a:srgbClr val="243b53"/>
                </a:solidFill>
                <a:effectLst/>
                <a:uFillTx/>
                <a:latin typeface="Yu Gothic"/>
                <a:ea typeface="Yu Gothic"/>
              </a:rPr>
              <a:t>リードタイム・滞留時間</a:t>
            </a:r>
            <a:endParaRPr b="0" lang="en-US" sz="1030" strike="noStrike" u="none">
              <a:solidFill>
                <a:srgbClr val="000000"/>
              </a:solidFill>
              <a:effectLst/>
              <a:uFillTx/>
              <a:latin typeface="Arial"/>
            </a:endParaRPr>
          </a:p>
        </p:txBody>
      </p:sp>
      <p:sp>
        <p:nvSpPr>
          <p:cNvPr id="426" name="Shape 15"/>
          <p:cNvSpPr/>
          <p:nvPr/>
        </p:nvSpPr>
        <p:spPr>
          <a:xfrm>
            <a:off x="813960" y="4928760"/>
            <a:ext cx="712800" cy="328680"/>
          </a:xfrm>
          <a:prstGeom prst="roundRect">
            <a:avLst>
              <a:gd name="adj" fmla="val 19444"/>
            </a:avLst>
          </a:prstGeom>
          <a:solidFill>
            <a:srgbClr val="1b6fd1"/>
          </a:solidFill>
          <a:ln w="12700">
            <a:solidFill>
              <a:srgbClr val="1b6fd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27" name="Text 16"/>
          <p:cNvSpPr/>
          <p:nvPr/>
        </p:nvSpPr>
        <p:spPr>
          <a:xfrm>
            <a:off x="859680" y="4965120"/>
            <a:ext cx="6213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zh-CN" sz="950" strike="noStrike" u="none">
                <a:solidFill>
                  <a:srgbClr val="ffffff"/>
                </a:solidFill>
                <a:effectLst/>
                <a:uFillTx/>
                <a:latin typeface="Yu Gothic"/>
                <a:ea typeface="Yu Gothic"/>
              </a:rPr>
              <a:t>再現率</a:t>
            </a:r>
            <a:endParaRPr b="0" lang="en-US" sz="950" strike="noStrike" u="none">
              <a:solidFill>
                <a:srgbClr val="000000"/>
              </a:solidFill>
              <a:effectLst/>
              <a:uFillTx/>
              <a:latin typeface="Arial"/>
            </a:endParaRPr>
          </a:p>
        </p:txBody>
      </p:sp>
      <p:sp>
        <p:nvSpPr>
          <p:cNvPr id="428" name="Text 17"/>
          <p:cNvSpPr/>
          <p:nvPr/>
        </p:nvSpPr>
        <p:spPr>
          <a:xfrm>
            <a:off x="1636920" y="4946760"/>
            <a:ext cx="231300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030" strike="noStrike" u="none">
                <a:solidFill>
                  <a:srgbClr val="243b53"/>
                </a:solidFill>
                <a:effectLst/>
                <a:uFillTx/>
                <a:latin typeface="Yu Gothic"/>
                <a:ea typeface="Yu Gothic"/>
              </a:rPr>
              <a:t>人手と同等品質まで到達した案件割合</a:t>
            </a:r>
            <a:endParaRPr b="0" lang="en-US" sz="1030" strike="noStrike" u="none">
              <a:solidFill>
                <a:srgbClr val="000000"/>
              </a:solidFill>
              <a:effectLst/>
              <a:uFillTx/>
              <a:latin typeface="Arial"/>
            </a:endParaRPr>
          </a:p>
        </p:txBody>
      </p:sp>
      <p:sp>
        <p:nvSpPr>
          <p:cNvPr id="429" name="Shape 18"/>
          <p:cNvSpPr/>
          <p:nvPr/>
        </p:nvSpPr>
        <p:spPr>
          <a:xfrm>
            <a:off x="4316040" y="1325880"/>
            <a:ext cx="3547440" cy="4498560"/>
          </a:xfrm>
          <a:prstGeom prst="roundRect">
            <a:avLst>
              <a:gd name="adj" fmla="val 1546"/>
            </a:avLst>
          </a:prstGeom>
          <a:solidFill>
            <a:srgbClr val="ffffff"/>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30" name="Shape 19"/>
          <p:cNvSpPr/>
          <p:nvPr/>
        </p:nvSpPr>
        <p:spPr>
          <a:xfrm>
            <a:off x="4316040" y="1325880"/>
            <a:ext cx="3547440" cy="639720"/>
          </a:xfrm>
          <a:prstGeom prst="roundRect">
            <a:avLst>
              <a:gd name="adj" fmla="val 8571"/>
            </a:avLst>
          </a:prstGeom>
          <a:solidFill>
            <a:srgbClr val="0f9d8a"/>
          </a:solidFill>
          <a:ln w="12700">
            <a:solidFill>
              <a:srgbClr val="0f9d8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31" name="Text 20"/>
          <p:cNvSpPr/>
          <p:nvPr/>
        </p:nvSpPr>
        <p:spPr>
          <a:xfrm>
            <a:off x="4480560" y="1481400"/>
            <a:ext cx="109692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ffffff"/>
                </a:solidFill>
                <a:effectLst/>
                <a:uFillTx/>
                <a:latin typeface="Yu Gothic"/>
                <a:ea typeface="Yu Gothic"/>
              </a:rPr>
              <a:t>B. </a:t>
            </a:r>
            <a:r>
              <a:rPr b="1" lang="zh-CN" sz="1700" strike="noStrike" u="none">
                <a:solidFill>
                  <a:srgbClr val="ffffff"/>
                </a:solidFill>
                <a:effectLst/>
                <a:uFillTx/>
                <a:latin typeface="Yu Gothic"/>
                <a:ea typeface="Yu Gothic"/>
              </a:rPr>
              <a:t>品質</a:t>
            </a:r>
            <a:endParaRPr b="0" lang="en-US" sz="1700" strike="noStrike" u="none">
              <a:solidFill>
                <a:srgbClr val="000000"/>
              </a:solidFill>
              <a:effectLst/>
              <a:uFillTx/>
              <a:latin typeface="Arial"/>
            </a:endParaRPr>
          </a:p>
        </p:txBody>
      </p:sp>
      <p:sp>
        <p:nvSpPr>
          <p:cNvPr id="432" name="Text 21"/>
          <p:cNvSpPr/>
          <p:nvPr/>
        </p:nvSpPr>
        <p:spPr>
          <a:xfrm>
            <a:off x="4517280" y="2148840"/>
            <a:ext cx="314532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zh-CN" sz="1150" strike="noStrike" u="none">
                <a:solidFill>
                  <a:srgbClr val="0b1f33"/>
                </a:solidFill>
                <a:effectLst/>
                <a:uFillTx/>
                <a:latin typeface="Yu Gothic"/>
                <a:ea typeface="Yu Gothic"/>
              </a:rPr>
              <a:t>速さと引換えに品質を落としていないか</a:t>
            </a:r>
            <a:endParaRPr b="0" lang="en-US" sz="1150" strike="noStrike" u="none">
              <a:solidFill>
                <a:srgbClr val="000000"/>
              </a:solidFill>
              <a:effectLst/>
              <a:uFillTx/>
              <a:latin typeface="Arial"/>
            </a:endParaRPr>
          </a:p>
        </p:txBody>
      </p:sp>
      <p:sp>
        <p:nvSpPr>
          <p:cNvPr id="433" name="Shape 22"/>
          <p:cNvSpPr/>
          <p:nvPr/>
        </p:nvSpPr>
        <p:spPr>
          <a:xfrm>
            <a:off x="4517280" y="2788920"/>
            <a:ext cx="712800" cy="328680"/>
          </a:xfrm>
          <a:prstGeom prst="roundRect">
            <a:avLst>
              <a:gd name="adj" fmla="val 19444"/>
            </a:avLst>
          </a:prstGeom>
          <a:solidFill>
            <a:srgbClr val="0f9d8a"/>
          </a:solidFill>
          <a:ln w="12700">
            <a:solidFill>
              <a:srgbClr val="0f9d8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34" name="Text 23"/>
          <p:cNvSpPr/>
          <p:nvPr/>
        </p:nvSpPr>
        <p:spPr>
          <a:xfrm>
            <a:off x="4563000" y="2825640"/>
            <a:ext cx="6213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zh-CN" sz="950" strike="noStrike" u="none">
                <a:solidFill>
                  <a:srgbClr val="ffffff"/>
                </a:solidFill>
                <a:effectLst/>
                <a:uFillTx/>
                <a:latin typeface="Yu Gothic"/>
                <a:ea typeface="Yu Gothic"/>
              </a:rPr>
              <a:t>正確性</a:t>
            </a:r>
            <a:endParaRPr b="0" lang="en-US" sz="950" strike="noStrike" u="none">
              <a:solidFill>
                <a:srgbClr val="000000"/>
              </a:solidFill>
              <a:effectLst/>
              <a:uFillTx/>
              <a:latin typeface="Arial"/>
            </a:endParaRPr>
          </a:p>
        </p:txBody>
      </p:sp>
      <p:sp>
        <p:nvSpPr>
          <p:cNvPr id="435" name="Text 24"/>
          <p:cNvSpPr/>
          <p:nvPr/>
        </p:nvSpPr>
        <p:spPr>
          <a:xfrm>
            <a:off x="5340240" y="2807280"/>
            <a:ext cx="231300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030" strike="noStrike" u="none">
                <a:solidFill>
                  <a:srgbClr val="243b53"/>
                </a:solidFill>
                <a:effectLst/>
                <a:uFillTx/>
                <a:latin typeface="Yu Gothic"/>
                <a:ea typeface="Yu Gothic"/>
              </a:rPr>
              <a:t>仕様・コード・試験の誤り</a:t>
            </a:r>
            <a:endParaRPr b="0" lang="en-US" sz="1030" strike="noStrike" u="none">
              <a:solidFill>
                <a:srgbClr val="000000"/>
              </a:solidFill>
              <a:effectLst/>
              <a:uFillTx/>
              <a:latin typeface="Arial"/>
            </a:endParaRPr>
          </a:p>
        </p:txBody>
      </p:sp>
      <p:sp>
        <p:nvSpPr>
          <p:cNvPr id="436" name="Shape 25"/>
          <p:cNvSpPr/>
          <p:nvPr/>
        </p:nvSpPr>
        <p:spPr>
          <a:xfrm>
            <a:off x="4517280" y="3502080"/>
            <a:ext cx="712800" cy="328680"/>
          </a:xfrm>
          <a:prstGeom prst="roundRect">
            <a:avLst>
              <a:gd name="adj" fmla="val 19444"/>
            </a:avLst>
          </a:prstGeom>
          <a:solidFill>
            <a:srgbClr val="0f9d8a"/>
          </a:solidFill>
          <a:ln w="12700">
            <a:solidFill>
              <a:srgbClr val="0f9d8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37" name="Text 26"/>
          <p:cNvSpPr/>
          <p:nvPr/>
        </p:nvSpPr>
        <p:spPr>
          <a:xfrm>
            <a:off x="4563000" y="3538800"/>
            <a:ext cx="6213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zh-CN" sz="950" strike="noStrike" u="none">
                <a:solidFill>
                  <a:srgbClr val="ffffff"/>
                </a:solidFill>
                <a:effectLst/>
                <a:uFillTx/>
                <a:latin typeface="Yu Gothic"/>
                <a:ea typeface="Yu Gothic"/>
              </a:rPr>
              <a:t>完全性</a:t>
            </a:r>
            <a:endParaRPr b="0" lang="en-US" sz="950" strike="noStrike" u="none">
              <a:solidFill>
                <a:srgbClr val="000000"/>
              </a:solidFill>
              <a:effectLst/>
              <a:uFillTx/>
              <a:latin typeface="Arial"/>
            </a:endParaRPr>
          </a:p>
        </p:txBody>
      </p:sp>
      <p:sp>
        <p:nvSpPr>
          <p:cNvPr id="438" name="Text 27"/>
          <p:cNvSpPr/>
          <p:nvPr/>
        </p:nvSpPr>
        <p:spPr>
          <a:xfrm>
            <a:off x="5340240" y="3520440"/>
            <a:ext cx="231300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030" strike="noStrike" u="none">
                <a:solidFill>
                  <a:srgbClr val="243b53"/>
                </a:solidFill>
                <a:effectLst/>
                <a:uFillTx/>
                <a:latin typeface="Yu Gothic"/>
                <a:ea typeface="Yu Gothic"/>
              </a:rPr>
              <a:t>影響漏れ・テスト漏れ</a:t>
            </a:r>
            <a:endParaRPr b="0" lang="en-US" sz="1030" strike="noStrike" u="none">
              <a:solidFill>
                <a:srgbClr val="000000"/>
              </a:solidFill>
              <a:effectLst/>
              <a:uFillTx/>
              <a:latin typeface="Arial"/>
            </a:endParaRPr>
          </a:p>
        </p:txBody>
      </p:sp>
      <p:sp>
        <p:nvSpPr>
          <p:cNvPr id="439" name="Shape 28"/>
          <p:cNvSpPr/>
          <p:nvPr/>
        </p:nvSpPr>
        <p:spPr>
          <a:xfrm>
            <a:off x="4517280" y="4215240"/>
            <a:ext cx="712800" cy="328680"/>
          </a:xfrm>
          <a:prstGeom prst="roundRect">
            <a:avLst>
              <a:gd name="adj" fmla="val 19444"/>
            </a:avLst>
          </a:prstGeom>
          <a:solidFill>
            <a:srgbClr val="0f9d8a"/>
          </a:solidFill>
          <a:ln w="12700">
            <a:solidFill>
              <a:srgbClr val="0f9d8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40" name="Text 29"/>
          <p:cNvSpPr/>
          <p:nvPr/>
        </p:nvSpPr>
        <p:spPr>
          <a:xfrm>
            <a:off x="4563000" y="4251960"/>
            <a:ext cx="6213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zh-CN" sz="950" strike="noStrike" u="none">
                <a:solidFill>
                  <a:srgbClr val="ffffff"/>
                </a:solidFill>
                <a:effectLst/>
                <a:uFillTx/>
                <a:latin typeface="Yu Gothic"/>
                <a:ea typeface="Yu Gothic"/>
              </a:rPr>
              <a:t>整合性</a:t>
            </a:r>
            <a:endParaRPr b="0" lang="en-US" sz="950" strike="noStrike" u="none">
              <a:solidFill>
                <a:srgbClr val="000000"/>
              </a:solidFill>
              <a:effectLst/>
              <a:uFillTx/>
              <a:latin typeface="Arial"/>
            </a:endParaRPr>
          </a:p>
        </p:txBody>
      </p:sp>
      <p:sp>
        <p:nvSpPr>
          <p:cNvPr id="441" name="Text 30"/>
          <p:cNvSpPr/>
          <p:nvPr/>
        </p:nvSpPr>
        <p:spPr>
          <a:xfrm>
            <a:off x="5340240" y="4233600"/>
            <a:ext cx="231300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030" strike="noStrike" u="none">
                <a:solidFill>
                  <a:srgbClr val="243b53"/>
                </a:solidFill>
                <a:effectLst/>
                <a:uFillTx/>
                <a:latin typeface="Yu Gothic"/>
                <a:ea typeface="Yu Gothic"/>
              </a:rPr>
              <a:t>設計⇔実装⇔試験の不一致</a:t>
            </a:r>
            <a:endParaRPr b="0" lang="en-US" sz="1030" strike="noStrike" u="none">
              <a:solidFill>
                <a:srgbClr val="000000"/>
              </a:solidFill>
              <a:effectLst/>
              <a:uFillTx/>
              <a:latin typeface="Arial"/>
            </a:endParaRPr>
          </a:p>
        </p:txBody>
      </p:sp>
      <p:sp>
        <p:nvSpPr>
          <p:cNvPr id="442" name="Shape 31"/>
          <p:cNvSpPr/>
          <p:nvPr/>
        </p:nvSpPr>
        <p:spPr>
          <a:xfrm>
            <a:off x="4517280" y="4928760"/>
            <a:ext cx="712800" cy="328680"/>
          </a:xfrm>
          <a:prstGeom prst="roundRect">
            <a:avLst>
              <a:gd name="adj" fmla="val 19444"/>
            </a:avLst>
          </a:prstGeom>
          <a:solidFill>
            <a:srgbClr val="0f9d8a"/>
          </a:solidFill>
          <a:ln w="12700">
            <a:solidFill>
              <a:srgbClr val="0f9d8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43" name="Text 32"/>
          <p:cNvSpPr/>
          <p:nvPr/>
        </p:nvSpPr>
        <p:spPr>
          <a:xfrm>
            <a:off x="4563000" y="4965120"/>
            <a:ext cx="6213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zh-CN" sz="950" strike="noStrike" u="none">
                <a:solidFill>
                  <a:srgbClr val="ffffff"/>
                </a:solidFill>
                <a:effectLst/>
                <a:uFillTx/>
                <a:latin typeface="Yu Gothic"/>
                <a:ea typeface="Yu Gothic"/>
              </a:rPr>
              <a:t>追跡性</a:t>
            </a:r>
            <a:endParaRPr b="0" lang="en-US" sz="950" strike="noStrike" u="none">
              <a:solidFill>
                <a:srgbClr val="000000"/>
              </a:solidFill>
              <a:effectLst/>
              <a:uFillTx/>
              <a:latin typeface="Arial"/>
            </a:endParaRPr>
          </a:p>
        </p:txBody>
      </p:sp>
      <p:sp>
        <p:nvSpPr>
          <p:cNvPr id="444" name="Text 33"/>
          <p:cNvSpPr/>
          <p:nvPr/>
        </p:nvSpPr>
        <p:spPr>
          <a:xfrm>
            <a:off x="5340240" y="4946760"/>
            <a:ext cx="231300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030" strike="noStrike" u="none">
                <a:solidFill>
                  <a:srgbClr val="243b53"/>
                </a:solidFill>
                <a:effectLst/>
                <a:uFillTx/>
                <a:latin typeface="Yu Gothic"/>
                <a:ea typeface="Yu Gothic"/>
              </a:rPr>
              <a:t>判断根拠と変更理由が残る</a:t>
            </a:r>
            <a:endParaRPr b="0" lang="en-US" sz="1030" strike="noStrike" u="none">
              <a:solidFill>
                <a:srgbClr val="000000"/>
              </a:solidFill>
              <a:effectLst/>
              <a:uFillTx/>
              <a:latin typeface="Arial"/>
            </a:endParaRPr>
          </a:p>
        </p:txBody>
      </p:sp>
      <p:sp>
        <p:nvSpPr>
          <p:cNvPr id="445" name="Shape 34"/>
          <p:cNvSpPr/>
          <p:nvPr/>
        </p:nvSpPr>
        <p:spPr>
          <a:xfrm>
            <a:off x="8019360" y="1325880"/>
            <a:ext cx="3547440" cy="4498560"/>
          </a:xfrm>
          <a:prstGeom prst="roundRect">
            <a:avLst>
              <a:gd name="adj" fmla="val 1546"/>
            </a:avLst>
          </a:prstGeom>
          <a:solidFill>
            <a:srgbClr val="ffffff"/>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46" name="Shape 35"/>
          <p:cNvSpPr/>
          <p:nvPr/>
        </p:nvSpPr>
        <p:spPr>
          <a:xfrm>
            <a:off x="8019360" y="1325880"/>
            <a:ext cx="3547440" cy="639720"/>
          </a:xfrm>
          <a:prstGeom prst="roundRect">
            <a:avLst>
              <a:gd name="adj" fmla="val 8571"/>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47" name="Text 36"/>
          <p:cNvSpPr/>
          <p:nvPr/>
        </p:nvSpPr>
        <p:spPr>
          <a:xfrm>
            <a:off x="8183880" y="1481400"/>
            <a:ext cx="109692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ffffff"/>
                </a:solidFill>
                <a:effectLst/>
                <a:uFillTx/>
                <a:latin typeface="Yu Gothic"/>
                <a:ea typeface="Yu Gothic"/>
              </a:rPr>
              <a:t>C. </a:t>
            </a:r>
            <a:r>
              <a:rPr b="1" lang="zh-CN" sz="1700" strike="noStrike" u="none">
                <a:solidFill>
                  <a:srgbClr val="ffffff"/>
                </a:solidFill>
                <a:effectLst/>
                <a:uFillTx/>
                <a:latin typeface="Yu Gothic"/>
                <a:ea typeface="Yu Gothic"/>
              </a:rPr>
              <a:t>移行準備</a:t>
            </a:r>
            <a:endParaRPr b="0" lang="en-US" sz="1700" strike="noStrike" u="none">
              <a:solidFill>
                <a:srgbClr val="000000"/>
              </a:solidFill>
              <a:effectLst/>
              <a:uFillTx/>
              <a:latin typeface="Arial"/>
            </a:endParaRPr>
          </a:p>
        </p:txBody>
      </p:sp>
      <p:sp>
        <p:nvSpPr>
          <p:cNvPr id="448" name="Text 37"/>
          <p:cNvSpPr/>
          <p:nvPr/>
        </p:nvSpPr>
        <p:spPr>
          <a:xfrm>
            <a:off x="8220600" y="2148840"/>
            <a:ext cx="314532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zh-CN" sz="1150" strike="noStrike" u="none">
                <a:solidFill>
                  <a:srgbClr val="0b1f33"/>
                </a:solidFill>
                <a:effectLst/>
                <a:uFillTx/>
                <a:latin typeface="Yu Gothic"/>
                <a:ea typeface="Yu Gothic"/>
              </a:rPr>
              <a:t>本番移行しても安全に回せるか</a:t>
            </a:r>
            <a:endParaRPr b="0" lang="en-US" sz="1150" strike="noStrike" u="none">
              <a:solidFill>
                <a:srgbClr val="000000"/>
              </a:solidFill>
              <a:effectLst/>
              <a:uFillTx/>
              <a:latin typeface="Arial"/>
            </a:endParaRPr>
          </a:p>
        </p:txBody>
      </p:sp>
      <p:sp>
        <p:nvSpPr>
          <p:cNvPr id="449" name="Shape 38"/>
          <p:cNvSpPr/>
          <p:nvPr/>
        </p:nvSpPr>
        <p:spPr>
          <a:xfrm>
            <a:off x="8220600" y="2788920"/>
            <a:ext cx="712800" cy="328680"/>
          </a:xfrm>
          <a:prstGeom prst="roundRect">
            <a:avLst>
              <a:gd name="adj" fmla="val 19444"/>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50" name="Text 39"/>
          <p:cNvSpPr/>
          <p:nvPr/>
        </p:nvSpPr>
        <p:spPr>
          <a:xfrm>
            <a:off x="8266320" y="2825640"/>
            <a:ext cx="6213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zh-CN" sz="950" strike="noStrike" u="none">
                <a:solidFill>
                  <a:srgbClr val="ffffff"/>
                </a:solidFill>
                <a:effectLst/>
                <a:uFillTx/>
                <a:latin typeface="Yu Gothic"/>
                <a:ea typeface="Yu Gothic"/>
              </a:rPr>
              <a:t>再現性</a:t>
            </a:r>
            <a:endParaRPr b="0" lang="en-US" sz="950" strike="noStrike" u="none">
              <a:solidFill>
                <a:srgbClr val="000000"/>
              </a:solidFill>
              <a:effectLst/>
              <a:uFillTx/>
              <a:latin typeface="Arial"/>
            </a:endParaRPr>
          </a:p>
        </p:txBody>
      </p:sp>
      <p:sp>
        <p:nvSpPr>
          <p:cNvPr id="451" name="Text 40"/>
          <p:cNvSpPr/>
          <p:nvPr/>
        </p:nvSpPr>
        <p:spPr>
          <a:xfrm>
            <a:off x="9043560" y="2807280"/>
            <a:ext cx="231300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030" strike="noStrike" u="none">
                <a:solidFill>
                  <a:srgbClr val="243b53"/>
                </a:solidFill>
                <a:effectLst/>
                <a:uFillTx/>
                <a:latin typeface="Yu Gothic"/>
                <a:ea typeface="Yu Gothic"/>
              </a:rPr>
              <a:t>担当者が変わっても同じ結果</a:t>
            </a:r>
            <a:endParaRPr b="0" lang="en-US" sz="1030" strike="noStrike" u="none">
              <a:solidFill>
                <a:srgbClr val="000000"/>
              </a:solidFill>
              <a:effectLst/>
              <a:uFillTx/>
              <a:latin typeface="Arial"/>
            </a:endParaRPr>
          </a:p>
        </p:txBody>
      </p:sp>
      <p:sp>
        <p:nvSpPr>
          <p:cNvPr id="452" name="Shape 41"/>
          <p:cNvSpPr/>
          <p:nvPr/>
        </p:nvSpPr>
        <p:spPr>
          <a:xfrm>
            <a:off x="8220600" y="3502080"/>
            <a:ext cx="712800" cy="328680"/>
          </a:xfrm>
          <a:prstGeom prst="roundRect">
            <a:avLst>
              <a:gd name="adj" fmla="val 19444"/>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53" name="Text 42"/>
          <p:cNvSpPr/>
          <p:nvPr/>
        </p:nvSpPr>
        <p:spPr>
          <a:xfrm>
            <a:off x="8266320" y="3538800"/>
            <a:ext cx="6213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zh-CN" sz="950" strike="noStrike" u="none">
                <a:solidFill>
                  <a:srgbClr val="ffffff"/>
                </a:solidFill>
                <a:effectLst/>
                <a:uFillTx/>
                <a:latin typeface="Yu Gothic"/>
                <a:ea typeface="Yu Gothic"/>
              </a:rPr>
              <a:t>例外耐性</a:t>
            </a:r>
            <a:endParaRPr b="0" lang="en-US" sz="950" strike="noStrike" u="none">
              <a:solidFill>
                <a:srgbClr val="000000"/>
              </a:solidFill>
              <a:effectLst/>
              <a:uFillTx/>
              <a:latin typeface="Arial"/>
            </a:endParaRPr>
          </a:p>
        </p:txBody>
      </p:sp>
      <p:sp>
        <p:nvSpPr>
          <p:cNvPr id="454" name="Text 43"/>
          <p:cNvSpPr/>
          <p:nvPr/>
        </p:nvSpPr>
        <p:spPr>
          <a:xfrm>
            <a:off x="9043560" y="3520440"/>
            <a:ext cx="231300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030" strike="noStrike" u="none">
                <a:solidFill>
                  <a:srgbClr val="243b53"/>
                </a:solidFill>
                <a:effectLst/>
                <a:uFillTx/>
                <a:latin typeface="Yu Gothic"/>
                <a:ea typeface="Yu Gothic"/>
              </a:rPr>
              <a:t>複雑案件・不足情報への対処</a:t>
            </a:r>
            <a:endParaRPr b="0" lang="en-US" sz="1030" strike="noStrike" u="none">
              <a:solidFill>
                <a:srgbClr val="000000"/>
              </a:solidFill>
              <a:effectLst/>
              <a:uFillTx/>
              <a:latin typeface="Arial"/>
            </a:endParaRPr>
          </a:p>
        </p:txBody>
      </p:sp>
      <p:sp>
        <p:nvSpPr>
          <p:cNvPr id="455" name="Shape 44"/>
          <p:cNvSpPr/>
          <p:nvPr/>
        </p:nvSpPr>
        <p:spPr>
          <a:xfrm>
            <a:off x="8220600" y="4215240"/>
            <a:ext cx="712800" cy="328680"/>
          </a:xfrm>
          <a:prstGeom prst="roundRect">
            <a:avLst>
              <a:gd name="adj" fmla="val 19444"/>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56" name="Text 45"/>
          <p:cNvSpPr/>
          <p:nvPr/>
        </p:nvSpPr>
        <p:spPr>
          <a:xfrm>
            <a:off x="8266320" y="4251960"/>
            <a:ext cx="6213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zh-CN" sz="950" strike="noStrike" u="none">
                <a:solidFill>
                  <a:srgbClr val="ffffff"/>
                </a:solidFill>
                <a:effectLst/>
                <a:uFillTx/>
                <a:latin typeface="Yu Gothic"/>
                <a:ea typeface="Yu Gothic"/>
              </a:rPr>
              <a:t>復帰性</a:t>
            </a:r>
            <a:endParaRPr b="0" lang="en-US" sz="950" strike="noStrike" u="none">
              <a:solidFill>
                <a:srgbClr val="000000"/>
              </a:solidFill>
              <a:effectLst/>
              <a:uFillTx/>
              <a:latin typeface="Arial"/>
            </a:endParaRPr>
          </a:p>
        </p:txBody>
      </p:sp>
      <p:sp>
        <p:nvSpPr>
          <p:cNvPr id="457" name="Text 46"/>
          <p:cNvSpPr/>
          <p:nvPr/>
        </p:nvSpPr>
        <p:spPr>
          <a:xfrm>
            <a:off x="9043560" y="4233600"/>
            <a:ext cx="231300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030" strike="noStrike" u="none">
                <a:solidFill>
                  <a:srgbClr val="243b53"/>
                </a:solidFill>
                <a:effectLst/>
                <a:uFillTx/>
                <a:latin typeface="Yu Gothic"/>
                <a:ea typeface="Yu Gothic"/>
              </a:rPr>
              <a:t>異常時に人手へ安全に戻せる</a:t>
            </a:r>
            <a:endParaRPr b="0" lang="en-US" sz="1030" strike="noStrike" u="none">
              <a:solidFill>
                <a:srgbClr val="000000"/>
              </a:solidFill>
              <a:effectLst/>
              <a:uFillTx/>
              <a:latin typeface="Arial"/>
            </a:endParaRPr>
          </a:p>
        </p:txBody>
      </p:sp>
      <p:sp>
        <p:nvSpPr>
          <p:cNvPr id="458" name="Shape 47"/>
          <p:cNvSpPr/>
          <p:nvPr/>
        </p:nvSpPr>
        <p:spPr>
          <a:xfrm>
            <a:off x="8220600" y="4928760"/>
            <a:ext cx="712800" cy="328680"/>
          </a:xfrm>
          <a:prstGeom prst="roundRect">
            <a:avLst>
              <a:gd name="adj" fmla="val 19444"/>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59" name="Text 48"/>
          <p:cNvSpPr/>
          <p:nvPr/>
        </p:nvSpPr>
        <p:spPr>
          <a:xfrm>
            <a:off x="8266320" y="4965120"/>
            <a:ext cx="6213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zh-CN" sz="950" strike="noStrike" u="none">
                <a:solidFill>
                  <a:srgbClr val="ffffff"/>
                </a:solidFill>
                <a:effectLst/>
                <a:uFillTx/>
                <a:latin typeface="Yu Gothic"/>
                <a:ea typeface="Yu Gothic"/>
              </a:rPr>
              <a:t>保守性</a:t>
            </a:r>
            <a:endParaRPr b="0" lang="en-US" sz="950" strike="noStrike" u="none">
              <a:solidFill>
                <a:srgbClr val="000000"/>
              </a:solidFill>
              <a:effectLst/>
              <a:uFillTx/>
              <a:latin typeface="Arial"/>
            </a:endParaRPr>
          </a:p>
        </p:txBody>
      </p:sp>
      <p:sp>
        <p:nvSpPr>
          <p:cNvPr id="460" name="Text 49"/>
          <p:cNvSpPr/>
          <p:nvPr/>
        </p:nvSpPr>
        <p:spPr>
          <a:xfrm>
            <a:off x="9043560" y="4946760"/>
            <a:ext cx="231300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030" strike="noStrike" u="none">
                <a:solidFill>
                  <a:srgbClr val="243b53"/>
                </a:solidFill>
                <a:effectLst/>
                <a:uFillTx/>
                <a:latin typeface="Yu Gothic"/>
                <a:ea typeface="Yu Gothic"/>
              </a:rPr>
              <a:t>ハーネス改修を安全に反映できる</a:t>
            </a:r>
            <a:endParaRPr b="0" lang="en-US" sz="1030" strike="noStrike" u="none">
              <a:solidFill>
                <a:srgbClr val="000000"/>
              </a:solidFill>
              <a:effectLst/>
              <a:uFillTx/>
              <a:latin typeface="Arial"/>
            </a:endParaRPr>
          </a:p>
        </p:txBody>
      </p:sp>
      <p:sp>
        <p:nvSpPr>
          <p:cNvPr id="461" name="Shape 50"/>
          <p:cNvSpPr/>
          <p:nvPr/>
        </p:nvSpPr>
        <p:spPr>
          <a:xfrm>
            <a:off x="640080" y="5961960"/>
            <a:ext cx="10899360" cy="347040"/>
          </a:xfrm>
          <a:prstGeom prst="roundRect">
            <a:avLst>
              <a:gd name="adj" fmla="val 10526"/>
            </a:avLst>
          </a:prstGeom>
          <a:solidFill>
            <a:srgbClr val="0b1f33"/>
          </a:solidFill>
          <a:ln w="12700">
            <a:solidFill>
              <a:srgbClr val="0b1f33"/>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62" name="Text 51"/>
          <p:cNvSpPr/>
          <p:nvPr/>
        </p:nvSpPr>
        <p:spPr>
          <a:xfrm>
            <a:off x="868680" y="6035040"/>
            <a:ext cx="1046952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zh-CN" sz="1150" strike="noStrike" u="none">
                <a:solidFill>
                  <a:srgbClr val="ffffff"/>
                </a:solidFill>
                <a:effectLst/>
                <a:uFillTx/>
                <a:latin typeface="Yu Gothic"/>
                <a:ea typeface="Yu Gothic"/>
              </a:rPr>
              <a:t>検証拡大条件：</a:t>
            </a:r>
            <a:r>
              <a:rPr b="1" lang="en-US" sz="1150" strike="noStrike" u="none">
                <a:solidFill>
                  <a:srgbClr val="ffffff"/>
                </a:solidFill>
                <a:effectLst/>
                <a:uFillTx/>
                <a:latin typeface="Yu Gothic"/>
                <a:ea typeface="Yu Gothic"/>
              </a:rPr>
              <a:t>A</a:t>
            </a:r>
            <a:r>
              <a:rPr b="1" lang="zh-CN" sz="1150" strike="noStrike" u="none">
                <a:solidFill>
                  <a:srgbClr val="ffffff"/>
                </a:solidFill>
                <a:effectLst/>
                <a:uFillTx/>
                <a:latin typeface="Yu Gothic"/>
                <a:ea typeface="Yu Gothic"/>
              </a:rPr>
              <a:t>・</a:t>
            </a:r>
            <a:r>
              <a:rPr b="1" lang="en-US" sz="1150" strike="noStrike" u="none">
                <a:solidFill>
                  <a:srgbClr val="ffffff"/>
                </a:solidFill>
                <a:effectLst/>
                <a:uFillTx/>
                <a:latin typeface="Yu Gothic"/>
                <a:ea typeface="Yu Gothic"/>
              </a:rPr>
              <a:t>B</a:t>
            </a:r>
            <a:r>
              <a:rPr b="1" lang="zh-CN" sz="1150" strike="noStrike" u="none">
                <a:solidFill>
                  <a:srgbClr val="ffffff"/>
                </a:solidFill>
                <a:effectLst/>
                <a:uFillTx/>
                <a:latin typeface="Yu Gothic"/>
                <a:ea typeface="Yu Gothic"/>
              </a:rPr>
              <a:t>・</a:t>
            </a:r>
            <a:r>
              <a:rPr b="1" lang="en-US" sz="1150" strike="noStrike" u="none">
                <a:solidFill>
                  <a:srgbClr val="ffffff"/>
                </a:solidFill>
                <a:effectLst/>
                <a:uFillTx/>
                <a:latin typeface="Yu Gothic"/>
                <a:ea typeface="Yu Gothic"/>
              </a:rPr>
              <a:t>C</a:t>
            </a:r>
            <a:r>
              <a:rPr b="1" lang="zh-CN" sz="1150" strike="noStrike" u="none">
                <a:solidFill>
                  <a:srgbClr val="ffffff"/>
                </a:solidFill>
                <a:effectLst/>
                <a:uFillTx/>
                <a:latin typeface="Yu Gothic"/>
                <a:ea typeface="Yu Gothic"/>
              </a:rPr>
              <a:t>を満たすユースケースだけ並行検証を拡大。本番適用は</a:t>
            </a:r>
            <a:r>
              <a:rPr b="1" lang="en-US" sz="1150" strike="noStrike" u="none">
                <a:solidFill>
                  <a:srgbClr val="ffffff"/>
                </a:solidFill>
                <a:effectLst/>
                <a:uFillTx/>
                <a:latin typeface="Yu Gothic"/>
                <a:ea typeface="Yu Gothic"/>
              </a:rPr>
              <a:t>3</a:t>
            </a:r>
            <a:r>
              <a:rPr b="1" lang="zh-CN" sz="1150" strike="noStrike" u="none">
                <a:solidFill>
                  <a:srgbClr val="ffffff"/>
                </a:solidFill>
                <a:effectLst/>
                <a:uFillTx/>
                <a:latin typeface="Yu Gothic"/>
                <a:ea typeface="Yu Gothic"/>
              </a:rPr>
              <a:t>月</a:t>
            </a:r>
            <a:r>
              <a:rPr b="1" lang="en-US" sz="1150" strike="noStrike" u="none">
                <a:solidFill>
                  <a:srgbClr val="ffffff"/>
                </a:solidFill>
                <a:effectLst/>
                <a:uFillTx/>
                <a:latin typeface="Yu Gothic"/>
                <a:ea typeface="Yu Gothic"/>
              </a:rPr>
              <a:t>Gate 2</a:t>
            </a:r>
            <a:r>
              <a:rPr b="1" lang="zh-CN" sz="1150" strike="noStrike" u="none">
                <a:solidFill>
                  <a:srgbClr val="ffffff"/>
                </a:solidFill>
                <a:effectLst/>
                <a:uFillTx/>
                <a:latin typeface="Yu Gothic"/>
                <a:ea typeface="Yu Gothic"/>
              </a:rPr>
              <a:t>まで行わない</a:t>
            </a:r>
            <a:endParaRPr b="0" lang="en-US" sz="1150" strike="noStrike" u="none">
              <a:solidFill>
                <a:srgbClr val="000000"/>
              </a:solidFill>
              <a:effectLst/>
              <a:uFillTx/>
              <a:latin typeface="Arial"/>
            </a:endParaRPr>
          </a:p>
        </p:txBody>
      </p:sp>
      <p:sp>
        <p:nvSpPr>
          <p:cNvPr id="463" name="PlaceHolder 1"/>
          <p:cNvSpPr>
            <a:spLocks noGrp="1"/>
          </p:cNvSpPr>
          <p:nvPr>
            <p:ph type="sldNum" idx="12"/>
          </p:nvPr>
        </p:nvSpPr>
        <p:spPr>
          <a:xfrm>
            <a:off x="11777400" y="65563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850" strike="noStrike" u="none">
                <a:solidFill>
                  <a:srgbClr val="75808f"/>
                </a:solidFill>
                <a:effectLst/>
                <a:uFillTx/>
                <a:latin typeface="Yu Gothic"/>
                <a:ea typeface="Yu Gothic"/>
              </a:defRPr>
            </a:lvl1pPr>
          </a:lstStyle>
          <a:p>
            <a:pPr indent="0" defTabSz="914400">
              <a:lnSpc>
                <a:spcPct val="100000"/>
              </a:lnSpc>
              <a:buNone/>
            </a:pPr>
            <a:fld id="{DA3B2165-328F-407D-B955-FB0438E62099}" type="slidenum">
              <a:rPr b="0" lang="en-US" sz="850" strike="noStrike" u="none">
                <a:solidFill>
                  <a:srgbClr val="75808f"/>
                </a:solidFill>
                <a:effectLst/>
                <a:uFillTx/>
                <a:latin typeface="Yu Gothic"/>
                <a:ea typeface="Yu Gothic"/>
              </a:rPr>
              <a:t>&lt;number&gt;</a:t>
            </a:fld>
            <a:endParaRPr b="0" lang="en-US" sz="85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Text 0"/>
          <p:cNvSpPr/>
          <p:nvPr/>
        </p:nvSpPr>
        <p:spPr>
          <a:xfrm>
            <a:off x="530280" y="301680"/>
            <a:ext cx="11109600" cy="420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zh-CN" sz="2550" strike="noStrike" u="none">
                <a:solidFill>
                  <a:srgbClr val="0b1f33"/>
                </a:solidFill>
                <a:effectLst/>
                <a:uFillTx/>
                <a:latin typeface="Yu Gothic"/>
                <a:ea typeface="Yu Gothic"/>
              </a:rPr>
              <a:t>推進体制と意思決定：毎週改善、毎月判断、</a:t>
            </a:r>
            <a:r>
              <a:rPr b="1" lang="en-US" sz="2550" strike="noStrike" u="none">
                <a:solidFill>
                  <a:srgbClr val="0b1f33"/>
                </a:solidFill>
                <a:effectLst/>
                <a:uFillTx/>
                <a:latin typeface="Yu Gothic"/>
                <a:ea typeface="Yu Gothic"/>
              </a:rPr>
              <a:t>12</a:t>
            </a:r>
            <a:r>
              <a:rPr b="1" lang="zh-CN" sz="2550" strike="noStrike" u="none">
                <a:solidFill>
                  <a:srgbClr val="0b1f33"/>
                </a:solidFill>
                <a:effectLst/>
                <a:uFillTx/>
                <a:latin typeface="Yu Gothic"/>
                <a:ea typeface="Yu Gothic"/>
              </a:rPr>
              <a:t>月・</a:t>
            </a:r>
            <a:r>
              <a:rPr b="1" lang="en-US" sz="2550" strike="noStrike" u="none">
                <a:solidFill>
                  <a:srgbClr val="0b1f33"/>
                </a:solidFill>
                <a:effectLst/>
                <a:uFillTx/>
                <a:latin typeface="Yu Gothic"/>
                <a:ea typeface="Yu Gothic"/>
              </a:rPr>
              <a:t>3</a:t>
            </a:r>
            <a:r>
              <a:rPr b="1" lang="zh-CN" sz="2550" strike="noStrike" u="none">
                <a:solidFill>
                  <a:srgbClr val="0b1f33"/>
                </a:solidFill>
                <a:effectLst/>
                <a:uFillTx/>
                <a:latin typeface="Yu Gothic"/>
                <a:ea typeface="Yu Gothic"/>
              </a:rPr>
              <a:t>月でゲート判定</a:t>
            </a:r>
            <a:endParaRPr b="0" lang="en-US" sz="2550" strike="noStrike" u="none">
              <a:solidFill>
                <a:srgbClr val="000000"/>
              </a:solidFill>
              <a:effectLst/>
              <a:uFillTx/>
              <a:latin typeface="Arial"/>
            </a:endParaRPr>
          </a:p>
        </p:txBody>
      </p:sp>
      <p:sp>
        <p:nvSpPr>
          <p:cNvPr id="465" name="Text 1"/>
          <p:cNvSpPr/>
          <p:nvPr/>
        </p:nvSpPr>
        <p:spPr>
          <a:xfrm>
            <a:off x="548640" y="749880"/>
            <a:ext cx="1097244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1150" strike="noStrike" u="none">
                <a:solidFill>
                  <a:srgbClr val="52606d"/>
                </a:solidFill>
                <a:effectLst/>
                <a:uFillTx/>
                <a:latin typeface="Yu Gothic"/>
                <a:ea typeface="Yu Gothic"/>
              </a:rPr>
              <a:t>顧客側の人手開発と</a:t>
            </a:r>
            <a:r>
              <a:rPr b="0" lang="en-US" sz="1150" strike="noStrike" u="none">
                <a:solidFill>
                  <a:srgbClr val="52606d"/>
                </a:solidFill>
                <a:effectLst/>
                <a:uFillTx/>
                <a:latin typeface="Yu Gothic"/>
                <a:ea typeface="Yu Gothic"/>
              </a:rPr>
              <a:t>AI</a:t>
            </a:r>
            <a:r>
              <a:rPr b="0" lang="zh-CN" sz="1150" strike="noStrike" u="none">
                <a:solidFill>
                  <a:srgbClr val="52606d"/>
                </a:solidFill>
                <a:effectLst/>
                <a:uFillTx/>
                <a:latin typeface="Yu Gothic"/>
                <a:ea typeface="Yu Gothic"/>
              </a:rPr>
              <a:t>適用側のシャドー検証を分離し、効果測定と改善を一つの運営リズムで回します</a:t>
            </a:r>
            <a:endParaRPr b="0" lang="en-US" sz="1150" strike="noStrike" u="none">
              <a:solidFill>
                <a:srgbClr val="000000"/>
              </a:solidFill>
              <a:effectLst/>
              <a:uFillTx/>
              <a:latin typeface="Arial"/>
            </a:endParaRPr>
          </a:p>
        </p:txBody>
      </p:sp>
      <p:sp>
        <p:nvSpPr>
          <p:cNvPr id="466" name="Text 2"/>
          <p:cNvSpPr/>
          <p:nvPr/>
        </p:nvSpPr>
        <p:spPr>
          <a:xfrm>
            <a:off x="612720" y="1161360"/>
            <a:ext cx="1371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zh-CN" sz="1700" strike="noStrike" u="none">
                <a:solidFill>
                  <a:srgbClr val="0b1f33"/>
                </a:solidFill>
                <a:effectLst/>
                <a:uFillTx/>
                <a:latin typeface="Yu Gothic"/>
                <a:ea typeface="Yu Gothic"/>
              </a:rPr>
              <a:t>役割分担</a:t>
            </a:r>
            <a:endParaRPr b="0" lang="en-US" sz="1700" strike="noStrike" u="none">
              <a:solidFill>
                <a:srgbClr val="000000"/>
              </a:solidFill>
              <a:effectLst/>
              <a:uFillTx/>
              <a:latin typeface="Arial"/>
            </a:endParaRPr>
          </a:p>
        </p:txBody>
      </p:sp>
      <p:sp>
        <p:nvSpPr>
          <p:cNvPr id="467" name="Shape 3"/>
          <p:cNvSpPr/>
          <p:nvPr/>
        </p:nvSpPr>
        <p:spPr>
          <a:xfrm>
            <a:off x="621720" y="1554480"/>
            <a:ext cx="2331360" cy="1234080"/>
          </a:xfrm>
          <a:prstGeom prst="roundRect">
            <a:avLst>
              <a:gd name="adj" fmla="val 5185"/>
            </a:avLst>
          </a:prstGeom>
          <a:solidFill>
            <a:srgbClr val="ffffff"/>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68" name="Shape 4"/>
          <p:cNvSpPr/>
          <p:nvPr/>
        </p:nvSpPr>
        <p:spPr>
          <a:xfrm>
            <a:off x="621720" y="1554480"/>
            <a:ext cx="63720" cy="1234080"/>
          </a:xfrm>
          <a:prstGeom prst="rect">
            <a:avLst/>
          </a:prstGeom>
          <a:solidFill>
            <a:srgbClr val="0b1f33"/>
          </a:solidFill>
          <a:ln w="12700">
            <a:solidFill>
              <a:srgbClr val="0b1f33"/>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69" name="Text 5"/>
          <p:cNvSpPr/>
          <p:nvPr/>
        </p:nvSpPr>
        <p:spPr>
          <a:xfrm>
            <a:off x="786240" y="1700640"/>
            <a:ext cx="201132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zh-CN" sz="1500" strike="noStrike" u="none">
                <a:solidFill>
                  <a:srgbClr val="0b1f33"/>
                </a:solidFill>
                <a:effectLst/>
                <a:uFillTx/>
                <a:latin typeface="Yu Gothic"/>
                <a:ea typeface="Yu Gothic"/>
              </a:rPr>
              <a:t>顧客責任者</a:t>
            </a:r>
            <a:endParaRPr b="0" lang="en-US" sz="1500" strike="noStrike" u="none">
              <a:solidFill>
                <a:srgbClr val="000000"/>
              </a:solidFill>
              <a:effectLst/>
              <a:uFillTx/>
              <a:latin typeface="Arial"/>
            </a:endParaRPr>
          </a:p>
        </p:txBody>
      </p:sp>
      <p:sp>
        <p:nvSpPr>
          <p:cNvPr id="470" name="Text 6"/>
          <p:cNvSpPr/>
          <p:nvPr/>
        </p:nvSpPr>
        <p:spPr>
          <a:xfrm>
            <a:off x="786240" y="2094120"/>
            <a:ext cx="2011320" cy="54828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zh-CN" sz="1150" strike="noStrike" u="none">
                <a:solidFill>
                  <a:srgbClr val="243b53"/>
                </a:solidFill>
                <a:effectLst/>
                <a:uFillTx/>
                <a:latin typeface="Yu Gothic"/>
                <a:ea typeface="Yu Gothic"/>
              </a:rPr>
              <a:t>対象範囲・</a:t>
            </a:r>
            <a:r>
              <a:rPr b="0" lang="en-US" sz="1150" strike="noStrike" u="none">
                <a:solidFill>
                  <a:srgbClr val="243b53"/>
                </a:solidFill>
                <a:effectLst/>
                <a:uFillTx/>
                <a:latin typeface="Yu Gothic"/>
                <a:ea typeface="Yu Gothic"/>
              </a:rPr>
              <a:t>KPI</a:t>
            </a:r>
            <a:r>
              <a:rPr b="0" lang="zh-CN" sz="1150" strike="noStrike" u="none">
                <a:solidFill>
                  <a:srgbClr val="243b53"/>
                </a:solidFill>
                <a:effectLst/>
                <a:uFillTx/>
                <a:latin typeface="Yu Gothic"/>
                <a:ea typeface="Yu Gothic"/>
              </a:rPr>
              <a:t>・ゲート判定</a:t>
            </a:r>
            <a:endParaRPr b="0" lang="en-US" sz="1150" strike="noStrike" u="none">
              <a:solidFill>
                <a:srgbClr val="000000"/>
              </a:solidFill>
              <a:effectLst/>
              <a:uFillTx/>
              <a:latin typeface="Arial"/>
            </a:endParaRPr>
          </a:p>
          <a:p>
            <a:pPr defTabSz="914400">
              <a:lnSpc>
                <a:spcPct val="100000"/>
              </a:lnSpc>
              <a:tabLst>
                <a:tab algn="l" pos="0"/>
              </a:tabLst>
            </a:pPr>
            <a:r>
              <a:rPr b="0" lang="en-US" sz="1150" strike="noStrike" u="none">
                <a:solidFill>
                  <a:srgbClr val="243b53"/>
                </a:solidFill>
                <a:effectLst/>
                <a:uFillTx/>
                <a:latin typeface="Yu Gothic"/>
                <a:ea typeface="Yu Gothic"/>
              </a:rPr>
              <a:t>4</a:t>
            </a:r>
            <a:r>
              <a:rPr b="0" lang="zh-CN" sz="1150" strike="noStrike" u="none">
                <a:solidFill>
                  <a:srgbClr val="243b53"/>
                </a:solidFill>
                <a:effectLst/>
                <a:uFillTx/>
                <a:latin typeface="Yu Gothic"/>
                <a:ea typeface="Yu Gothic"/>
              </a:rPr>
              <a:t>月体制の最終決定</a:t>
            </a:r>
            <a:endParaRPr b="0" lang="en-US" sz="1150" strike="noStrike" u="none">
              <a:solidFill>
                <a:srgbClr val="000000"/>
              </a:solidFill>
              <a:effectLst/>
              <a:uFillTx/>
              <a:latin typeface="Arial"/>
            </a:endParaRPr>
          </a:p>
        </p:txBody>
      </p:sp>
      <p:sp>
        <p:nvSpPr>
          <p:cNvPr id="471" name="Shape 7"/>
          <p:cNvSpPr/>
          <p:nvPr/>
        </p:nvSpPr>
        <p:spPr>
          <a:xfrm>
            <a:off x="3383280" y="1554480"/>
            <a:ext cx="2331360" cy="1234080"/>
          </a:xfrm>
          <a:prstGeom prst="roundRect">
            <a:avLst>
              <a:gd name="adj" fmla="val 5185"/>
            </a:avLst>
          </a:prstGeom>
          <a:solidFill>
            <a:srgbClr val="ffffff"/>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72" name="Shape 8"/>
          <p:cNvSpPr/>
          <p:nvPr/>
        </p:nvSpPr>
        <p:spPr>
          <a:xfrm>
            <a:off x="3383280" y="1554480"/>
            <a:ext cx="63720" cy="1234080"/>
          </a:xfrm>
          <a:prstGeom prst="rect">
            <a:avLst/>
          </a:prstGeom>
          <a:solidFill>
            <a:srgbClr val="1b6fd1"/>
          </a:solidFill>
          <a:ln w="12700">
            <a:solidFill>
              <a:srgbClr val="1b6fd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73" name="Text 9"/>
          <p:cNvSpPr/>
          <p:nvPr/>
        </p:nvSpPr>
        <p:spPr>
          <a:xfrm>
            <a:off x="3547800" y="1700640"/>
            <a:ext cx="201132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zh-CN" sz="1500" strike="noStrike" u="none">
                <a:solidFill>
                  <a:srgbClr val="0b1f33"/>
                </a:solidFill>
                <a:effectLst/>
                <a:uFillTx/>
                <a:latin typeface="Yu Gothic"/>
                <a:ea typeface="Yu Gothic"/>
              </a:rPr>
              <a:t>開発チーム</a:t>
            </a:r>
            <a:endParaRPr b="0" lang="en-US" sz="1500" strike="noStrike" u="none">
              <a:solidFill>
                <a:srgbClr val="000000"/>
              </a:solidFill>
              <a:effectLst/>
              <a:uFillTx/>
              <a:latin typeface="Arial"/>
            </a:endParaRPr>
          </a:p>
        </p:txBody>
      </p:sp>
      <p:sp>
        <p:nvSpPr>
          <p:cNvPr id="474" name="Text 10"/>
          <p:cNvSpPr/>
          <p:nvPr/>
        </p:nvSpPr>
        <p:spPr>
          <a:xfrm>
            <a:off x="3547800" y="2094120"/>
            <a:ext cx="2011320" cy="54828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zh-CN" sz="1150" strike="noStrike" u="none">
                <a:solidFill>
                  <a:srgbClr val="243b53"/>
                </a:solidFill>
                <a:effectLst/>
                <a:uFillTx/>
                <a:latin typeface="Yu Gothic"/>
                <a:ea typeface="Yu Gothic"/>
              </a:rPr>
              <a:t>実案件の実行・時間記録</a:t>
            </a:r>
            <a:endParaRPr b="0" lang="en-US" sz="1150" strike="noStrike" u="none">
              <a:solidFill>
                <a:srgbClr val="000000"/>
              </a:solidFill>
              <a:effectLst/>
              <a:uFillTx/>
              <a:latin typeface="Arial"/>
            </a:endParaRPr>
          </a:p>
          <a:p>
            <a:pPr defTabSz="914400">
              <a:lnSpc>
                <a:spcPct val="100000"/>
              </a:lnSpc>
              <a:tabLst>
                <a:tab algn="l" pos="0"/>
              </a:tabLst>
            </a:pPr>
            <a:r>
              <a:rPr b="0" lang="zh-CN" sz="1150" strike="noStrike" u="none">
                <a:solidFill>
                  <a:srgbClr val="243b53"/>
                </a:solidFill>
                <a:effectLst/>
                <a:uFillTx/>
                <a:latin typeface="Yu Gothic"/>
                <a:ea typeface="Yu Gothic"/>
              </a:rPr>
              <a:t>本番成果物の確定・業務判断</a:t>
            </a:r>
            <a:endParaRPr b="0" lang="en-US" sz="1150" strike="noStrike" u="none">
              <a:solidFill>
                <a:srgbClr val="000000"/>
              </a:solidFill>
              <a:effectLst/>
              <a:uFillTx/>
              <a:latin typeface="Arial"/>
            </a:endParaRPr>
          </a:p>
        </p:txBody>
      </p:sp>
      <p:sp>
        <p:nvSpPr>
          <p:cNvPr id="475" name="Shape 11"/>
          <p:cNvSpPr/>
          <p:nvPr/>
        </p:nvSpPr>
        <p:spPr>
          <a:xfrm>
            <a:off x="6144840" y="1554480"/>
            <a:ext cx="2331360" cy="1234080"/>
          </a:xfrm>
          <a:prstGeom prst="roundRect">
            <a:avLst>
              <a:gd name="adj" fmla="val 5185"/>
            </a:avLst>
          </a:prstGeom>
          <a:solidFill>
            <a:srgbClr val="ffffff"/>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76" name="Shape 12"/>
          <p:cNvSpPr/>
          <p:nvPr/>
        </p:nvSpPr>
        <p:spPr>
          <a:xfrm>
            <a:off x="6144840" y="1554480"/>
            <a:ext cx="63720" cy="1234080"/>
          </a:xfrm>
          <a:prstGeom prst="rect">
            <a:avLst/>
          </a:prstGeom>
          <a:solidFill>
            <a:srgbClr val="0f9d8a"/>
          </a:solidFill>
          <a:ln w="12700">
            <a:solidFill>
              <a:srgbClr val="0f9d8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77" name="Text 13"/>
          <p:cNvSpPr/>
          <p:nvPr/>
        </p:nvSpPr>
        <p:spPr>
          <a:xfrm>
            <a:off x="6309360" y="1700640"/>
            <a:ext cx="201132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0b1f33"/>
                </a:solidFill>
                <a:effectLst/>
                <a:uFillTx/>
                <a:latin typeface="Yu Gothic"/>
                <a:ea typeface="Yu Gothic"/>
              </a:rPr>
              <a:t>AI</a:t>
            </a:r>
            <a:r>
              <a:rPr b="1" lang="zh-CN" sz="1500" strike="noStrike" u="none">
                <a:solidFill>
                  <a:srgbClr val="0b1f33"/>
                </a:solidFill>
                <a:effectLst/>
                <a:uFillTx/>
                <a:latin typeface="Yu Gothic"/>
                <a:ea typeface="Yu Gothic"/>
              </a:rPr>
              <a:t>適用チーム</a:t>
            </a:r>
            <a:endParaRPr b="0" lang="en-US" sz="1500" strike="noStrike" u="none">
              <a:solidFill>
                <a:srgbClr val="000000"/>
              </a:solidFill>
              <a:effectLst/>
              <a:uFillTx/>
              <a:latin typeface="Arial"/>
            </a:endParaRPr>
          </a:p>
        </p:txBody>
      </p:sp>
      <p:sp>
        <p:nvSpPr>
          <p:cNvPr id="478" name="Text 14"/>
          <p:cNvSpPr/>
          <p:nvPr/>
        </p:nvSpPr>
        <p:spPr>
          <a:xfrm>
            <a:off x="6309360" y="2094120"/>
            <a:ext cx="2011320" cy="54828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zh-CN" sz="1150" strike="noStrike" u="none">
                <a:solidFill>
                  <a:srgbClr val="243b53"/>
                </a:solidFill>
                <a:effectLst/>
                <a:uFillTx/>
                <a:latin typeface="Yu Gothic"/>
                <a:ea typeface="Yu Gothic"/>
              </a:rPr>
              <a:t>隔離環境での</a:t>
            </a:r>
            <a:r>
              <a:rPr b="0" lang="en-US" sz="1150" strike="noStrike" u="none">
                <a:solidFill>
                  <a:srgbClr val="243b53"/>
                </a:solidFill>
                <a:effectLst/>
                <a:uFillTx/>
                <a:latin typeface="Yu Gothic"/>
                <a:ea typeface="Yu Gothic"/>
              </a:rPr>
              <a:t>AI</a:t>
            </a:r>
            <a:r>
              <a:rPr b="0" lang="zh-CN" sz="1150" strike="noStrike" u="none">
                <a:solidFill>
                  <a:srgbClr val="243b53"/>
                </a:solidFill>
                <a:effectLst/>
                <a:uFillTx/>
                <a:latin typeface="Yu Gothic"/>
                <a:ea typeface="Yu Gothic"/>
              </a:rPr>
              <a:t>シャドー実行</a:t>
            </a:r>
            <a:endParaRPr b="0" lang="en-US" sz="1150" strike="noStrike" u="none">
              <a:solidFill>
                <a:srgbClr val="000000"/>
              </a:solidFill>
              <a:effectLst/>
              <a:uFillTx/>
              <a:latin typeface="Arial"/>
            </a:endParaRPr>
          </a:p>
          <a:p>
            <a:pPr defTabSz="914400">
              <a:lnSpc>
                <a:spcPct val="100000"/>
              </a:lnSpc>
              <a:tabLst>
                <a:tab algn="l" pos="0"/>
              </a:tabLst>
            </a:pPr>
            <a:r>
              <a:rPr b="0" lang="zh-CN" sz="1150" strike="noStrike" u="none">
                <a:solidFill>
                  <a:srgbClr val="243b53"/>
                </a:solidFill>
                <a:effectLst/>
                <a:uFillTx/>
                <a:latin typeface="Yu Gothic"/>
                <a:ea typeface="Yu Gothic"/>
              </a:rPr>
              <a:t>ハーネス改善・回帰試験・計測</a:t>
            </a:r>
            <a:endParaRPr b="0" lang="en-US" sz="1150" strike="noStrike" u="none">
              <a:solidFill>
                <a:srgbClr val="000000"/>
              </a:solidFill>
              <a:effectLst/>
              <a:uFillTx/>
              <a:latin typeface="Arial"/>
            </a:endParaRPr>
          </a:p>
        </p:txBody>
      </p:sp>
      <p:sp>
        <p:nvSpPr>
          <p:cNvPr id="479" name="Shape 15"/>
          <p:cNvSpPr/>
          <p:nvPr/>
        </p:nvSpPr>
        <p:spPr>
          <a:xfrm>
            <a:off x="8906400" y="1554480"/>
            <a:ext cx="2331360" cy="1234080"/>
          </a:xfrm>
          <a:prstGeom prst="roundRect">
            <a:avLst>
              <a:gd name="adj" fmla="val 5185"/>
            </a:avLst>
          </a:prstGeom>
          <a:solidFill>
            <a:srgbClr val="ffffff"/>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80" name="Shape 16"/>
          <p:cNvSpPr/>
          <p:nvPr/>
        </p:nvSpPr>
        <p:spPr>
          <a:xfrm>
            <a:off x="8906400" y="1554480"/>
            <a:ext cx="63720" cy="123408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81" name="Text 17"/>
          <p:cNvSpPr/>
          <p:nvPr/>
        </p:nvSpPr>
        <p:spPr>
          <a:xfrm>
            <a:off x="9070920" y="1700640"/>
            <a:ext cx="201132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zh-CN" sz="1500" strike="noStrike" u="none">
                <a:solidFill>
                  <a:srgbClr val="0b1f33"/>
                </a:solidFill>
                <a:effectLst/>
                <a:uFillTx/>
                <a:latin typeface="Yu Gothic"/>
                <a:ea typeface="Yu Gothic"/>
              </a:rPr>
              <a:t>品質レビュー</a:t>
            </a:r>
            <a:endParaRPr b="0" lang="en-US" sz="1500" strike="noStrike" u="none">
              <a:solidFill>
                <a:srgbClr val="000000"/>
              </a:solidFill>
              <a:effectLst/>
              <a:uFillTx/>
              <a:latin typeface="Arial"/>
            </a:endParaRPr>
          </a:p>
        </p:txBody>
      </p:sp>
      <p:sp>
        <p:nvSpPr>
          <p:cNvPr id="482" name="Text 18"/>
          <p:cNvSpPr/>
          <p:nvPr/>
        </p:nvSpPr>
        <p:spPr>
          <a:xfrm>
            <a:off x="9070920" y="2094120"/>
            <a:ext cx="2011320" cy="54828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zh-CN" sz="1150" strike="noStrike" u="none">
                <a:solidFill>
                  <a:srgbClr val="243b53"/>
                </a:solidFill>
                <a:effectLst/>
                <a:uFillTx/>
                <a:latin typeface="Yu Gothic"/>
                <a:ea typeface="Yu Gothic"/>
              </a:rPr>
              <a:t>品質</a:t>
            </a:r>
            <a:r>
              <a:rPr b="0" lang="en-US" sz="1150" strike="noStrike" u="none">
                <a:solidFill>
                  <a:srgbClr val="243b53"/>
                </a:solidFill>
                <a:effectLst/>
                <a:uFillTx/>
                <a:latin typeface="Yu Gothic"/>
                <a:ea typeface="Yu Gothic"/>
              </a:rPr>
              <a:t>KPI</a:t>
            </a:r>
            <a:r>
              <a:rPr b="0" lang="zh-CN" sz="1150" strike="noStrike" u="none">
                <a:solidFill>
                  <a:srgbClr val="243b53"/>
                </a:solidFill>
                <a:effectLst/>
                <a:uFillTx/>
                <a:latin typeface="Yu Gothic"/>
                <a:ea typeface="Yu Gothic"/>
              </a:rPr>
              <a:t>・逸脱確認</a:t>
            </a:r>
            <a:endParaRPr b="0" lang="en-US" sz="1150" strike="noStrike" u="none">
              <a:solidFill>
                <a:srgbClr val="000000"/>
              </a:solidFill>
              <a:effectLst/>
              <a:uFillTx/>
              <a:latin typeface="Arial"/>
            </a:endParaRPr>
          </a:p>
          <a:p>
            <a:pPr defTabSz="914400">
              <a:lnSpc>
                <a:spcPct val="100000"/>
              </a:lnSpc>
              <a:tabLst>
                <a:tab algn="l" pos="0"/>
              </a:tabLst>
            </a:pPr>
            <a:r>
              <a:rPr b="0" lang="zh-CN" sz="1150" strike="noStrike" u="none">
                <a:solidFill>
                  <a:srgbClr val="243b53"/>
                </a:solidFill>
                <a:effectLst/>
                <a:uFillTx/>
                <a:latin typeface="Yu Gothic"/>
                <a:ea typeface="Yu Gothic"/>
              </a:rPr>
              <a:t>拡大</a:t>
            </a:r>
            <a:r>
              <a:rPr b="0" lang="en-US" sz="1150" strike="noStrike" u="none">
                <a:solidFill>
                  <a:srgbClr val="243b53"/>
                </a:solidFill>
                <a:effectLst/>
                <a:uFillTx/>
                <a:latin typeface="Yu Gothic"/>
                <a:ea typeface="Yu Gothic"/>
              </a:rPr>
              <a:t>/</a:t>
            </a:r>
            <a:r>
              <a:rPr b="0" lang="zh-CN" sz="1150" strike="noStrike" u="none">
                <a:solidFill>
                  <a:srgbClr val="243b53"/>
                </a:solidFill>
                <a:effectLst/>
                <a:uFillTx/>
                <a:latin typeface="Yu Gothic"/>
                <a:ea typeface="Yu Gothic"/>
              </a:rPr>
              <a:t>体制変更の独立確認</a:t>
            </a:r>
            <a:endParaRPr b="0" lang="en-US" sz="1150" strike="noStrike" u="none">
              <a:solidFill>
                <a:srgbClr val="000000"/>
              </a:solidFill>
              <a:effectLst/>
              <a:uFillTx/>
              <a:latin typeface="Arial"/>
            </a:endParaRPr>
          </a:p>
        </p:txBody>
      </p:sp>
      <p:sp>
        <p:nvSpPr>
          <p:cNvPr id="483" name="Text 19"/>
          <p:cNvSpPr/>
          <p:nvPr/>
        </p:nvSpPr>
        <p:spPr>
          <a:xfrm>
            <a:off x="612720" y="3127320"/>
            <a:ext cx="1371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zh-CN" sz="1700" strike="noStrike" u="none">
                <a:solidFill>
                  <a:srgbClr val="0b1f33"/>
                </a:solidFill>
                <a:effectLst/>
                <a:uFillTx/>
                <a:latin typeface="Yu Gothic"/>
                <a:ea typeface="Yu Gothic"/>
              </a:rPr>
              <a:t>運営リズム</a:t>
            </a:r>
            <a:endParaRPr b="0" lang="en-US" sz="1700" strike="noStrike" u="none">
              <a:solidFill>
                <a:srgbClr val="000000"/>
              </a:solidFill>
              <a:effectLst/>
              <a:uFillTx/>
              <a:latin typeface="Arial"/>
            </a:endParaRPr>
          </a:p>
        </p:txBody>
      </p:sp>
      <p:sp>
        <p:nvSpPr>
          <p:cNvPr id="484" name="Shape 20"/>
          <p:cNvSpPr/>
          <p:nvPr/>
        </p:nvSpPr>
        <p:spPr>
          <a:xfrm>
            <a:off x="621720" y="3474720"/>
            <a:ext cx="658080" cy="328680"/>
          </a:xfrm>
          <a:prstGeom prst="roundRect">
            <a:avLst>
              <a:gd name="adj" fmla="val 19444"/>
            </a:avLst>
          </a:prstGeom>
          <a:solidFill>
            <a:srgbClr val="1b6fd1"/>
          </a:solidFill>
          <a:ln w="12700">
            <a:solidFill>
              <a:srgbClr val="1b6fd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85" name="Text 21"/>
          <p:cNvSpPr/>
          <p:nvPr/>
        </p:nvSpPr>
        <p:spPr>
          <a:xfrm>
            <a:off x="667440" y="3511440"/>
            <a:ext cx="56664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zh-CN" sz="1000" strike="noStrike" u="none">
                <a:solidFill>
                  <a:srgbClr val="ffffff"/>
                </a:solidFill>
                <a:effectLst/>
                <a:uFillTx/>
                <a:latin typeface="Yu Gothic"/>
                <a:ea typeface="Yu Gothic"/>
              </a:rPr>
              <a:t>毎週</a:t>
            </a:r>
            <a:endParaRPr b="0" lang="en-US" sz="1000" strike="noStrike" u="none">
              <a:solidFill>
                <a:srgbClr val="000000"/>
              </a:solidFill>
              <a:effectLst/>
              <a:uFillTx/>
              <a:latin typeface="Arial"/>
            </a:endParaRPr>
          </a:p>
        </p:txBody>
      </p:sp>
      <p:sp>
        <p:nvSpPr>
          <p:cNvPr id="486" name="Text 22"/>
          <p:cNvSpPr/>
          <p:nvPr/>
        </p:nvSpPr>
        <p:spPr>
          <a:xfrm>
            <a:off x="1398960" y="3465720"/>
            <a:ext cx="169128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zh-CN" sz="1200" strike="noStrike" u="none">
                <a:solidFill>
                  <a:srgbClr val="1b6fd1"/>
                </a:solidFill>
                <a:effectLst/>
                <a:uFillTx/>
                <a:latin typeface="Yu Gothic"/>
                <a:ea typeface="Yu Gothic"/>
              </a:rPr>
              <a:t>実績レビュー </a:t>
            </a:r>
            <a:r>
              <a:rPr b="1" lang="en-US" sz="1200" strike="noStrike" u="none">
                <a:solidFill>
                  <a:srgbClr val="1b6fd1"/>
                </a:solidFill>
                <a:effectLst/>
                <a:uFillTx/>
                <a:latin typeface="Yu Gothic"/>
                <a:ea typeface="Yu Gothic"/>
              </a:rPr>
              <a:t>30</a:t>
            </a:r>
            <a:r>
              <a:rPr b="1" lang="zh-CN" sz="1200" strike="noStrike" u="none">
                <a:solidFill>
                  <a:srgbClr val="1b6fd1"/>
                </a:solidFill>
                <a:effectLst/>
                <a:uFillTx/>
                <a:latin typeface="Yu Gothic"/>
                <a:ea typeface="Yu Gothic"/>
              </a:rPr>
              <a:t>分</a:t>
            </a:r>
            <a:endParaRPr b="0" lang="en-US" sz="1200" strike="noStrike" u="none">
              <a:solidFill>
                <a:srgbClr val="000000"/>
              </a:solidFill>
              <a:effectLst/>
              <a:uFillTx/>
              <a:latin typeface="Arial"/>
            </a:endParaRPr>
          </a:p>
        </p:txBody>
      </p:sp>
      <p:sp>
        <p:nvSpPr>
          <p:cNvPr id="487" name="Text 23"/>
          <p:cNvSpPr/>
          <p:nvPr/>
        </p:nvSpPr>
        <p:spPr>
          <a:xfrm>
            <a:off x="621720" y="3886200"/>
            <a:ext cx="2422800" cy="5299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70" strike="noStrike" u="none">
                <a:solidFill>
                  <a:srgbClr val="243b53"/>
                </a:solidFill>
                <a:effectLst/>
                <a:uFillTx/>
                <a:latin typeface="Yu Gothic"/>
                <a:ea typeface="Yu Gothic"/>
              </a:rPr>
              <a:t>KPI</a:t>
            </a:r>
            <a:r>
              <a:rPr b="0" lang="zh-CN" sz="970" strike="noStrike" u="none">
                <a:solidFill>
                  <a:srgbClr val="243b53"/>
                </a:solidFill>
                <a:effectLst/>
                <a:uFillTx/>
                <a:latin typeface="Yu Gothic"/>
                <a:ea typeface="Yu Gothic"/>
              </a:rPr>
              <a:t>差分／失敗原因／次の改善</a:t>
            </a:r>
            <a:r>
              <a:rPr b="0" lang="en-US" sz="970" strike="noStrike" u="none">
                <a:solidFill>
                  <a:srgbClr val="243b53"/>
                </a:solidFill>
                <a:effectLst/>
                <a:uFillTx/>
                <a:latin typeface="Yu Gothic"/>
                <a:ea typeface="Yu Gothic"/>
              </a:rPr>
              <a:t>1</a:t>
            </a:r>
            <a:r>
              <a:rPr b="0" lang="zh-CN" sz="970" strike="noStrike" u="none">
                <a:solidFill>
                  <a:srgbClr val="243b53"/>
                </a:solidFill>
                <a:effectLst/>
                <a:uFillTx/>
                <a:latin typeface="Yu Gothic"/>
                <a:ea typeface="Yu Gothic"/>
              </a:rPr>
              <a:t>〜</a:t>
            </a:r>
            <a:r>
              <a:rPr b="0" lang="en-US" sz="970" strike="noStrike" u="none">
                <a:solidFill>
                  <a:srgbClr val="243b53"/>
                </a:solidFill>
                <a:effectLst/>
                <a:uFillTx/>
                <a:latin typeface="Yu Gothic"/>
                <a:ea typeface="Yu Gothic"/>
              </a:rPr>
              <a:t>2</a:t>
            </a:r>
            <a:r>
              <a:rPr b="0" lang="zh-CN" sz="970" strike="noStrike" u="none">
                <a:solidFill>
                  <a:srgbClr val="243b53"/>
                </a:solidFill>
                <a:effectLst/>
                <a:uFillTx/>
                <a:latin typeface="Yu Gothic"/>
                <a:ea typeface="Yu Gothic"/>
              </a:rPr>
              <a:t>件</a:t>
            </a:r>
            <a:endParaRPr b="0" lang="en-US" sz="970" strike="noStrike" u="none">
              <a:solidFill>
                <a:srgbClr val="000000"/>
              </a:solidFill>
              <a:effectLst/>
              <a:uFillTx/>
              <a:latin typeface="Arial"/>
            </a:endParaRPr>
          </a:p>
        </p:txBody>
      </p:sp>
      <p:sp>
        <p:nvSpPr>
          <p:cNvPr id="488" name="Shape 24"/>
          <p:cNvSpPr/>
          <p:nvPr/>
        </p:nvSpPr>
        <p:spPr>
          <a:xfrm>
            <a:off x="3456360" y="3474720"/>
            <a:ext cx="658080" cy="328680"/>
          </a:xfrm>
          <a:prstGeom prst="roundRect">
            <a:avLst>
              <a:gd name="adj" fmla="val 19444"/>
            </a:avLst>
          </a:prstGeom>
          <a:solidFill>
            <a:srgbClr val="0f9d8a"/>
          </a:solidFill>
          <a:ln w="12700">
            <a:solidFill>
              <a:srgbClr val="0f9d8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89" name="Text 25"/>
          <p:cNvSpPr/>
          <p:nvPr/>
        </p:nvSpPr>
        <p:spPr>
          <a:xfrm>
            <a:off x="3502080" y="3511440"/>
            <a:ext cx="56664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zh-CN" sz="1000" strike="noStrike" u="none">
                <a:solidFill>
                  <a:srgbClr val="ffffff"/>
                </a:solidFill>
                <a:effectLst/>
                <a:uFillTx/>
                <a:latin typeface="Yu Gothic"/>
                <a:ea typeface="Yu Gothic"/>
              </a:rPr>
              <a:t>毎月</a:t>
            </a:r>
            <a:endParaRPr b="0" lang="en-US" sz="1000" strike="noStrike" u="none">
              <a:solidFill>
                <a:srgbClr val="000000"/>
              </a:solidFill>
              <a:effectLst/>
              <a:uFillTx/>
              <a:latin typeface="Arial"/>
            </a:endParaRPr>
          </a:p>
        </p:txBody>
      </p:sp>
      <p:sp>
        <p:nvSpPr>
          <p:cNvPr id="490" name="Text 26"/>
          <p:cNvSpPr/>
          <p:nvPr/>
        </p:nvSpPr>
        <p:spPr>
          <a:xfrm>
            <a:off x="4233600" y="3465720"/>
            <a:ext cx="169128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zh-CN" sz="1200" strike="noStrike" u="none">
                <a:solidFill>
                  <a:srgbClr val="0f9d8a"/>
                </a:solidFill>
                <a:effectLst/>
                <a:uFillTx/>
                <a:latin typeface="Yu Gothic"/>
                <a:ea typeface="Yu Gothic"/>
              </a:rPr>
              <a:t>並行検証範囲の判断</a:t>
            </a:r>
            <a:endParaRPr b="0" lang="en-US" sz="1200" strike="noStrike" u="none">
              <a:solidFill>
                <a:srgbClr val="000000"/>
              </a:solidFill>
              <a:effectLst/>
              <a:uFillTx/>
              <a:latin typeface="Arial"/>
            </a:endParaRPr>
          </a:p>
        </p:txBody>
      </p:sp>
      <p:sp>
        <p:nvSpPr>
          <p:cNvPr id="491" name="Text 27"/>
          <p:cNvSpPr/>
          <p:nvPr/>
        </p:nvSpPr>
        <p:spPr>
          <a:xfrm>
            <a:off x="3456360" y="3886200"/>
            <a:ext cx="2422800" cy="5299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970" strike="noStrike" u="none">
                <a:solidFill>
                  <a:srgbClr val="243b53"/>
                </a:solidFill>
                <a:effectLst/>
                <a:uFillTx/>
                <a:latin typeface="Yu Gothic"/>
                <a:ea typeface="Yu Gothic"/>
              </a:rPr>
              <a:t>並行検証の継続・拡大・停止を定量根拠で決定</a:t>
            </a:r>
            <a:endParaRPr b="0" lang="en-US" sz="970" strike="noStrike" u="none">
              <a:solidFill>
                <a:srgbClr val="000000"/>
              </a:solidFill>
              <a:effectLst/>
              <a:uFillTx/>
              <a:latin typeface="Arial"/>
            </a:endParaRPr>
          </a:p>
        </p:txBody>
      </p:sp>
      <p:sp>
        <p:nvSpPr>
          <p:cNvPr id="492" name="Shape 28"/>
          <p:cNvSpPr/>
          <p:nvPr/>
        </p:nvSpPr>
        <p:spPr>
          <a:xfrm>
            <a:off x="6291000" y="3474720"/>
            <a:ext cx="658080" cy="328680"/>
          </a:xfrm>
          <a:prstGeom prst="roundRect">
            <a:avLst>
              <a:gd name="adj" fmla="val 19444"/>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93" name="Text 29"/>
          <p:cNvSpPr/>
          <p:nvPr/>
        </p:nvSpPr>
        <p:spPr>
          <a:xfrm>
            <a:off x="6336720" y="3511440"/>
            <a:ext cx="56664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ffff"/>
                </a:solidFill>
                <a:effectLst/>
                <a:uFillTx/>
                <a:latin typeface="Yu Gothic"/>
                <a:ea typeface="Yu Gothic"/>
              </a:rPr>
              <a:t>12</a:t>
            </a:r>
            <a:r>
              <a:rPr b="1" lang="zh-CN" sz="1000" strike="noStrike" u="none">
                <a:solidFill>
                  <a:srgbClr val="ffffff"/>
                </a:solidFill>
                <a:effectLst/>
                <a:uFillTx/>
                <a:latin typeface="Yu Gothic"/>
                <a:ea typeface="Yu Gothic"/>
              </a:rPr>
              <a:t>月</a:t>
            </a:r>
            <a:endParaRPr b="0" lang="en-US" sz="1000" strike="noStrike" u="none">
              <a:solidFill>
                <a:srgbClr val="000000"/>
              </a:solidFill>
              <a:effectLst/>
              <a:uFillTx/>
              <a:latin typeface="Arial"/>
            </a:endParaRPr>
          </a:p>
        </p:txBody>
      </p:sp>
      <p:sp>
        <p:nvSpPr>
          <p:cNvPr id="494" name="Text 30"/>
          <p:cNvSpPr/>
          <p:nvPr/>
        </p:nvSpPr>
        <p:spPr>
          <a:xfrm>
            <a:off x="7068240" y="3465720"/>
            <a:ext cx="169128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trike="noStrike" u="none">
                <a:solidFill>
                  <a:srgbClr val="f59e0b"/>
                </a:solidFill>
                <a:effectLst/>
                <a:uFillTx/>
                <a:latin typeface="Yu Gothic"/>
                <a:ea typeface="Yu Gothic"/>
              </a:rPr>
              <a:t>Gate 1</a:t>
            </a:r>
            <a:endParaRPr b="0" lang="en-US" sz="1200" strike="noStrike" u="none">
              <a:solidFill>
                <a:srgbClr val="000000"/>
              </a:solidFill>
              <a:effectLst/>
              <a:uFillTx/>
              <a:latin typeface="Arial"/>
            </a:endParaRPr>
          </a:p>
        </p:txBody>
      </p:sp>
      <p:sp>
        <p:nvSpPr>
          <p:cNvPr id="495" name="Text 31"/>
          <p:cNvSpPr/>
          <p:nvPr/>
        </p:nvSpPr>
        <p:spPr>
          <a:xfrm>
            <a:off x="6291000" y="3886200"/>
            <a:ext cx="2422800" cy="5299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970" strike="noStrike" u="none">
                <a:solidFill>
                  <a:srgbClr val="243b53"/>
                </a:solidFill>
                <a:effectLst/>
                <a:uFillTx/>
                <a:latin typeface="Yu Gothic"/>
                <a:ea typeface="Yu Gothic"/>
              </a:rPr>
              <a:t>純効果が確認でき、並行検証を拡大する価値があるか</a:t>
            </a:r>
            <a:endParaRPr b="0" lang="en-US" sz="970" strike="noStrike" u="none">
              <a:solidFill>
                <a:srgbClr val="000000"/>
              </a:solidFill>
              <a:effectLst/>
              <a:uFillTx/>
              <a:latin typeface="Arial"/>
            </a:endParaRPr>
          </a:p>
        </p:txBody>
      </p:sp>
      <p:sp>
        <p:nvSpPr>
          <p:cNvPr id="496" name="Shape 32"/>
          <p:cNvSpPr/>
          <p:nvPr/>
        </p:nvSpPr>
        <p:spPr>
          <a:xfrm>
            <a:off x="9125640" y="3474720"/>
            <a:ext cx="658080" cy="328680"/>
          </a:xfrm>
          <a:prstGeom prst="roundRect">
            <a:avLst>
              <a:gd name="adj" fmla="val 19444"/>
            </a:avLst>
          </a:prstGeom>
          <a:solidFill>
            <a:srgbClr val="0b1f33"/>
          </a:solidFill>
          <a:ln w="12700">
            <a:solidFill>
              <a:srgbClr val="0b1f33"/>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97" name="Text 33"/>
          <p:cNvSpPr/>
          <p:nvPr/>
        </p:nvSpPr>
        <p:spPr>
          <a:xfrm>
            <a:off x="9171360" y="3511440"/>
            <a:ext cx="56664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ffff"/>
                </a:solidFill>
                <a:effectLst/>
                <a:uFillTx/>
                <a:latin typeface="Yu Gothic"/>
                <a:ea typeface="Yu Gothic"/>
              </a:rPr>
              <a:t>3</a:t>
            </a:r>
            <a:r>
              <a:rPr b="1" lang="zh-CN" sz="1000" strike="noStrike" u="none">
                <a:solidFill>
                  <a:srgbClr val="ffffff"/>
                </a:solidFill>
                <a:effectLst/>
                <a:uFillTx/>
                <a:latin typeface="Yu Gothic"/>
                <a:ea typeface="Yu Gothic"/>
              </a:rPr>
              <a:t>月</a:t>
            </a:r>
            <a:endParaRPr b="0" lang="en-US" sz="1000" strike="noStrike" u="none">
              <a:solidFill>
                <a:srgbClr val="000000"/>
              </a:solidFill>
              <a:effectLst/>
              <a:uFillTx/>
              <a:latin typeface="Arial"/>
            </a:endParaRPr>
          </a:p>
        </p:txBody>
      </p:sp>
      <p:sp>
        <p:nvSpPr>
          <p:cNvPr id="498" name="Text 34"/>
          <p:cNvSpPr/>
          <p:nvPr/>
        </p:nvSpPr>
        <p:spPr>
          <a:xfrm>
            <a:off x="9902880" y="3465720"/>
            <a:ext cx="169128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trike="noStrike" u="none">
                <a:solidFill>
                  <a:srgbClr val="0b1f33"/>
                </a:solidFill>
                <a:effectLst/>
                <a:uFillTx/>
                <a:latin typeface="Yu Gothic"/>
                <a:ea typeface="Yu Gothic"/>
              </a:rPr>
              <a:t>Gate 2</a:t>
            </a:r>
            <a:endParaRPr b="0" lang="en-US" sz="1200" strike="noStrike" u="none">
              <a:solidFill>
                <a:srgbClr val="000000"/>
              </a:solidFill>
              <a:effectLst/>
              <a:uFillTx/>
              <a:latin typeface="Arial"/>
            </a:endParaRPr>
          </a:p>
        </p:txBody>
      </p:sp>
      <p:sp>
        <p:nvSpPr>
          <p:cNvPr id="499" name="Text 35"/>
          <p:cNvSpPr/>
          <p:nvPr/>
        </p:nvSpPr>
        <p:spPr>
          <a:xfrm>
            <a:off x="9125640" y="3886200"/>
            <a:ext cx="2422800" cy="5299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970" strike="noStrike" u="none">
                <a:solidFill>
                  <a:srgbClr val="243b53"/>
                </a:solidFill>
                <a:effectLst/>
                <a:uFillTx/>
                <a:latin typeface="Yu Gothic"/>
                <a:ea typeface="Yu Gothic"/>
              </a:rPr>
              <a:t>工数</a:t>
            </a:r>
            <a:r>
              <a:rPr b="0" lang="en-US" sz="970" strike="noStrike" u="none">
                <a:solidFill>
                  <a:srgbClr val="243b53"/>
                </a:solidFill>
                <a:effectLst/>
                <a:uFillTx/>
                <a:latin typeface="Yu Gothic"/>
                <a:ea typeface="Yu Gothic"/>
              </a:rPr>
              <a:t>70%</a:t>
            </a:r>
            <a:r>
              <a:rPr b="0" lang="zh-CN" sz="970" strike="noStrike" u="none">
                <a:solidFill>
                  <a:srgbClr val="243b53"/>
                </a:solidFill>
                <a:effectLst/>
                <a:uFillTx/>
                <a:latin typeface="Yu Gothic"/>
                <a:ea typeface="Yu Gothic"/>
              </a:rPr>
              <a:t>以下・同等品質で本番移行と</a:t>
            </a:r>
            <a:r>
              <a:rPr b="0" lang="en-US" sz="970" strike="noStrike" u="none">
                <a:solidFill>
                  <a:srgbClr val="243b53"/>
                </a:solidFill>
                <a:effectLst/>
                <a:uFillTx/>
                <a:latin typeface="Yu Gothic"/>
                <a:ea typeface="Yu Gothic"/>
              </a:rPr>
              <a:t>4</a:t>
            </a:r>
            <a:r>
              <a:rPr b="0" lang="zh-CN" sz="970" strike="noStrike" u="none">
                <a:solidFill>
                  <a:srgbClr val="243b53"/>
                </a:solidFill>
                <a:effectLst/>
                <a:uFillTx/>
                <a:latin typeface="Yu Gothic"/>
                <a:ea typeface="Yu Gothic"/>
              </a:rPr>
              <a:t>月体制変更が可能か</a:t>
            </a:r>
            <a:endParaRPr b="0" lang="en-US" sz="970" strike="noStrike" u="none">
              <a:solidFill>
                <a:srgbClr val="000000"/>
              </a:solidFill>
              <a:effectLst/>
              <a:uFillTx/>
              <a:latin typeface="Arial"/>
            </a:endParaRPr>
          </a:p>
        </p:txBody>
      </p:sp>
      <p:sp>
        <p:nvSpPr>
          <p:cNvPr id="500" name="Shape 36"/>
          <p:cNvSpPr/>
          <p:nvPr/>
        </p:nvSpPr>
        <p:spPr>
          <a:xfrm>
            <a:off x="640080" y="4663440"/>
            <a:ext cx="10881000" cy="1133640"/>
          </a:xfrm>
          <a:prstGeom prst="roundRect">
            <a:avLst>
              <a:gd name="adj" fmla="val 4839"/>
            </a:avLst>
          </a:prstGeom>
          <a:solidFill>
            <a:srgbClr val="eef3f8"/>
          </a:solidFill>
          <a:ln w="1270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01" name="Text 37"/>
          <p:cNvSpPr/>
          <p:nvPr/>
        </p:nvSpPr>
        <p:spPr>
          <a:xfrm>
            <a:off x="877680" y="4864680"/>
            <a:ext cx="32000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zh-CN" sz="1500" strike="noStrike" u="none">
                <a:solidFill>
                  <a:srgbClr val="0b1f33"/>
                </a:solidFill>
                <a:effectLst/>
                <a:uFillTx/>
                <a:latin typeface="Yu Gothic"/>
                <a:ea typeface="Yu Gothic"/>
              </a:rPr>
              <a:t>契約開始時に最初の</a:t>
            </a:r>
            <a:r>
              <a:rPr b="1" lang="en-US" sz="1500" strike="noStrike" u="none">
                <a:solidFill>
                  <a:srgbClr val="0b1f33"/>
                </a:solidFill>
                <a:effectLst/>
                <a:uFillTx/>
                <a:latin typeface="Yu Gothic"/>
                <a:ea typeface="Yu Gothic"/>
              </a:rPr>
              <a:t>2</a:t>
            </a:r>
            <a:r>
              <a:rPr b="1" lang="zh-CN" sz="1500" strike="noStrike" u="none">
                <a:solidFill>
                  <a:srgbClr val="0b1f33"/>
                </a:solidFill>
                <a:effectLst/>
                <a:uFillTx/>
                <a:latin typeface="Yu Gothic"/>
                <a:ea typeface="Yu Gothic"/>
              </a:rPr>
              <a:t>週間で固定するもの</a:t>
            </a:r>
            <a:endParaRPr b="0" lang="en-US" sz="1500" strike="noStrike" u="none">
              <a:solidFill>
                <a:srgbClr val="000000"/>
              </a:solidFill>
              <a:effectLst/>
              <a:uFillTx/>
              <a:latin typeface="Arial"/>
            </a:endParaRPr>
          </a:p>
        </p:txBody>
      </p:sp>
      <p:sp>
        <p:nvSpPr>
          <p:cNvPr id="502" name="Shape 38"/>
          <p:cNvSpPr/>
          <p:nvPr/>
        </p:nvSpPr>
        <p:spPr>
          <a:xfrm>
            <a:off x="896040" y="5367600"/>
            <a:ext cx="273960" cy="273960"/>
          </a:xfrm>
          <a:prstGeom prst="ellipse">
            <a:avLst/>
          </a:prstGeom>
          <a:solidFill>
            <a:srgbClr val="1b6fd1"/>
          </a:solidFill>
          <a:ln w="12700">
            <a:solidFill>
              <a:srgbClr val="1b6fd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03" name="Text 39"/>
          <p:cNvSpPr/>
          <p:nvPr/>
        </p:nvSpPr>
        <p:spPr>
          <a:xfrm>
            <a:off x="969120" y="5431680"/>
            <a:ext cx="12780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50" strike="noStrike" u="none">
                <a:solidFill>
                  <a:srgbClr val="ffffff"/>
                </a:solidFill>
                <a:effectLst/>
                <a:uFillTx/>
                <a:latin typeface="Yu Gothic"/>
                <a:ea typeface="Yu Gothic"/>
              </a:rPr>
              <a:t>1</a:t>
            </a:r>
            <a:endParaRPr b="0" lang="en-US" sz="850" strike="noStrike" u="none">
              <a:solidFill>
                <a:srgbClr val="000000"/>
              </a:solidFill>
              <a:effectLst/>
              <a:uFillTx/>
              <a:latin typeface="Arial"/>
            </a:endParaRPr>
          </a:p>
        </p:txBody>
      </p:sp>
      <p:sp>
        <p:nvSpPr>
          <p:cNvPr id="504" name="Text 40"/>
          <p:cNvSpPr/>
          <p:nvPr/>
        </p:nvSpPr>
        <p:spPr>
          <a:xfrm>
            <a:off x="1243440" y="5321880"/>
            <a:ext cx="157248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939" strike="noStrike" u="none">
                <a:solidFill>
                  <a:srgbClr val="243b53"/>
                </a:solidFill>
                <a:effectLst/>
                <a:uFillTx/>
                <a:latin typeface="Yu Gothic"/>
                <a:ea typeface="Yu Gothic"/>
              </a:rPr>
              <a:t>代表ユースケース（</a:t>
            </a:r>
            <a:r>
              <a:rPr b="0" lang="en-US" sz="939" strike="noStrike" u="none">
                <a:solidFill>
                  <a:srgbClr val="243b53"/>
                </a:solidFill>
                <a:effectLst/>
                <a:uFillTx/>
                <a:latin typeface="Yu Gothic"/>
                <a:ea typeface="Yu Gothic"/>
              </a:rPr>
              <a:t>3</a:t>
            </a:r>
            <a:r>
              <a:rPr b="0" lang="zh-CN" sz="939" strike="noStrike" u="none">
                <a:solidFill>
                  <a:srgbClr val="243b53"/>
                </a:solidFill>
                <a:effectLst/>
                <a:uFillTx/>
                <a:latin typeface="Yu Gothic"/>
                <a:ea typeface="Yu Gothic"/>
              </a:rPr>
              <a:t>〜</a:t>
            </a:r>
            <a:r>
              <a:rPr b="0" lang="en-US" sz="939" strike="noStrike" u="none">
                <a:solidFill>
                  <a:srgbClr val="243b53"/>
                </a:solidFill>
                <a:effectLst/>
                <a:uFillTx/>
                <a:latin typeface="Yu Gothic"/>
                <a:ea typeface="Yu Gothic"/>
              </a:rPr>
              <a:t>5</a:t>
            </a:r>
            <a:r>
              <a:rPr b="0" lang="zh-CN" sz="939" strike="noStrike" u="none">
                <a:solidFill>
                  <a:srgbClr val="243b53"/>
                </a:solidFill>
                <a:effectLst/>
                <a:uFillTx/>
                <a:latin typeface="Yu Gothic"/>
                <a:ea typeface="Yu Gothic"/>
              </a:rPr>
              <a:t>種）</a:t>
            </a:r>
            <a:endParaRPr b="0" lang="en-US" sz="939" strike="noStrike" u="none">
              <a:solidFill>
                <a:srgbClr val="000000"/>
              </a:solidFill>
              <a:effectLst/>
              <a:uFillTx/>
              <a:latin typeface="Arial"/>
            </a:endParaRPr>
          </a:p>
        </p:txBody>
      </p:sp>
      <p:sp>
        <p:nvSpPr>
          <p:cNvPr id="505" name="Shape 41"/>
          <p:cNvSpPr/>
          <p:nvPr/>
        </p:nvSpPr>
        <p:spPr>
          <a:xfrm>
            <a:off x="2999160" y="5367600"/>
            <a:ext cx="273960" cy="273960"/>
          </a:xfrm>
          <a:prstGeom prst="ellipse">
            <a:avLst/>
          </a:prstGeom>
          <a:solidFill>
            <a:srgbClr val="1b6fd1"/>
          </a:solidFill>
          <a:ln w="12700">
            <a:solidFill>
              <a:srgbClr val="1b6fd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06" name="Text 42"/>
          <p:cNvSpPr/>
          <p:nvPr/>
        </p:nvSpPr>
        <p:spPr>
          <a:xfrm>
            <a:off x="3072240" y="5431680"/>
            <a:ext cx="12780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50" strike="noStrike" u="none">
                <a:solidFill>
                  <a:srgbClr val="ffffff"/>
                </a:solidFill>
                <a:effectLst/>
                <a:uFillTx/>
                <a:latin typeface="Yu Gothic"/>
                <a:ea typeface="Yu Gothic"/>
              </a:rPr>
              <a:t>2</a:t>
            </a:r>
            <a:endParaRPr b="0" lang="en-US" sz="850" strike="noStrike" u="none">
              <a:solidFill>
                <a:srgbClr val="000000"/>
              </a:solidFill>
              <a:effectLst/>
              <a:uFillTx/>
              <a:latin typeface="Arial"/>
            </a:endParaRPr>
          </a:p>
        </p:txBody>
      </p:sp>
      <p:sp>
        <p:nvSpPr>
          <p:cNvPr id="507" name="Text 43"/>
          <p:cNvSpPr/>
          <p:nvPr/>
        </p:nvSpPr>
        <p:spPr>
          <a:xfrm>
            <a:off x="3346560" y="5321880"/>
            <a:ext cx="157248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939" strike="noStrike" u="none">
                <a:solidFill>
                  <a:srgbClr val="243b53"/>
                </a:solidFill>
                <a:effectLst/>
                <a:uFillTx/>
                <a:latin typeface="Yu Gothic"/>
                <a:ea typeface="Yu Gothic"/>
              </a:rPr>
              <a:t>工数・品質</a:t>
            </a:r>
            <a:r>
              <a:rPr b="0" lang="en-US" sz="939" strike="noStrike" u="none">
                <a:solidFill>
                  <a:srgbClr val="243b53"/>
                </a:solidFill>
                <a:effectLst/>
                <a:uFillTx/>
                <a:latin typeface="Yu Gothic"/>
                <a:ea typeface="Yu Gothic"/>
              </a:rPr>
              <a:t>KPI</a:t>
            </a:r>
            <a:r>
              <a:rPr b="0" lang="zh-CN" sz="939" strike="noStrike" u="none">
                <a:solidFill>
                  <a:srgbClr val="243b53"/>
                </a:solidFill>
                <a:effectLst/>
                <a:uFillTx/>
                <a:latin typeface="Yu Gothic"/>
                <a:ea typeface="Yu Gothic"/>
              </a:rPr>
              <a:t>の定義と取得方法</a:t>
            </a:r>
            <a:endParaRPr b="0" lang="en-US" sz="939" strike="noStrike" u="none">
              <a:solidFill>
                <a:srgbClr val="000000"/>
              </a:solidFill>
              <a:effectLst/>
              <a:uFillTx/>
              <a:latin typeface="Arial"/>
            </a:endParaRPr>
          </a:p>
        </p:txBody>
      </p:sp>
      <p:sp>
        <p:nvSpPr>
          <p:cNvPr id="508" name="Shape 44"/>
          <p:cNvSpPr/>
          <p:nvPr/>
        </p:nvSpPr>
        <p:spPr>
          <a:xfrm>
            <a:off x="5102280" y="5367600"/>
            <a:ext cx="273960" cy="273960"/>
          </a:xfrm>
          <a:prstGeom prst="ellipse">
            <a:avLst/>
          </a:prstGeom>
          <a:solidFill>
            <a:srgbClr val="1b6fd1"/>
          </a:solidFill>
          <a:ln w="12700">
            <a:solidFill>
              <a:srgbClr val="1b6fd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09" name="Text 45"/>
          <p:cNvSpPr/>
          <p:nvPr/>
        </p:nvSpPr>
        <p:spPr>
          <a:xfrm>
            <a:off x="5175360" y="5431680"/>
            <a:ext cx="12780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50" strike="noStrike" u="none">
                <a:solidFill>
                  <a:srgbClr val="ffffff"/>
                </a:solidFill>
                <a:effectLst/>
                <a:uFillTx/>
                <a:latin typeface="Yu Gothic"/>
                <a:ea typeface="Yu Gothic"/>
              </a:rPr>
              <a:t>3</a:t>
            </a:r>
            <a:endParaRPr b="0" lang="en-US" sz="850" strike="noStrike" u="none">
              <a:solidFill>
                <a:srgbClr val="000000"/>
              </a:solidFill>
              <a:effectLst/>
              <a:uFillTx/>
              <a:latin typeface="Arial"/>
            </a:endParaRPr>
          </a:p>
        </p:txBody>
      </p:sp>
      <p:sp>
        <p:nvSpPr>
          <p:cNvPr id="510" name="Text 46"/>
          <p:cNvSpPr/>
          <p:nvPr/>
        </p:nvSpPr>
        <p:spPr>
          <a:xfrm>
            <a:off x="5449680" y="5321880"/>
            <a:ext cx="157248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939" strike="noStrike" u="none">
                <a:solidFill>
                  <a:srgbClr val="243b53"/>
                </a:solidFill>
                <a:effectLst/>
                <a:uFillTx/>
                <a:latin typeface="Yu Gothic"/>
                <a:ea typeface="Yu Gothic"/>
              </a:rPr>
              <a:t>比較対象となる基準データ</a:t>
            </a:r>
            <a:endParaRPr b="0" lang="en-US" sz="939" strike="noStrike" u="none">
              <a:solidFill>
                <a:srgbClr val="000000"/>
              </a:solidFill>
              <a:effectLst/>
              <a:uFillTx/>
              <a:latin typeface="Arial"/>
            </a:endParaRPr>
          </a:p>
        </p:txBody>
      </p:sp>
      <p:sp>
        <p:nvSpPr>
          <p:cNvPr id="511" name="Shape 47"/>
          <p:cNvSpPr/>
          <p:nvPr/>
        </p:nvSpPr>
        <p:spPr>
          <a:xfrm>
            <a:off x="7205400" y="5367600"/>
            <a:ext cx="273960" cy="273960"/>
          </a:xfrm>
          <a:prstGeom prst="ellipse">
            <a:avLst/>
          </a:prstGeom>
          <a:solidFill>
            <a:srgbClr val="0f9d8a"/>
          </a:solidFill>
          <a:ln w="12700">
            <a:solidFill>
              <a:srgbClr val="0f9d8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12" name="Text 48"/>
          <p:cNvSpPr/>
          <p:nvPr/>
        </p:nvSpPr>
        <p:spPr>
          <a:xfrm>
            <a:off x="7278480" y="5431680"/>
            <a:ext cx="12780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50" strike="noStrike" u="none">
                <a:solidFill>
                  <a:srgbClr val="ffffff"/>
                </a:solidFill>
                <a:effectLst/>
                <a:uFillTx/>
                <a:latin typeface="Yu Gothic"/>
                <a:ea typeface="Yu Gothic"/>
              </a:rPr>
              <a:t>4</a:t>
            </a:r>
            <a:endParaRPr b="0" lang="en-US" sz="850" strike="noStrike" u="none">
              <a:solidFill>
                <a:srgbClr val="000000"/>
              </a:solidFill>
              <a:effectLst/>
              <a:uFillTx/>
              <a:latin typeface="Arial"/>
            </a:endParaRPr>
          </a:p>
        </p:txBody>
      </p:sp>
      <p:sp>
        <p:nvSpPr>
          <p:cNvPr id="513" name="Text 49"/>
          <p:cNvSpPr/>
          <p:nvPr/>
        </p:nvSpPr>
        <p:spPr>
          <a:xfrm>
            <a:off x="7552800" y="5321880"/>
            <a:ext cx="157248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zh-CN" sz="939" strike="noStrike" u="none">
                <a:solidFill>
                  <a:srgbClr val="243b53"/>
                </a:solidFill>
                <a:effectLst/>
                <a:uFillTx/>
                <a:latin typeface="Yu Gothic"/>
                <a:ea typeface="Yu Gothic"/>
              </a:rPr>
              <a:t>検証環境・アクセス境界・本番非反映ルール</a:t>
            </a:r>
            <a:endParaRPr b="0" lang="en-US" sz="939" strike="noStrike" u="none">
              <a:solidFill>
                <a:srgbClr val="000000"/>
              </a:solidFill>
              <a:effectLst/>
              <a:uFillTx/>
              <a:latin typeface="Arial"/>
            </a:endParaRPr>
          </a:p>
        </p:txBody>
      </p:sp>
      <p:sp>
        <p:nvSpPr>
          <p:cNvPr id="514" name="Shape 50"/>
          <p:cNvSpPr/>
          <p:nvPr/>
        </p:nvSpPr>
        <p:spPr>
          <a:xfrm>
            <a:off x="9308520" y="5367600"/>
            <a:ext cx="273960" cy="273960"/>
          </a:xfrm>
          <a:prstGeom prst="ellipse">
            <a:avLst/>
          </a:prstGeom>
          <a:solidFill>
            <a:srgbClr val="0f9d8a"/>
          </a:solidFill>
          <a:ln w="12700">
            <a:solidFill>
              <a:srgbClr val="0f9d8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15" name="Text 51"/>
          <p:cNvSpPr/>
          <p:nvPr/>
        </p:nvSpPr>
        <p:spPr>
          <a:xfrm>
            <a:off x="9381600" y="5431680"/>
            <a:ext cx="12780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50" strike="noStrike" u="none">
                <a:solidFill>
                  <a:srgbClr val="ffffff"/>
                </a:solidFill>
                <a:effectLst/>
                <a:uFillTx/>
                <a:latin typeface="Yu Gothic"/>
                <a:ea typeface="Yu Gothic"/>
              </a:rPr>
              <a:t>5</a:t>
            </a:r>
            <a:endParaRPr b="0" lang="en-US" sz="850" strike="noStrike" u="none">
              <a:solidFill>
                <a:srgbClr val="000000"/>
              </a:solidFill>
              <a:effectLst/>
              <a:uFillTx/>
              <a:latin typeface="Arial"/>
            </a:endParaRPr>
          </a:p>
        </p:txBody>
      </p:sp>
      <p:sp>
        <p:nvSpPr>
          <p:cNvPr id="516" name="Text 52"/>
          <p:cNvSpPr/>
          <p:nvPr/>
        </p:nvSpPr>
        <p:spPr>
          <a:xfrm>
            <a:off x="9655920" y="5321880"/>
            <a:ext cx="157248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39" strike="noStrike" u="none">
                <a:solidFill>
                  <a:srgbClr val="243b53"/>
                </a:solidFill>
                <a:effectLst/>
                <a:uFillTx/>
                <a:latin typeface="Yu Gothic"/>
                <a:ea typeface="Yu Gothic"/>
              </a:rPr>
              <a:t>12</a:t>
            </a:r>
            <a:r>
              <a:rPr b="0" lang="zh-CN" sz="939" strike="noStrike" u="none">
                <a:solidFill>
                  <a:srgbClr val="243b53"/>
                </a:solidFill>
                <a:effectLst/>
                <a:uFillTx/>
                <a:latin typeface="Yu Gothic"/>
                <a:ea typeface="Yu Gothic"/>
              </a:rPr>
              <a:t>月</a:t>
            </a:r>
            <a:r>
              <a:rPr b="0" lang="en-US" sz="939" strike="noStrike" u="none">
                <a:solidFill>
                  <a:srgbClr val="243b53"/>
                </a:solidFill>
                <a:effectLst/>
                <a:uFillTx/>
                <a:latin typeface="Yu Gothic"/>
                <a:ea typeface="Yu Gothic"/>
              </a:rPr>
              <a:t>/3</a:t>
            </a:r>
            <a:r>
              <a:rPr b="0" lang="zh-CN" sz="939" strike="noStrike" u="none">
                <a:solidFill>
                  <a:srgbClr val="243b53"/>
                </a:solidFill>
                <a:effectLst/>
                <a:uFillTx/>
                <a:latin typeface="Yu Gothic"/>
                <a:ea typeface="Yu Gothic"/>
              </a:rPr>
              <a:t>月の</a:t>
            </a:r>
            <a:r>
              <a:rPr b="0" lang="en-US" sz="939" strike="noStrike" u="none">
                <a:solidFill>
                  <a:srgbClr val="243b53"/>
                </a:solidFill>
                <a:effectLst/>
                <a:uFillTx/>
                <a:latin typeface="Yu Gothic"/>
                <a:ea typeface="Yu Gothic"/>
              </a:rPr>
              <a:t>Gate</a:t>
            </a:r>
            <a:r>
              <a:rPr b="0" lang="zh-CN" sz="939" strike="noStrike" u="none">
                <a:solidFill>
                  <a:srgbClr val="243b53"/>
                </a:solidFill>
                <a:effectLst/>
                <a:uFillTx/>
                <a:latin typeface="Yu Gothic"/>
                <a:ea typeface="Yu Gothic"/>
              </a:rPr>
              <a:t>判定基準</a:t>
            </a:r>
            <a:endParaRPr b="0" lang="en-US" sz="939" strike="noStrike" u="none">
              <a:solidFill>
                <a:srgbClr val="000000"/>
              </a:solidFill>
              <a:effectLst/>
              <a:uFillTx/>
              <a:latin typeface="Arial"/>
            </a:endParaRPr>
          </a:p>
        </p:txBody>
      </p:sp>
      <p:sp>
        <p:nvSpPr>
          <p:cNvPr id="517" name="Text 53"/>
          <p:cNvSpPr/>
          <p:nvPr/>
        </p:nvSpPr>
        <p:spPr>
          <a:xfrm>
            <a:off x="658440" y="6044040"/>
            <a:ext cx="10826280" cy="328680"/>
          </a:xfrm>
          <a:prstGeom prst="rect">
            <a:avLst/>
          </a:prstGeom>
          <a:noFill/>
          <a:ln w="0">
            <a:noFill/>
          </a:ln>
        </p:spPr>
        <p:style>
          <a:lnRef idx="0"/>
          <a:fillRef idx="0"/>
          <a:effectRef idx="0"/>
          <a:fontRef idx="minor"/>
        </p:style>
        <p:txBody>
          <a:bodyPr lIns="0" rIns="0" tIns="0" bIns="0" anchor="ctr">
            <a:normAutofit fontScale="85000" lnSpcReduction="19999"/>
          </a:bodyPr>
          <a:p>
            <a:pPr algn="ctr" defTabSz="914400">
              <a:lnSpc>
                <a:spcPct val="100000"/>
              </a:lnSpc>
              <a:tabLst>
                <a:tab algn="l" pos="0"/>
              </a:tabLst>
            </a:pPr>
            <a:r>
              <a:rPr b="1" lang="zh-CN" sz="1450" strike="noStrike" u="none">
                <a:solidFill>
                  <a:srgbClr val="0b1f33"/>
                </a:solidFill>
                <a:effectLst/>
                <a:uFillTx/>
                <a:latin typeface="Yu Gothic"/>
                <a:ea typeface="Yu Gothic"/>
              </a:rPr>
              <a:t>ゴール：</a:t>
            </a:r>
            <a:r>
              <a:rPr b="1" lang="en-US" sz="1450" strike="noStrike" u="none">
                <a:solidFill>
                  <a:srgbClr val="0b1f33"/>
                </a:solidFill>
                <a:effectLst/>
                <a:uFillTx/>
                <a:latin typeface="Yu Gothic"/>
                <a:ea typeface="Yu Gothic"/>
              </a:rPr>
              <a:t>3</a:t>
            </a:r>
            <a:r>
              <a:rPr b="1" lang="zh-CN" sz="1450" strike="noStrike" u="none">
                <a:solidFill>
                  <a:srgbClr val="0b1f33"/>
                </a:solidFill>
                <a:effectLst/>
                <a:uFillTx/>
                <a:latin typeface="Yu Gothic"/>
                <a:ea typeface="Yu Gothic"/>
              </a:rPr>
              <a:t>月</a:t>
            </a:r>
            <a:r>
              <a:rPr b="1" lang="en-US" sz="1450" strike="noStrike" u="none">
                <a:solidFill>
                  <a:srgbClr val="0b1f33"/>
                </a:solidFill>
                <a:effectLst/>
                <a:uFillTx/>
                <a:latin typeface="Yu Gothic"/>
                <a:ea typeface="Yu Gothic"/>
              </a:rPr>
              <a:t>Gate 2</a:t>
            </a:r>
            <a:r>
              <a:rPr b="1" lang="zh-CN" sz="1450" strike="noStrike" u="none">
                <a:solidFill>
                  <a:srgbClr val="0b1f33"/>
                </a:solidFill>
                <a:effectLst/>
                <a:uFillTx/>
                <a:latin typeface="Yu Gothic"/>
                <a:ea typeface="Yu Gothic"/>
              </a:rPr>
              <a:t>通過後、</a:t>
            </a:r>
            <a:r>
              <a:rPr b="1" lang="en-US" sz="1450" strike="noStrike" u="none">
                <a:solidFill>
                  <a:srgbClr val="0b1f33"/>
                </a:solidFill>
                <a:effectLst/>
                <a:uFillTx/>
                <a:latin typeface="Yu Gothic"/>
                <a:ea typeface="Yu Gothic"/>
              </a:rPr>
              <a:t>2027</a:t>
            </a:r>
            <a:r>
              <a:rPr b="1" lang="zh-CN" sz="1450" strike="noStrike" u="none">
                <a:solidFill>
                  <a:srgbClr val="0b1f33"/>
                </a:solidFill>
                <a:effectLst/>
                <a:uFillTx/>
                <a:latin typeface="Yu Gothic"/>
                <a:ea typeface="Yu Gothic"/>
              </a:rPr>
              <a:t>年</a:t>
            </a:r>
            <a:r>
              <a:rPr b="1" lang="en-US" sz="1450" strike="noStrike" u="none">
                <a:solidFill>
                  <a:srgbClr val="0b1f33"/>
                </a:solidFill>
                <a:effectLst/>
                <a:uFillTx/>
                <a:latin typeface="Yu Gothic"/>
                <a:ea typeface="Yu Gothic"/>
              </a:rPr>
              <a:t>4</a:t>
            </a:r>
            <a:r>
              <a:rPr b="1" lang="zh-CN" sz="1450" strike="noStrike" u="none">
                <a:solidFill>
                  <a:srgbClr val="0b1f33"/>
                </a:solidFill>
                <a:effectLst/>
                <a:uFillTx/>
                <a:latin typeface="Yu Gothic"/>
                <a:ea typeface="Yu Gothic"/>
              </a:rPr>
              <a:t>月から初めて本番移行し、同等スコープ・同等以上品質を維持した「必要要員</a:t>
            </a:r>
            <a:r>
              <a:rPr b="1" lang="en-US" sz="1450" strike="noStrike" u="none">
                <a:solidFill>
                  <a:srgbClr val="0b1f33"/>
                </a:solidFill>
                <a:effectLst/>
                <a:uFillTx/>
                <a:latin typeface="Yu Gothic"/>
                <a:ea typeface="Yu Gothic"/>
              </a:rPr>
              <a:t>70%</a:t>
            </a:r>
            <a:r>
              <a:rPr b="1" lang="zh-CN" sz="1450" strike="noStrike" u="none">
                <a:solidFill>
                  <a:srgbClr val="0b1f33"/>
                </a:solidFill>
                <a:effectLst/>
                <a:uFillTx/>
                <a:latin typeface="Yu Gothic"/>
                <a:ea typeface="Yu Gothic"/>
              </a:rPr>
              <a:t>」の二次開発運用へ移行</a:t>
            </a:r>
            <a:endParaRPr b="0" lang="en-US" sz="1450" strike="noStrike" u="none">
              <a:solidFill>
                <a:srgbClr val="000000"/>
              </a:solidFill>
              <a:effectLst/>
              <a:uFillTx/>
              <a:latin typeface="Arial"/>
            </a:endParaRPr>
          </a:p>
        </p:txBody>
      </p:sp>
      <p:sp>
        <p:nvSpPr>
          <p:cNvPr id="518" name="PlaceHolder 1"/>
          <p:cNvSpPr>
            <a:spLocks noGrp="1"/>
          </p:cNvSpPr>
          <p:nvPr>
            <p:ph type="sldNum" idx="13"/>
          </p:nvPr>
        </p:nvSpPr>
        <p:spPr>
          <a:xfrm>
            <a:off x="11777400" y="65563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850" strike="noStrike" u="none">
                <a:solidFill>
                  <a:srgbClr val="75808f"/>
                </a:solidFill>
                <a:effectLst/>
                <a:uFillTx/>
                <a:latin typeface="Yu Gothic"/>
                <a:ea typeface="Yu Gothic"/>
              </a:defRPr>
            </a:lvl1pPr>
          </a:lstStyle>
          <a:p>
            <a:pPr indent="0" defTabSz="914400">
              <a:lnSpc>
                <a:spcPct val="100000"/>
              </a:lnSpc>
              <a:buNone/>
            </a:pPr>
            <a:fld id="{FE197E0E-03E7-4C18-A231-624367F8DA3C}" type="slidenum">
              <a:rPr b="0" lang="en-US" sz="850" strike="noStrike" u="none">
                <a:solidFill>
                  <a:srgbClr val="75808f"/>
                </a:solidFill>
                <a:effectLst/>
                <a:uFillTx/>
                <a:latin typeface="Yu Gothic"/>
                <a:ea typeface="Yu Gothic"/>
              </a:rPr>
              <a:t>&lt;number&gt;</a:t>
            </a:fld>
            <a:endParaRPr b="0" lang="en-US" sz="85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pitchFamily="0" charset="1"/>
        <a:ea typeface=""/>
        <a:cs typeface=""/>
      </a:majorFont>
      <a:minorFont>
        <a:latin typeface="Yu Gothic"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LibreOffice/25.2.3.2$Linux_X86_64 LibreOffice_project/520$Build-2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2026-09-18T03:35:39Z</dcterms:created>
  <dc:creator>OpenAI</dc:creator>
  <dc:description/>
  <dc:language>en-US</dc:language>
  <cp:lastModifiedBy>OpenAI</cp:lastModifiedBy>
  <dcterms:modified xsi:type="dcterms:W3CDTF">2026-09-18T04:00:00Z</dcterms:modified>
  <cp:revision>1</cp:revision>
  <dc:subject>大規模SI 2次開発におけるAI適用 実行計画</dc:subject>
  <dc:title>大規模SI 2次開発におけるAI適用 実行計画</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9</vt:r8>
  </property>
  <property fmtid="{D5CDD505-2E9C-101B-9397-08002B2CF9AE}" pid="3" name="PresentationFormat">
    <vt:lpwstr>On-screen Show (16:9)</vt:lpwstr>
  </property>
  <property fmtid="{D5CDD505-2E9C-101B-9397-08002B2CF9AE}" pid="4" name="Slides">
    <vt:r8>9</vt:r8>
  </property>
</Properties>
</file>